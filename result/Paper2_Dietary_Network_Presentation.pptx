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Personalized Nutrition Through Dietary Network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Heterogeneity Across Sex, Age, and Metabolic Health</a:t>
            </a:r>
            <a:br/>
            <a:br/>
            <a:r>
              <a:t>[Your Name] | [Institution]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Metabolic Syndrome (MetS) affects 25-35% of adults worldwide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Dietary patterns are key modifiable risk factors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Traditional approaches analyze individual foods or nutrients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Network science offers new insights into food co-consumption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Gap: Limited understanding of how dietary networks differ across demographic and clinical subgroups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Research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How do dietary network patterns differ across: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Sex (Male vs. Female)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Age (Young 19-39, Middle 40-59, Older 60-74)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Metabolic health (MetS+ vs. MetS-)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Which foods are universal hubs vs. group-specific?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How do hub foods transition with age?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Study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Data: Korea National Health and Nutrition Examination Survey (KNHANES)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Sample: 22,964 Korean adults (age 19-74)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Stratification: 11 groups (Sex × Age × MetS status)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Food Groups: 12 major categories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Method: Co-occurrence network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Metrics: Degree, Betweenness, Closeness centrality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12 Food Groups Analyzed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Healthy Foods: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Grain Products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Protein Foods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Vegetables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Dairy Products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Fruits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Unhealthy Foods: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Fried Foods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High Fat Meat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Processed Foods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Sugar-Sweetened Beverages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Additional Salt Use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Salty Food Consumption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Sweet Food Consumption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Co-occurrence Network 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Step 1: Binary classification (high vs. low consumption)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Score ≥3 = high, &lt;3 = 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Step 2: Calculate co-occurrence matrix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Proportion consuming both foods simultaneously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Step 3: Apply 70th percentile threshold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Retain strongest co-occurrence relationships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Step 4: Create weighted undirected network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12 nodes (foods), ~20 edges per group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Sample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Total N = 22,964 adults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53.5% Male, 46.5% Female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Mean age: 48.6 ± 11.3 years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MetS Prevalence: 25.5%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Group sizes: 516 to 5,629 participants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Largest: Female middle-aged MetS- (n=5,629)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Smallest: Male young MetS+ (n=516)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 1: Consistent Network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All 11 networks have identical topology: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12 nodes (all food groups present)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20 edges (constant)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Density = 0.303 (constant)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Diameter = 3 (fully connected)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BUT: Centrality patterns vary substantially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→ Same structure, different food importance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 2: Three Universal Hub Foods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Present as hubs in ALL 11 groups: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1. Protein Foods (Top hub, degree: 0.636-1.000)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Most central in all dietary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2. Vegetables (Top 3, degree: 0.455-1.000)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Consistently high across all groups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3. Grain Products (Top 5, degree: 0.364-0.545)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Staple food with age-related importance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→ Core of dietary patterns across all groups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 3: Age-Specific Hub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Sugar-Sweetened Beverages: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Young adults: HIGH centrality (0.273-0.364)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Middle-aged: MODERATE (0.182-0.273)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Older adults: LOW (0.091-0.182)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Dramatic decline with 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Grain Products (opposite pattern):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Young adults: Moderate centrality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Older adults: Highest centrality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Progressive increase with 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 4: Sex-Specific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Females: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Higher vegetable centrality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Sweet food consumption (esp. young)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More balanced healthy food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Males: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Higher processed food centrality (MetS+)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More fried foods connections (MetS+)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Less diverse vegetable consumption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 5: MetS-Specific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MetS(+) Groups: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More connections with unhealthy foods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Fried Foods ↔ High Fat Meat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Lower fruit &amp; dairy centrality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MetS(-) Groups: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More connections with healthy foods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Vegetables ↔ Fruits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Dairy ↔ Grain Products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→ Network structure reflects metabolic health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Hub Transitions Across 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Male MetS(+): Young → Middle → Older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Protein → Protein → Protein (stable)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Sugary Beverages → Grains → Grains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Female MetS(-): Young → Middle → Older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Protein → Protein → Protein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Sweet Foods → Grains → Grains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→ Age-related dietary maturation patterns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Clinical Implications: Universal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Protein-Vegetable-Grain Triad: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Core of all dietary patterns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Population-wide intervention target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Build meals around this combination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Fruits as Secondary Target: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Promote with vegetables (co-occurrence)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Consistently in top 5 hubs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→ Evidence for population-level guidelines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Clinical Implications: Age-Specific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Young Adults (19-39):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Reduce sugar-sweetened beverages (high centrality)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Replace with healthier alternatives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Middle-Aged (40-59):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Maintain balance during transition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Prevent MetS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Older Adults (60-74):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Leverage grain-centered patterns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Add vegetables/fruits to existing meals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Clinical Implications: Personalized Nutrition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Males (especially MetS+):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Address processed &amp; fried food connections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Practical healthy quick-prep alternatives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Females: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Leverage natural vegetable preference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Address sweet food centrality in young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MetS(+) Individuals: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Break unhealthy food co-occurrences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Shift toward MetS(-) network patterns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Study Strengths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Large nationally representative sample (N=22,964)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Stratified approach revealing heterogeneity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Co-occurrence networks: interpretable &amp; robust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Multiple centrality measures (degree, betweenness, closeness)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Robust across sensitivity analyses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Reproducible: code and data available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Cross-sectional design → cannot establish causality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Self-reported dietary data → recall bias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Food group aggregation → some detail loss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Binary classification → intensity information lost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Korean population → generalizability unknown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Co-occurrence method → other approaches may reveal different insights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Future Research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Longitudinal network analysis: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Track changes over time, causality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Network-targeted interventions: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RCTs testing hub food substitution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Cross-cultural comparisons: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Western populations, developing countries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Integration with other data: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Metabolomics, genomics, microbiome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Dietary networks show substantial heterogeneity across sex, age, and MetS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Three universal hubs: Protein, Vegetables, Grains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Group-specific patterns enable personalized nutrition: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Age: Sugar drinks → Grains transition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Sex: Vegetables (F) vs. Processed foods (M)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MetS: Healthy vs. Unhealthy co-occurrences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Network approach provides actionable insights for both population-wide and individualized interventions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Take-Home Messages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🔷 Same food ≠ same importance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Position in network varies by group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🔷 Universal + Personalized approach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Core triad + group-specific tailoring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🔷 Network thinking in nutrition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Foods don't exist in isolation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🔷 Actionable for clinical practice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Leverage hub foods for intervention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Acknowledgments &amp; Data Availability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Data Source: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Korea National Health and Nutrition Examination Survey (KNHANES)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https://knhanes.kdca.go.kr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Code &amp; Materials: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GitHub: https://github.com/HeejeongH/Network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Network files (GEXF format) 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Contact: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[Your Email]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[Your Institution]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