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sldIdLst>
    <p:sldId id="28676" r:id="rId2"/>
    <p:sldId id="28831" r:id="rId3"/>
    <p:sldId id="28833" r:id="rId4"/>
    <p:sldId id="28832" r:id="rId5"/>
    <p:sldId id="28834" r:id="rId6"/>
    <p:sldId id="28835" r:id="rId7"/>
    <p:sldId id="28837" r:id="rId8"/>
  </p:sldIdLst>
  <p:sldSz cx="12192000" cy="6858000"/>
  <p:notesSz cx="6858000" cy="9144000"/>
  <p:embeddedFontLst>
    <p:embeddedFont>
      <p:font typeface="G마켓 산스 Medium" panose="02000000000000000000" pitchFamily="2" charset="-128"/>
      <p:regular r:id="rId10"/>
    </p:embeddedFont>
    <p:embeddedFont>
      <p:font typeface="나눔스퀘어" panose="020B0600000101010101" pitchFamily="34" charset="-127"/>
      <p:regular r:id="rId11"/>
    </p:embeddedFont>
    <p:embeddedFont>
      <p:font typeface="나눔스퀘어 Bold" panose="020B0600000101010101" pitchFamily="34" charset="-127"/>
      <p:bold r:id="rId12"/>
    </p:embeddedFont>
    <p:embeddedFont>
      <p:font typeface="나눔스퀘어 ExtraBold" panose="020B0600000101010101" pitchFamily="34" charset="-127"/>
      <p:bold r:id="rId13"/>
    </p:embeddedFont>
    <p:embeddedFont>
      <p:font typeface="맑은 고딕" panose="020B0503020000020004" pitchFamily="34" charset="-127"/>
      <p:regular r:id="rId14"/>
      <p:bold r:id="rId15"/>
    </p:embeddedFont>
    <p:embeddedFont>
      <p:font typeface="Pretendard" panose="02000503000000020004" pitchFamily="2" charset="-127"/>
      <p:regular r:id="rId16"/>
      <p:bold r:id="rId17"/>
    </p:embeddedFont>
    <p:embeddedFont>
      <p:font typeface="Pretendard Black" panose="02000503000000020004" pitchFamily="2" charset="-127"/>
      <p:bold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F92"/>
    <a:srgbClr val="FFCCCC"/>
    <a:srgbClr val="DEEBF7"/>
    <a:srgbClr val="9DC3E6"/>
    <a:srgbClr val="FFFFFF"/>
    <a:srgbClr val="203864"/>
    <a:srgbClr val="9EC3E6"/>
    <a:srgbClr val="A9D18E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6CC560-6ED7-784D-98C0-D76FE6F8121D}" v="12" dt="2025-09-29T11:18:09.3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822" autoAdjust="0"/>
    <p:restoredTop sz="94626"/>
  </p:normalViewPr>
  <p:slideViewPr>
    <p:cSldViewPr snapToGrid="0">
      <p:cViewPr varScale="1">
        <p:scale>
          <a:sx n="91" d="100"/>
          <a:sy n="91" d="100"/>
        </p:scale>
        <p:origin x="23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microsoft.com/office/2016/11/relationships/changesInfo" Target="changesInfos/changesInfo1.xml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희정 황" userId="85a689e334301df8" providerId="LiveId" clId="{40808AB2-445C-5810-9183-34EE3EAB62F2}"/>
    <pc:docChg chg="undo custSel delSld modSld">
      <pc:chgData name="희정 황" userId="85a689e334301df8" providerId="LiveId" clId="{40808AB2-445C-5810-9183-34EE3EAB62F2}" dt="2025-09-29T11:18:09.375" v="107"/>
      <pc:docMkLst>
        <pc:docMk/>
      </pc:docMkLst>
      <pc:sldChg chg="del">
        <pc:chgData name="희정 황" userId="85a689e334301df8" providerId="LiveId" clId="{40808AB2-445C-5810-9183-34EE3EAB62F2}" dt="2025-09-29T11:17:00.162" v="0" actId="2696"/>
        <pc:sldMkLst>
          <pc:docMk/>
          <pc:sldMk cId="2855988278" sldId="28720"/>
        </pc:sldMkLst>
      </pc:sldChg>
      <pc:sldChg chg="del">
        <pc:chgData name="희정 황" userId="85a689e334301df8" providerId="LiveId" clId="{40808AB2-445C-5810-9183-34EE3EAB62F2}" dt="2025-09-29T11:17:00.183" v="3" actId="2696"/>
        <pc:sldMkLst>
          <pc:docMk/>
          <pc:sldMk cId="3816954496" sldId="28825"/>
        </pc:sldMkLst>
      </pc:sldChg>
      <pc:sldChg chg="del">
        <pc:chgData name="희정 황" userId="85a689e334301df8" providerId="LiveId" clId="{40808AB2-445C-5810-9183-34EE3EAB62F2}" dt="2025-09-29T11:17:00.165" v="1" actId="2696"/>
        <pc:sldMkLst>
          <pc:docMk/>
          <pc:sldMk cId="3852659953" sldId="28826"/>
        </pc:sldMkLst>
      </pc:sldChg>
      <pc:sldChg chg="del">
        <pc:chgData name="희정 황" userId="85a689e334301df8" providerId="LiveId" clId="{40808AB2-445C-5810-9183-34EE3EAB62F2}" dt="2025-09-29T11:17:00.201" v="6" actId="2696"/>
        <pc:sldMkLst>
          <pc:docMk/>
          <pc:sldMk cId="2305255859" sldId="28827"/>
        </pc:sldMkLst>
      </pc:sldChg>
      <pc:sldChg chg="del">
        <pc:chgData name="희정 황" userId="85a689e334301df8" providerId="LiveId" clId="{40808AB2-445C-5810-9183-34EE3EAB62F2}" dt="2025-09-29T11:17:00.167" v="2" actId="2696"/>
        <pc:sldMkLst>
          <pc:docMk/>
          <pc:sldMk cId="2927133837" sldId="28828"/>
        </pc:sldMkLst>
      </pc:sldChg>
      <pc:sldChg chg="del">
        <pc:chgData name="희정 황" userId="85a689e334301df8" providerId="LiveId" clId="{40808AB2-445C-5810-9183-34EE3EAB62F2}" dt="2025-09-29T11:17:00.186" v="5" actId="2696"/>
        <pc:sldMkLst>
          <pc:docMk/>
          <pc:sldMk cId="965971106" sldId="28829"/>
        </pc:sldMkLst>
      </pc:sldChg>
      <pc:sldChg chg="del">
        <pc:chgData name="희정 황" userId="85a689e334301df8" providerId="LiveId" clId="{40808AB2-445C-5810-9183-34EE3EAB62F2}" dt="2025-09-29T11:17:00.185" v="4" actId="2696"/>
        <pc:sldMkLst>
          <pc:docMk/>
          <pc:sldMk cId="3827352204" sldId="28830"/>
        </pc:sldMkLst>
      </pc:sldChg>
      <pc:sldChg chg="modSp mod">
        <pc:chgData name="희정 황" userId="85a689e334301df8" providerId="LiveId" clId="{40808AB2-445C-5810-9183-34EE3EAB62F2}" dt="2025-09-29T11:17:31.054" v="56" actId="20577"/>
        <pc:sldMkLst>
          <pc:docMk/>
          <pc:sldMk cId="1047571097" sldId="28831"/>
        </pc:sldMkLst>
        <pc:spChg chg="mod">
          <ac:chgData name="희정 황" userId="85a689e334301df8" providerId="LiveId" clId="{40808AB2-445C-5810-9183-34EE3EAB62F2}" dt="2025-09-29T11:17:31.054" v="56" actId="20577"/>
          <ac:spMkLst>
            <pc:docMk/>
            <pc:sldMk cId="1047571097" sldId="28831"/>
            <ac:spMk id="2" creationId="{F72BE4AA-5592-FB92-EC09-1FEFCC52C81C}"/>
          </ac:spMkLst>
        </pc:spChg>
      </pc:sldChg>
      <pc:sldChg chg="modSp">
        <pc:chgData name="희정 황" userId="85a689e334301df8" providerId="LiveId" clId="{40808AB2-445C-5810-9183-34EE3EAB62F2}" dt="2025-09-29T11:17:37.590" v="58"/>
        <pc:sldMkLst>
          <pc:docMk/>
          <pc:sldMk cId="2173842970" sldId="28832"/>
        </pc:sldMkLst>
        <pc:spChg chg="mod">
          <ac:chgData name="희정 황" userId="85a689e334301df8" providerId="LiveId" clId="{40808AB2-445C-5810-9183-34EE3EAB62F2}" dt="2025-09-29T11:17:37.590" v="58"/>
          <ac:spMkLst>
            <pc:docMk/>
            <pc:sldMk cId="2173842970" sldId="28832"/>
            <ac:spMk id="2" creationId="{F72BE4AA-5592-FB92-EC09-1FEFCC52C81C}"/>
          </ac:spMkLst>
        </pc:spChg>
      </pc:sldChg>
      <pc:sldChg chg="modSp">
        <pc:chgData name="희정 황" userId="85a689e334301df8" providerId="LiveId" clId="{40808AB2-445C-5810-9183-34EE3EAB62F2}" dt="2025-09-29T11:17:35.682" v="57"/>
        <pc:sldMkLst>
          <pc:docMk/>
          <pc:sldMk cId="211061034" sldId="28833"/>
        </pc:sldMkLst>
        <pc:spChg chg="mod">
          <ac:chgData name="희정 황" userId="85a689e334301df8" providerId="LiveId" clId="{40808AB2-445C-5810-9183-34EE3EAB62F2}" dt="2025-09-29T11:17:35.682" v="57"/>
          <ac:spMkLst>
            <pc:docMk/>
            <pc:sldMk cId="211061034" sldId="28833"/>
            <ac:spMk id="2" creationId="{F72BE4AA-5592-FB92-EC09-1FEFCC52C81C}"/>
          </ac:spMkLst>
        </pc:spChg>
      </pc:sldChg>
      <pc:sldChg chg="modSp">
        <pc:chgData name="희정 황" userId="85a689e334301df8" providerId="LiveId" clId="{40808AB2-445C-5810-9183-34EE3EAB62F2}" dt="2025-09-29T11:17:39.304" v="59"/>
        <pc:sldMkLst>
          <pc:docMk/>
          <pc:sldMk cId="2642852794" sldId="28834"/>
        </pc:sldMkLst>
        <pc:spChg chg="mod">
          <ac:chgData name="희정 황" userId="85a689e334301df8" providerId="LiveId" clId="{40808AB2-445C-5810-9183-34EE3EAB62F2}" dt="2025-09-29T11:17:39.304" v="59"/>
          <ac:spMkLst>
            <pc:docMk/>
            <pc:sldMk cId="2642852794" sldId="28834"/>
            <ac:spMk id="2" creationId="{F72BE4AA-5592-FB92-EC09-1FEFCC52C81C}"/>
          </ac:spMkLst>
        </pc:spChg>
      </pc:sldChg>
      <pc:sldChg chg="modSp mod">
        <pc:chgData name="희정 황" userId="85a689e334301df8" providerId="LiveId" clId="{40808AB2-445C-5810-9183-34EE3EAB62F2}" dt="2025-09-29T11:18:06.552" v="106" actId="20577"/>
        <pc:sldMkLst>
          <pc:docMk/>
          <pc:sldMk cId="1845036324" sldId="28835"/>
        </pc:sldMkLst>
        <pc:spChg chg="mod">
          <ac:chgData name="희정 황" userId="85a689e334301df8" providerId="LiveId" clId="{40808AB2-445C-5810-9183-34EE3EAB62F2}" dt="2025-09-29T11:18:06.552" v="106" actId="20577"/>
          <ac:spMkLst>
            <pc:docMk/>
            <pc:sldMk cId="1845036324" sldId="28835"/>
            <ac:spMk id="2" creationId="{F72BE4AA-5592-FB92-EC09-1FEFCC52C81C}"/>
          </ac:spMkLst>
        </pc:spChg>
      </pc:sldChg>
      <pc:sldChg chg="modSp">
        <pc:chgData name="희정 황" userId="85a689e334301df8" providerId="LiveId" clId="{40808AB2-445C-5810-9183-34EE3EAB62F2}" dt="2025-09-29T11:18:09.375" v="107"/>
        <pc:sldMkLst>
          <pc:docMk/>
          <pc:sldMk cId="3754676716" sldId="28837"/>
        </pc:sldMkLst>
        <pc:spChg chg="mod">
          <ac:chgData name="희정 황" userId="85a689e334301df8" providerId="LiveId" clId="{40808AB2-445C-5810-9183-34EE3EAB62F2}" dt="2025-09-29T11:18:09.375" v="107"/>
          <ac:spMkLst>
            <pc:docMk/>
            <pc:sldMk cId="3754676716" sldId="28837"/>
            <ac:spMk id="2" creationId="{F72BE4AA-5592-FB92-EC09-1FEFCC52C81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3ABD1-63C6-43F1-A438-C414A0FF5CA8}" type="datetimeFigureOut">
              <a:rPr lang="ko-KR" altLang="en-US" smtClean="0"/>
              <a:t>2025. 9. 29.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2C2183-9117-4FA0-884E-E75A43825C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2681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C9A5-15AB-97C2-666B-43F510C1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F8047-4E3B-FF00-D798-6E41EF296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D5C2D5-2C41-E508-7CE0-8629903B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4836C-0CD2-D681-B070-6A5B05D02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131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C9A5-15AB-97C2-666B-43F510C1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F8047-4E3B-FF00-D798-6E41EF296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D5C2D5-2C41-E508-7CE0-8629903B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4836C-0CD2-D681-B070-6A5B05D02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81241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C9A5-15AB-97C2-666B-43F510C1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F8047-4E3B-FF00-D798-6E41EF296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D5C2D5-2C41-E508-7CE0-8629903B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4836C-0CD2-D681-B070-6A5B05D02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878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C9A5-15AB-97C2-666B-43F510C1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F8047-4E3B-FF00-D798-6E41EF296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D5C2D5-2C41-E508-7CE0-8629903B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4836C-0CD2-D681-B070-6A5B05D02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7481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C9A5-15AB-97C2-666B-43F510C1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F8047-4E3B-FF00-D798-6E41EF296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D5C2D5-2C41-E508-7CE0-8629903B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4836C-0CD2-D681-B070-6A5B05D02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6932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DC9A5-15AB-97C2-666B-43F510C1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2F8047-4E3B-FF00-D798-6E41EF296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2D5C2D5-2C41-E508-7CE0-8629903B7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endParaRPr lang="ko-KR" altLang="ko-KR" sz="1400" kern="1200">
              <a:solidFill>
                <a:schemeClr val="tx1"/>
              </a:solidFill>
              <a:effectLst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4836C-0CD2-D681-B070-6A5B05D02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D2B41C2-9AEC-4B6A-AACF-BF5D026791BF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마켓 산스 Medium" panose="02000000000000000000" pitchFamily="50" charset="-127"/>
                <a:ea typeface="G마켓 산스 Medium" panose="020000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마켓 산스 Medium" panose="02000000000000000000" pitchFamily="50" charset="-127"/>
              <a:ea typeface="G마켓 산스 Medium" panose="020000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8572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520579-98DA-E942-AC78-00B87195DB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B866DE-D1DB-8230-CBDA-A766F93D18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266A6F-CEE3-850E-FDEE-7D555FAF9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2025. 9. 29.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686D49-FB67-2C19-2E42-F70E8FB7C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836452-5550-2145-ADE4-955C90D6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6712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D650C8-F12A-D26C-9C0B-5C7F1198D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151525-DA02-BA8F-F4AF-3EB8A23B9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EB1802-77D5-679B-21CC-9485639EF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2025. 9. 29.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F9392A-8C65-6A59-0A60-A5F862B7A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5CBCA3-067D-4596-532E-93B80A196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88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DAB8A-7747-1CE5-3FE3-8323EE6B3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8BF959-12C5-164A-DE4D-B24218DF30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F39A4C-FA80-E81B-FDBC-548425363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2025. 9. 29.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3F7C28-385E-573A-78EA-F4C821CE8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D0508A-D25E-B539-F6C0-169E7C331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637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C8A93-FDFE-BEBE-56E5-16BF81949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385D78-F3C0-74AB-EE24-DE558CB383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76E7582-20D9-D5DE-F1F9-D0B67ED064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664517-BAFF-26E5-8CE4-79610FB09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2025. 9. 29.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441247-E1E9-FA95-4372-C471B45DF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7F2F193-02BC-5562-0C43-95EAFA7C3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622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DC21D0-4029-944F-F7C2-BB002EE0D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105419-79A7-FF5A-C576-BB7FB93AC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3AB173-B1EE-AC57-483B-5DAC31327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C2B277A-1864-8AE8-148C-D7DD39286F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D07304D-FA48-9C88-4165-62BEE92105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4D0102-19CC-6E98-25AC-1EBC632D0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2025. 9. 29.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B1C0272-48B3-7574-3FC1-E1AAFC618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0302AD-623D-2E24-69C6-15F96B7B1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153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72308-74B1-81E5-92F8-717BA6C67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E8913E-C0D6-4E79-1F02-7A613692E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2025. 9. 29.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0976696-6338-8860-FF02-54AFF9BF8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08A4643-65A7-B193-9BD4-8B5917AA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720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F04643F-FAFD-4171-5CCC-AA1A4186E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2025. 9. 29.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A30A9C-BD11-6D0A-CBCA-F75366C0C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C7D854-6B8A-8C15-ACE6-EA8986297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224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13A3E-5DA9-F97A-926A-538852B7B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0385F3-914D-1757-A729-63DEC28E2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AE0AA7-446F-F344-EA2C-4C7D98FA39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1852706-6371-DBD0-708B-405897718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2025. 9. 29.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944FE88-9C5C-2F2D-52E6-33DFDEA49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28A9F6-AB6E-96FB-B9D7-F4249E51D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6411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229719-8196-644F-00A3-DD67C9590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BBCD62-A16B-2469-AA4C-14C4851DE2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B55E7FF-8DB9-C515-89CF-24B748495C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E3ADD2-3956-16B0-2153-22DA5F88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2025. 9. 29.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74331B-E778-58CF-49E8-A5D67572C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F0B81F-E5CE-F40D-BF25-235EA642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1677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7D3B41-B348-C070-41E1-901A6553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E2D673-409E-49B6-9ACA-AD3CAF16E3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69C18C-6B02-8A7A-132B-0AE6B7CF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2025. 9. 29.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4C66130-47CE-64A7-FF86-3D3AA974C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C7ED62-E6CE-D543-1169-06495FA84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37794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B247391-002A-ED72-9666-77BDE653A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83003B-46FF-87A4-22F1-8842C304F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1DD010-F59B-6278-9ECD-6485F742B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D230-DD50-4D44-B5CC-476AEB699E3B}" type="datetimeFigureOut">
              <a:rPr lang="ko-KR" altLang="en-US" smtClean="0"/>
              <a:t>2025. 9. 29.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D416B5-AF16-9623-8C49-F4FE9502D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3AE9A1-0A3C-0310-9CF1-708188EF6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5740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FEDC3CCC-947A-4D41-9F66-809F1982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583F749-40E7-475E-BB08-77FAF3D385F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596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F5A75F40-539E-4AE3-8A8B-9B362337D88C}"/>
              </a:ext>
            </a:extLst>
          </p:cNvPr>
          <p:cNvSpPr/>
          <p:nvPr userDrawn="1"/>
        </p:nvSpPr>
        <p:spPr>
          <a:xfrm rot="16200000" flipV="1">
            <a:off x="3006571" y="-3006573"/>
            <a:ext cx="6178858" cy="12192002"/>
          </a:xfrm>
          <a:prstGeom prst="rect">
            <a:avLst/>
          </a:prstGeom>
          <a:solidFill>
            <a:srgbClr val="2038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082F5BE-DFFC-4821-A823-DB5DF8769CDA}"/>
              </a:ext>
            </a:extLst>
          </p:cNvPr>
          <p:cNvGrpSpPr/>
          <p:nvPr userDrawn="1"/>
        </p:nvGrpSpPr>
        <p:grpSpPr>
          <a:xfrm>
            <a:off x="9901561" y="6301594"/>
            <a:ext cx="2012272" cy="403204"/>
            <a:chOff x="9901561" y="6301594"/>
            <a:chExt cx="2012272" cy="403204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7089A494-7B4D-48F8-903E-DE4F6CABC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37605" y="6301594"/>
              <a:ext cx="376228" cy="39002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8ADB742-1802-4A41-ABC5-11EF37CA21B0}"/>
                </a:ext>
              </a:extLst>
            </p:cNvPr>
            <p:cNvSpPr txBox="1"/>
            <p:nvPr/>
          </p:nvSpPr>
          <p:spPr>
            <a:xfrm>
              <a:off x="9901561" y="6383363"/>
              <a:ext cx="1745534" cy="32143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0" h="0"/>
              </a:sp3d>
            </a:bodyPr>
            <a:lstStyle/>
            <a:p>
              <a:pPr algn="ctr">
                <a:lnSpc>
                  <a:spcPct val="60000"/>
                </a:lnSpc>
                <a:spcBef>
                  <a:spcPts val="600"/>
                </a:spcBef>
              </a:pPr>
              <a:r>
                <a:rPr kumimoji="1" lang="en-US" altLang="ko-KR" sz="1400" b="0" kern="1200" spc="-50" baseline="0">
                  <a:ln>
                    <a:solidFill>
                      <a:srgbClr val="072C7F">
                        <a:alpha val="21000"/>
                      </a:srgbClr>
                    </a:solidFill>
                  </a:ln>
                  <a:solidFill>
                    <a:srgbClr val="00B0F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charset="0"/>
                </a:rPr>
                <a:t>                   </a:t>
              </a:r>
              <a:r>
                <a:rPr kumimoji="1" lang="en-US" altLang="ko-KR" sz="1400" b="0" kern="1200" spc="-50" baseline="0">
                  <a:ln>
                    <a:solidFill>
                      <a:srgbClr val="072C7F">
                        <a:alpha val="21000"/>
                      </a:srgbClr>
                    </a:solidFill>
                  </a:ln>
                  <a:solidFill>
                    <a:srgbClr val="072C7F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  <a:cs typeface="Arial" charset="0"/>
                </a:rPr>
                <a:t>F M G L</a:t>
              </a:r>
            </a:p>
            <a:p>
              <a:pPr algn="ctr">
                <a:lnSpc>
                  <a:spcPct val="60000"/>
                </a:lnSpc>
                <a:spcBef>
                  <a:spcPts val="600"/>
                </a:spcBef>
              </a:pPr>
              <a:r>
                <a:rPr lang="en-US" altLang="ko-KR" sz="1050" b="0" kern="1200" spc="0" baseline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72C7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rPr>
                <a:t>Seoul</a:t>
              </a:r>
              <a:r>
                <a:rPr lang="ko-KR" altLang="en-US" sz="1050" b="0" kern="1200" spc="0" baseline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72C7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rPr>
                <a:t> </a:t>
              </a:r>
              <a:r>
                <a:rPr lang="en-US" altLang="ko-KR" sz="1050" b="0" kern="1200" spc="0" baseline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72C7F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  <a:cs typeface="+mn-cs"/>
                </a:rPr>
                <a:t>Nat’l University</a:t>
              </a:r>
            </a:p>
          </p:txBody>
        </p:sp>
      </p:grp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131DDB0F-CCE2-44C1-9A8A-C3C0209FD158}"/>
              </a:ext>
            </a:extLst>
          </p:cNvPr>
          <p:cNvCxnSpPr>
            <a:cxnSpLocks/>
          </p:cNvCxnSpPr>
          <p:nvPr userDrawn="1"/>
        </p:nvCxnSpPr>
        <p:spPr>
          <a:xfrm>
            <a:off x="896644" y="3107180"/>
            <a:ext cx="5122416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7612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21FF88-9897-6692-CC31-98E27611A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D391E1F-BA11-3939-DB07-D3244DD98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FA54B8-4E33-987C-2426-CA08253887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6D230-DD50-4D44-B5CC-476AEB699E3B}" type="datetimeFigureOut">
              <a:rPr lang="ko-KR" altLang="en-US" smtClean="0"/>
              <a:t>2025. 9. 29.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1DE11E-25F9-C5E5-5FDC-60CDC4A03A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3D2F80B-70AA-A06B-438E-A9FB1D2D7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92391-0069-4883-9ECC-04D24DD55F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3115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F11A6FE-D57C-4621-8347-7C9CAD77D50F}"/>
              </a:ext>
            </a:extLst>
          </p:cNvPr>
          <p:cNvSpPr txBox="1"/>
          <p:nvPr/>
        </p:nvSpPr>
        <p:spPr>
          <a:xfrm>
            <a:off x="867511" y="3215832"/>
            <a:ext cx="5327101" cy="786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endParaRPr lang="en-US" altLang="ko-KR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>
              <a:lnSpc>
                <a:spcPct val="130000"/>
              </a:lnSpc>
            </a:pPr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| 2025. 09.</a:t>
            </a:r>
            <a:r>
              <a:rPr lang="ko-KR" altLang="en-US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11.(</a:t>
            </a:r>
            <a:r>
              <a:rPr lang="ko-KR" altLang="en-US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목</a:t>
            </a:r>
            <a:r>
              <a:rPr lang="en-US" altLang="ko-KR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|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70B3A-F8EA-4463-9C06-14ADD736FB15}"/>
              </a:ext>
            </a:extLst>
          </p:cNvPr>
          <p:cNvSpPr txBox="1"/>
          <p:nvPr/>
        </p:nvSpPr>
        <p:spPr>
          <a:xfrm>
            <a:off x="777640" y="1558010"/>
            <a:ext cx="788161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dirty="0">
                <a:solidFill>
                  <a:schemeClr val="accent5">
                    <a:lumMod val="40000"/>
                    <a:lumOff val="60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Network Analysis</a:t>
            </a:r>
          </a:p>
          <a:p>
            <a:r>
              <a:rPr lang="ko-KR" altLang="en-US" sz="4600" dirty="0">
                <a:solidFill>
                  <a:schemeClr val="bg1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네트워크 분석</a:t>
            </a:r>
          </a:p>
        </p:txBody>
      </p:sp>
    </p:spTree>
    <p:extLst>
      <p:ext uri="{BB962C8B-B14F-4D97-AF65-F5344CB8AC3E}">
        <p14:creationId xmlns:p14="http://schemas.microsoft.com/office/powerpoint/2010/main" val="418110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7F94F-DF51-C9A3-C5C7-800FFC5E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A6B9A1A-32C9-809A-7785-9F2A60FDEF4B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38CFBCBE-A2A2-16DF-2FF3-03A319C5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2BE4AA-5592-FB92-EC09-1FEFCC52C81C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01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전체 대상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(n=23,040)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분석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|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식습관 네트워크</a:t>
            </a:r>
            <a:endParaRPr lang="en-US" altLang="ko-KR" sz="24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30EF917D-03DE-14A7-2EE2-F6EC98760297}"/>
              </a:ext>
            </a:extLst>
          </p:cNvPr>
          <p:cNvSpPr txBox="1">
            <a:spLocks/>
          </p:cNvSpPr>
          <p:nvPr/>
        </p:nvSpPr>
        <p:spPr>
          <a:xfrm>
            <a:off x="203624" y="742441"/>
            <a:ext cx="11868213" cy="59979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식습관 네트워크</a:t>
            </a:r>
            <a:endParaRPr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[Poor] Degree centrality 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 식품군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Sweet Food: 0.727 &gt; Salty Food: 0.455 &gt; Vegetables: 0.364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환자가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Degree centrality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 식품군을 많이 먹는다면 → 직접적으로 많은 다른 식품군도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섭취할 가능성이 높음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KR" alt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 음식을 많이 먹는 사람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 → </a:t>
            </a:r>
            <a:r>
              <a:rPr lang="ko-KR" altLang="en-US" sz="14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튀긴음식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짠음식도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함께 많이 먹을 확률 높음</a:t>
            </a:r>
            <a:endParaRPr lang="en-US" altLang="ko-KR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채소를 적게 먹는 사람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 →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패스트푸드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가공식품 등도 많이 먹을 확률 높음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묶음 개선 효과</a:t>
            </a:r>
            <a:endParaRPr lang="en-US" altLang="ko-KR" sz="14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Sweet Food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조절 → 연관성이 강한 다른 식품군의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식습관이 개선될 수 있음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82C066D-D2F2-4CA4-9E30-3C0C4FCA9292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77"/>
          <a:stretch>
            <a:fillRect/>
          </a:stretch>
        </p:blipFill>
        <p:spPr bwMode="auto">
          <a:xfrm>
            <a:off x="2588200" y="983323"/>
            <a:ext cx="7015600" cy="31857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3B6BE3-E4C0-402C-B103-AE2FBA4DDBBF}"/>
              </a:ext>
            </a:extLst>
          </p:cNvPr>
          <p:cNvSpPr/>
          <p:nvPr/>
        </p:nvSpPr>
        <p:spPr>
          <a:xfrm>
            <a:off x="361308" y="1572676"/>
            <a:ext cx="2222083" cy="14416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Edge: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사람이</a:t>
            </a:r>
            <a:b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정도</a:t>
            </a: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Threshold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B1D68EA-B59D-40BA-A1BF-1F168132BC4F}"/>
              </a:ext>
            </a:extLst>
          </p:cNvPr>
          <p:cNvSpPr/>
          <p:nvPr/>
        </p:nvSpPr>
        <p:spPr>
          <a:xfrm>
            <a:off x="9608609" y="1572676"/>
            <a:ext cx="2230098" cy="1445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Edge: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사람이</a:t>
            </a:r>
            <a:b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정도</a:t>
            </a: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Threshold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B4AFE60-C7EA-42A4-9A92-47A84CA7BA22}"/>
              </a:ext>
            </a:extLst>
          </p:cNvPr>
          <p:cNvSpPr/>
          <p:nvPr/>
        </p:nvSpPr>
        <p:spPr>
          <a:xfrm>
            <a:off x="8823158" y="5069737"/>
            <a:ext cx="3015549" cy="149111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직접적 동반 발생 정도</a:t>
            </a:r>
            <a:endParaRPr lang="en-US" altLang="ko-KR" sz="14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식품군을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먹으면 </a:t>
            </a:r>
            <a:endParaRPr lang="en-US" altLang="ko-KR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다른 몇 개 식품군도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먹는가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얼마나 많은 문제와 직결되는가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?</a:t>
            </a:r>
            <a:endParaRPr lang="ko-KR" altLang="en-US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7571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7F94F-DF51-C9A3-C5C7-800FFC5E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A6B9A1A-32C9-809A-7785-9F2A60FDEF4B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38CFBCBE-A2A2-16DF-2FF3-03A319C5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2BE4AA-5592-FB92-EC09-1FEFCC52C81C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01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전체 대상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(n=23,040)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분석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|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식습관 네트워크</a:t>
            </a:r>
            <a:endParaRPr lang="en-US" altLang="ko-KR" sz="24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30EF917D-03DE-14A7-2EE2-F6EC98760297}"/>
              </a:ext>
            </a:extLst>
          </p:cNvPr>
          <p:cNvSpPr txBox="1">
            <a:spLocks/>
          </p:cNvSpPr>
          <p:nvPr/>
        </p:nvSpPr>
        <p:spPr>
          <a:xfrm>
            <a:off x="203624" y="742441"/>
            <a:ext cx="11868213" cy="59979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</a:pP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식습관 네트워크</a:t>
            </a:r>
            <a:endParaRPr lang="en-US" altLang="ko-KR" sz="16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[Poor] Betweenness centrality 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 식품군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Sweet Food: 0.445 &gt; Vegetables: 0.145 &gt; Salty Food: 0.064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서로 다른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poor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식습관 사이에서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Betweenness centrality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 식품군이 중요한 매개체로 작용하고 있음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단백질 부족한 사람 →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Sweet Food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갈망 → 가공식품 선택증가</a:t>
            </a:r>
          </a:p>
          <a:p>
            <a:pPr marL="914400" lvl="2" indent="0">
              <a:lnSpc>
                <a:spcPct val="110000"/>
              </a:lnSpc>
              <a:buNone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        ↑                                 ↑                            ↑</a:t>
            </a:r>
          </a:p>
          <a:p>
            <a:pPr marL="914400" lvl="2" indent="0">
              <a:lnSpc>
                <a:spcPct val="110000"/>
              </a:lnSpc>
              <a:buNone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     문제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                       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연결고리                    문제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 차단 효과</a:t>
            </a:r>
            <a:endParaRPr lang="en-US" altLang="ko-KR" sz="14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하나의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식습관이 다른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식습관에 영향을 미치기 전에 차단하여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다른 식습관 조절이 용이해짐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82C066D-D2F2-4CA4-9E30-3C0C4FCA9292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77"/>
          <a:stretch>
            <a:fillRect/>
          </a:stretch>
        </p:blipFill>
        <p:spPr bwMode="auto">
          <a:xfrm>
            <a:off x="2588200" y="983323"/>
            <a:ext cx="7015600" cy="31857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E4EDFFDD-E90E-4B0A-A089-160D71929E07}"/>
              </a:ext>
            </a:extLst>
          </p:cNvPr>
          <p:cNvSpPr/>
          <p:nvPr/>
        </p:nvSpPr>
        <p:spPr>
          <a:xfrm>
            <a:off x="361308" y="1572676"/>
            <a:ext cx="2222083" cy="14416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Edge: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사람이</a:t>
            </a:r>
            <a:b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정도</a:t>
            </a: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Threshold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20A243E-DAE4-4FCA-B5D7-AE4ADB51C1A5}"/>
              </a:ext>
            </a:extLst>
          </p:cNvPr>
          <p:cNvSpPr/>
          <p:nvPr/>
        </p:nvSpPr>
        <p:spPr>
          <a:xfrm>
            <a:off x="9608609" y="1572676"/>
            <a:ext cx="2230098" cy="1445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Edge: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사람이</a:t>
            </a:r>
            <a:b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정도</a:t>
            </a: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Threshold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BD226960-AF69-420C-90DC-A134454101B0}"/>
              </a:ext>
            </a:extLst>
          </p:cNvPr>
          <p:cNvSpPr/>
          <p:nvPr/>
        </p:nvSpPr>
        <p:spPr>
          <a:xfrm>
            <a:off x="8823158" y="5069737"/>
            <a:ext cx="3015549" cy="149055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연쇄 반응의 핵심 정도</a:t>
            </a:r>
            <a:endParaRPr lang="en-US" altLang="ko-KR" sz="14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식품군이 다른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식습관들을 연결해주는 다리 역할을 하는가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해결하면 다른 문제도 해결되는가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?</a:t>
            </a:r>
            <a:endParaRPr lang="ko-KR" altLang="en-US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1061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7F94F-DF51-C9A3-C5C7-800FFC5E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A6B9A1A-32C9-809A-7785-9F2A60FDEF4B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38CFBCBE-A2A2-16DF-2FF3-03A319C5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2BE4AA-5592-FB92-EC09-1FEFCC52C81C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01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전체 대상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(n=23,040)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분석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|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식습관 네트워크</a:t>
            </a:r>
            <a:endParaRPr lang="en-US" altLang="ko-KR" sz="24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30EF917D-03DE-14A7-2EE2-F6EC98760297}"/>
              </a:ext>
            </a:extLst>
          </p:cNvPr>
          <p:cNvSpPr txBox="1">
            <a:spLocks/>
          </p:cNvSpPr>
          <p:nvPr/>
        </p:nvSpPr>
        <p:spPr>
          <a:xfrm>
            <a:off x="203624" y="742441"/>
            <a:ext cx="11868213" cy="59979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</a:pP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식습관 네트워크</a:t>
            </a:r>
            <a:endParaRPr lang="en-US" altLang="ko-KR" sz="16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[Ideal] Degree centrality 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 식품군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-US" altLang="ko-KR" sz="17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Grain: 0.545 &gt; Fried: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0.455 </a:t>
            </a:r>
            <a:r>
              <a:rPr lang="en-US" altLang="ko-KR" sz="17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SSB: 0.455 &gt; Fruits: 0.364 = Processed: 0.364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환자가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Degree centrality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 식품군을 많이 먹는다면 → 직접적으로 많은 다른 식품군도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섭취할 가능성이 높음</a:t>
            </a:r>
            <a:endParaRPr lang="en-US" altLang="ko-KR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곡류를 적정량 먹는 사람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 →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단백질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채소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과일 등도 균형있게 섭취할 확률 높음</a:t>
            </a:r>
            <a:endParaRPr lang="en-US" altLang="ko-KR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튀긴음식을 적절히 조절하는 사람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 →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전체적인 식단 관리 의식이 높아 다른 식품군도 절제할 확률 높음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묶음 개선 효과</a:t>
            </a:r>
            <a:endParaRPr lang="en-US" altLang="ko-KR" sz="14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Grain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적정 섭취 → 연관성이 강한 다른 식품군의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식습관도 함께 개선될 수 있음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82C066D-D2F2-4CA4-9E30-3C0C4FCA9292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77"/>
          <a:stretch>
            <a:fillRect/>
          </a:stretch>
        </p:blipFill>
        <p:spPr bwMode="auto">
          <a:xfrm>
            <a:off x="2588200" y="983323"/>
            <a:ext cx="7015600" cy="31857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66916F2F-620B-4382-8B71-885F9DF78793}"/>
              </a:ext>
            </a:extLst>
          </p:cNvPr>
          <p:cNvSpPr/>
          <p:nvPr/>
        </p:nvSpPr>
        <p:spPr>
          <a:xfrm>
            <a:off x="361308" y="1572676"/>
            <a:ext cx="2222083" cy="14416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Edge: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사람이</a:t>
            </a:r>
            <a:b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정도</a:t>
            </a: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Threshold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8A9CE9-7723-4662-9182-90B06B4069D5}"/>
              </a:ext>
            </a:extLst>
          </p:cNvPr>
          <p:cNvSpPr/>
          <p:nvPr/>
        </p:nvSpPr>
        <p:spPr>
          <a:xfrm>
            <a:off x="9608609" y="1572676"/>
            <a:ext cx="2230098" cy="1445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Edge: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사람이</a:t>
            </a:r>
            <a:b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정도</a:t>
            </a: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Threshold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E5B891E-517E-4DDD-B10A-33950FB66016}"/>
              </a:ext>
            </a:extLst>
          </p:cNvPr>
          <p:cNvSpPr/>
          <p:nvPr/>
        </p:nvSpPr>
        <p:spPr>
          <a:xfrm>
            <a:off x="8823158" y="5069737"/>
            <a:ext cx="3015549" cy="113357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직접적 동반 발생 정도</a:t>
            </a:r>
            <a:endParaRPr lang="en-US" altLang="ko-KR" sz="14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식품군을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먹으면 </a:t>
            </a:r>
            <a:endParaRPr lang="en-US" altLang="ko-KR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다른 몇 개 식품군도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먹는가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ko-KR" altLang="en-US" sz="14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3842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7F94F-DF51-C9A3-C5C7-800FFC5E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A6B9A1A-32C9-809A-7785-9F2A60FDEF4B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38CFBCBE-A2A2-16DF-2FF3-03A319C5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2BE4AA-5592-FB92-EC09-1FEFCC52C81C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01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전체 대상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(n=23,040)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분석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|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식습관 네트워크</a:t>
            </a:r>
            <a:endParaRPr lang="en-US" altLang="ko-KR" sz="24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30EF917D-03DE-14A7-2EE2-F6EC98760297}"/>
              </a:ext>
            </a:extLst>
          </p:cNvPr>
          <p:cNvSpPr txBox="1">
            <a:spLocks/>
          </p:cNvSpPr>
          <p:nvPr/>
        </p:nvSpPr>
        <p:spPr>
          <a:xfrm>
            <a:off x="203624" y="742441"/>
            <a:ext cx="11868213" cy="599792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arenR"/>
            </a:pP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식습관 네트워크</a:t>
            </a:r>
            <a:endParaRPr lang="en-US" altLang="ko-KR" sz="16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[Ideal] Betweenness centrality 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 식품군</a:t>
            </a:r>
            <a:r>
              <a:rPr lang="en-US" altLang="ko-KR" sz="16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-US" altLang="ko-KR" sz="17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Grain: 0.103 &gt; Fried: 0.012 &gt; SSB: 0.012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서로 다른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ideal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식습관 사이에서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Betweenness centrality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상위 식품군이 중요한 매개체로 작용하고 있음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단백질 적정 섭취 →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Grain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규칙적 섭취 → 채소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과일 섭취 증가</a:t>
            </a:r>
          </a:p>
          <a:p>
            <a:pPr marL="914400" lvl="2" indent="0">
              <a:lnSpc>
                <a:spcPct val="110000"/>
              </a:lnSpc>
              <a:buNone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        ↑                               ↑                            ↑</a:t>
            </a:r>
          </a:p>
          <a:p>
            <a:pPr marL="914400" lvl="2" indent="0">
              <a:lnSpc>
                <a:spcPct val="110000"/>
              </a:lnSpc>
              <a:buNone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     개선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                     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연결고리                    개선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연결 차단 효과</a:t>
            </a:r>
            <a:endParaRPr lang="en-US" altLang="ko-KR" sz="14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하나의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식습관이 다른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 식습관으로 자연스럽게 이어지도록 하는 핵심 고리 역할을 하여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전체적인 건강한 식습관 정착이 용이해짐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82C066D-D2F2-4CA4-9E30-3C0C4FCA9292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77"/>
          <a:stretch>
            <a:fillRect/>
          </a:stretch>
        </p:blipFill>
        <p:spPr bwMode="auto">
          <a:xfrm>
            <a:off x="2588200" y="983323"/>
            <a:ext cx="7015600" cy="31857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C74AC8D-BE93-4E92-B858-7D3FF2C50684}"/>
              </a:ext>
            </a:extLst>
          </p:cNvPr>
          <p:cNvSpPr/>
          <p:nvPr/>
        </p:nvSpPr>
        <p:spPr>
          <a:xfrm>
            <a:off x="361308" y="1572676"/>
            <a:ext cx="2222083" cy="14416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Edge: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사람이</a:t>
            </a:r>
            <a:b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Poor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정도</a:t>
            </a: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Threshold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D76BD2-BAD1-49DB-B9F7-7A6346B2D4A8}"/>
              </a:ext>
            </a:extLst>
          </p:cNvPr>
          <p:cNvSpPr/>
          <p:nvPr/>
        </p:nvSpPr>
        <p:spPr>
          <a:xfrm>
            <a:off x="9608609" y="1572676"/>
            <a:ext cx="2230098" cy="14453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Edge:</a:t>
            </a:r>
          </a:p>
          <a:p>
            <a:pPr>
              <a:lnSpc>
                <a:spcPct val="150000"/>
              </a:lnSpc>
            </a:pP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사람이</a:t>
            </a:r>
            <a:b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식품군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Ideal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하게 먹는 정도</a:t>
            </a: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endParaRPr lang="en-US" altLang="ko-KR" sz="12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2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Threshold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상위 </a:t>
            </a:r>
            <a:r>
              <a:rPr lang="en-US" altLang="ko-KR"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2642852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7F94F-DF51-C9A3-C5C7-800FFC5E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A6B9A1A-32C9-809A-7785-9F2A60FDEF4B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38CFBCBE-A2A2-16DF-2FF3-03A319C5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2BE4AA-5592-FB92-EC09-1FEFCC52C81C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01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전체 대상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(n=23,040)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분석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|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식습관 </a:t>
            </a:r>
            <a:r>
              <a:rPr lang="en-US" altLang="ko-KR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질환 상관관계 네트워크</a:t>
            </a:r>
            <a:endParaRPr lang="en-US" altLang="ko-KR" sz="24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30EF917D-03DE-14A7-2EE2-F6EC98760297}"/>
              </a:ext>
            </a:extLst>
          </p:cNvPr>
          <p:cNvSpPr txBox="1">
            <a:spLocks/>
          </p:cNvSpPr>
          <p:nvPr/>
        </p:nvSpPr>
        <p:spPr>
          <a:xfrm>
            <a:off x="203624" y="742441"/>
            <a:ext cx="11868213" cy="59979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arenR" startAt="2"/>
            </a:pP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식습관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질환</a:t>
            </a:r>
            <a:r>
              <a:rPr lang="en-US" altLang="ko-KR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상관관계 네트워크</a:t>
            </a:r>
            <a:endParaRPr lang="en-US" altLang="ko-KR" sz="16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(A) Diet-Biomarker 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부정적 상관관계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빨간선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우세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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건강한 식품군 섭취가 위험 생체지표 감소와 연관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위험한 식품군 섭취가 위험 생체지표 증가와 연관</a:t>
            </a:r>
          </a:p>
          <a:p>
            <a:pPr lvl="1">
              <a:lnSpc>
                <a:spcPct val="100000"/>
              </a:lnSpc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(Degree centrality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Weight: 0.409 &gt; eGFR: 0.273 &gt; BMI: 0.227</a:t>
            </a:r>
          </a:p>
          <a:p>
            <a:pPr>
              <a:lnSpc>
                <a:spcPct val="100000"/>
              </a:lnSpc>
            </a:pP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(B) Diet-</a:t>
            </a:r>
            <a:r>
              <a:rPr lang="en-US" altLang="ko-KR" sz="14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MetS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</a:t>
            </a:r>
          </a:p>
          <a:p>
            <a:pPr lvl="1">
              <a:lnSpc>
                <a:spcPct val="100000"/>
              </a:lnSpc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긍정적 상관관계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초록선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우세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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MetS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위험 증가 시 식습관 개선 패턴</a:t>
            </a:r>
          </a:p>
          <a:p>
            <a:pPr lvl="1">
              <a:lnSpc>
                <a:spcPct val="100000"/>
              </a:lnSpc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(Degree centrality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△ WC: 0.688 &gt; △ BP: 0.625 &gt; IFG: 0.562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altLang="ko-KR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(C) Diet-Disease </a:t>
            </a:r>
            <a:r>
              <a:rPr lang="ko-KR" altLang="en-US" sz="1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긍정적 상관관계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초록선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우세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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질병 보유 시 식습관 개선 패턴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(Degree centrality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Obese: 0.667 &gt; Hypertension: 0.444 &gt; Diabetes Mellitus: 0.389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054EF41C-C9CE-4ADE-BA44-53E085D22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87806"/>
            <a:ext cx="9448800" cy="284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036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7F94F-DF51-C9A3-C5C7-800FFC5E5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AA6B9A1A-32C9-809A-7785-9F2A60FDEF4B}"/>
              </a:ext>
            </a:extLst>
          </p:cNvPr>
          <p:cNvCxnSpPr>
            <a:cxnSpLocks/>
          </p:cNvCxnSpPr>
          <p:nvPr/>
        </p:nvCxnSpPr>
        <p:spPr>
          <a:xfrm>
            <a:off x="203625" y="625569"/>
            <a:ext cx="11410443" cy="0"/>
          </a:xfrm>
          <a:prstGeom prst="line">
            <a:avLst/>
          </a:prstGeom>
          <a:ln w="381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03864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38CFBCBE-A2A2-16DF-2FF3-03A319C5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312" y="6432300"/>
            <a:ext cx="458632" cy="365121"/>
          </a:xfrm>
        </p:spPr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3960E3-3A3F-4900-8A03-B82E8F2AAFCC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2BE4AA-5592-FB92-EC09-1FEFCC52C81C}"/>
              </a:ext>
            </a:extLst>
          </p:cNvPr>
          <p:cNvSpPr txBox="1"/>
          <p:nvPr/>
        </p:nvSpPr>
        <p:spPr>
          <a:xfrm>
            <a:off x="203625" y="117629"/>
            <a:ext cx="118373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80952">
              <a:defRPr/>
            </a:pP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chemeClr val="tx1">
                    <a:lumMod val="50000"/>
                    <a:lumOff val="50000"/>
                  </a:schemeClr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01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전체 대상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(n=23,040)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분석 </a:t>
            </a:r>
            <a:r>
              <a:rPr lang="en-US" altLang="ko-KR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|</a:t>
            </a:r>
            <a:r>
              <a:rPr lang="ko-KR" altLang="en-US" sz="2400" b="1" dirty="0">
                <a:ln w="9525"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203864"/>
                </a:solidFill>
                <a:latin typeface="Pretendard Black" panose="02000503000000020004" pitchFamily="2" charset="-127"/>
                <a:ea typeface="Pretendard Black" panose="02000503000000020004" pitchFamily="2" charset="-127"/>
                <a:cs typeface="Pretendard Black" panose="02000503000000020004" pitchFamily="2" charset="-127"/>
              </a:rPr>
              <a:t> 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식습관 </a:t>
            </a:r>
            <a:r>
              <a:rPr lang="en-US" altLang="ko-KR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</a:t>
            </a:r>
            <a:r>
              <a:rPr lang="ko-KR" altLang="en-US" sz="24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질환 상관관계 네트워크</a:t>
            </a:r>
            <a:endParaRPr lang="en-US" altLang="ko-KR" sz="24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내용 개체 틀 1">
            <a:extLst>
              <a:ext uri="{FF2B5EF4-FFF2-40B4-BE49-F238E27FC236}">
                <a16:creationId xmlns:a16="http://schemas.microsoft.com/office/drawing/2014/main" id="{30EF917D-03DE-14A7-2EE2-F6EC98760297}"/>
              </a:ext>
            </a:extLst>
          </p:cNvPr>
          <p:cNvSpPr txBox="1">
            <a:spLocks/>
          </p:cNvSpPr>
          <p:nvPr/>
        </p:nvSpPr>
        <p:spPr>
          <a:xfrm>
            <a:off x="203624" y="742441"/>
            <a:ext cx="11868213" cy="599792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arenR" startAt="2"/>
            </a:pP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식습관</a:t>
            </a: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질환</a:t>
            </a:r>
            <a:r>
              <a:rPr lang="en-US" altLang="ko-KR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6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상관관계 네트워크</a:t>
            </a:r>
            <a:endParaRPr lang="en-US" altLang="ko-KR" sz="1600" b="1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lvl="1"/>
            <a:endParaRPr lang="en-US" altLang="ko-KR" sz="160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b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결론</a:t>
            </a:r>
          </a:p>
          <a:p>
            <a:pPr lvl="1">
              <a:lnSpc>
                <a:spcPct val="150000"/>
              </a:lnSpc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생체지표만 안 좋은 초기에는 “안 좋은 식습관 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Wingdings" panose="05000000000000000000" pitchFamily="2" charset="2"/>
              </a:rPr>
              <a:t>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안 좋은 생체지표” 패턴</a:t>
            </a:r>
          </a:p>
          <a:p>
            <a:pPr lvl="1">
              <a:lnSpc>
                <a:spcPct val="150000"/>
              </a:lnSpc>
            </a:pP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질병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/MetS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이미 유발된 후에는 오히려 수진자가 식습관을 관리하여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질병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/MetS</a:t>
            </a:r>
            <a:r>
              <a:rPr lang="ko-KR" altLang="en-US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있을수록 식습관을 관리한 패턴을 보임</a:t>
            </a:r>
            <a:r>
              <a:rPr lang="en-US" altLang="ko-KR" sz="14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0DDF1D9-822E-44F9-A222-FF0C48BFA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87806"/>
            <a:ext cx="9448800" cy="284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67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2591</TotalTime>
  <Words>856</Words>
  <Application>Microsoft Macintosh PowerPoint</Application>
  <PresentationFormat>와이드스크린</PresentationFormat>
  <Paragraphs>168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7" baseType="lpstr">
      <vt:lpstr>Wingdings</vt:lpstr>
      <vt:lpstr>맑은 고딕</vt:lpstr>
      <vt:lpstr>나눔스퀘어</vt:lpstr>
      <vt:lpstr>Pretendard Black</vt:lpstr>
      <vt:lpstr>G마켓 산스 Medium</vt:lpstr>
      <vt:lpstr>나눔스퀘어 Bold</vt:lpstr>
      <vt:lpstr>Arial</vt:lpstr>
      <vt:lpstr>나눔스퀘어 ExtraBold</vt:lpstr>
      <vt:lpstr>Pretendard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황희정</dc:creator>
  <cp:lastModifiedBy>희정 황</cp:lastModifiedBy>
  <cp:revision>43</cp:revision>
  <dcterms:created xsi:type="dcterms:W3CDTF">2023-09-20T10:10:36Z</dcterms:created>
  <dcterms:modified xsi:type="dcterms:W3CDTF">2025-09-29T11:18:17Z</dcterms:modified>
</cp:coreProperties>
</file>