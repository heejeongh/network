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8676" r:id="rId2"/>
    <p:sldId id="28720" r:id="rId3"/>
    <p:sldId id="28825" r:id="rId4"/>
    <p:sldId id="28826" r:id="rId5"/>
    <p:sldId id="28827" r:id="rId6"/>
    <p:sldId id="28828" r:id="rId7"/>
    <p:sldId id="28830" r:id="rId8"/>
    <p:sldId id="28829" r:id="rId9"/>
    <p:sldId id="28831" r:id="rId10"/>
    <p:sldId id="28833" r:id="rId11"/>
    <p:sldId id="28832" r:id="rId12"/>
    <p:sldId id="28834" r:id="rId13"/>
    <p:sldId id="28835" r:id="rId14"/>
    <p:sldId id="28837" r:id="rId15"/>
  </p:sldIdLst>
  <p:sldSz cx="12192000" cy="6858000"/>
  <p:notesSz cx="6858000" cy="9144000"/>
  <p:embeddedFontLst>
    <p:embeddedFont>
      <p:font typeface="Pretendard" panose="020B0600000101010101" charset="-127"/>
      <p:regular r:id="rId17"/>
      <p:bold r:id="rId18"/>
    </p:embeddedFont>
    <p:embeddedFont>
      <p:font typeface="Pretendard Black" panose="020B0600000101010101" charset="-127"/>
      <p:bold r:id="rId19"/>
    </p:embeddedFont>
    <p:embeddedFont>
      <p:font typeface="나눔스퀘어" panose="020B0600000101010101" pitchFamily="50" charset="-127"/>
      <p:regular r:id="rId20"/>
    </p:embeddedFont>
    <p:embeddedFont>
      <p:font typeface="나눔스퀘어 Bold" panose="020B0600000101010101" pitchFamily="50" charset="-127"/>
      <p:bold r:id="rId21"/>
    </p:embeddedFont>
    <p:embeddedFont>
      <p:font typeface="나눔스퀘어 ExtraBold" panose="020B0600000101010101" pitchFamily="50" charset="-127"/>
      <p:bold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FFCCCC"/>
    <a:srgbClr val="DEEBF7"/>
    <a:srgbClr val="9DC3E6"/>
    <a:srgbClr val="FFFFFF"/>
    <a:srgbClr val="203864"/>
    <a:srgbClr val="9EC3E6"/>
    <a:srgbClr val="A9D18E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EA63C-808A-4848-8154-888A5C1E0457}" v="97" dt="2025-09-10T23:48:53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5" autoAdjust="0"/>
    <p:restoredTop sz="94686"/>
  </p:normalViewPr>
  <p:slideViewPr>
    <p:cSldViewPr snapToGrid="0">
      <p:cViewPr>
        <p:scale>
          <a:sx n="75" d="100"/>
          <a:sy n="75" d="100"/>
        </p:scale>
        <p:origin x="134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3ABD1-63C6-43F1-A438-C414A0FF5CA8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C2183-9117-4FA0-884E-E75A43825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68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393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E55F-309B-F25E-3AD1-312606B5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50E95-47EB-0702-B2A9-F57785A48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89351E-161D-3C02-D006-5D6AEF03F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B7AD7A-AB1B-692E-B304-9295E0E89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152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234D7-C59D-450C-0018-2FA71840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4FC1AC-6CFF-010F-D143-616DB3DBD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C1ACD7-7945-D15C-B267-715C5A0C3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38B0C4-439F-1CE7-1313-5712D5F79A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878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725A-8A29-4E51-2103-9079E0C2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3432F2-74C9-74B3-77E3-EBADABD97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BC9901-C127-9DE9-5EED-674C2FE05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C9E6EE-EDE0-33A4-0E0E-041954D3A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236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372F-8164-F2E3-789A-5BD7A7408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9C5FD0-E865-8C4A-4138-0F603636B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3CFE2D-8CAE-157F-632D-E784644F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320432-EE9E-F74E-B58D-20377EFF4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216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483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727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31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124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78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481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6932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57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20579-98DA-E942-AC78-00B87195D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B866DE-D1DB-8230-CBDA-A766F93D1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266A6F-CEE3-850E-FDEE-7D555FAF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686D49-FB67-2C19-2E42-F70E8FB7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836452-5550-2145-ADE4-955C90D6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71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650C8-F12A-D26C-9C0B-5C7F1198D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151525-DA02-BA8F-F4AF-3EB8A23B9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B1802-77D5-679B-21CC-9485639EF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F9392A-8C65-6A59-0A60-A5F862B7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CBCA3-067D-4596-532E-93B80A19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8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DAB8A-7747-1CE5-3FE3-8323EE6B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8BF959-12C5-164A-DE4D-B24218DF3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39A4C-FA80-E81B-FDBC-54842536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F7C28-385E-573A-78EA-F4C821CE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D0508A-D25E-B539-F6C0-169E7C33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63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C8A93-FDFE-BEBE-56E5-16BF8194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385D78-F3C0-74AB-EE24-DE558CB38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6E7582-20D9-D5DE-F1F9-D0B67ED0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664517-BAFF-26E5-8CE4-79610FB09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441247-E1E9-FA95-4372-C471B45D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F2F193-02BC-5562-0C43-95EAFA7C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62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C21D0-4029-944F-F7C2-BB002EE0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105419-79A7-FF5A-C576-BB7FB93AC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3AB173-B1EE-AC57-483B-5DAC31327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2B277A-1864-8AE8-148C-D7DD39286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07304D-FA48-9C88-4165-62BEE9210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4D0102-19CC-6E98-25AC-1EBC632D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1C0272-48B3-7574-3FC1-E1AAFC61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0302AD-623D-2E24-69C6-15F96B7B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15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72308-74B1-81E5-92F8-717BA6C6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E8913E-C0D6-4E79-1F02-7A613692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976696-6338-8860-FF02-54AFF9BF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8A4643-65A7-B193-9BD4-8B5917AA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2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04643F-FAFD-4171-5CCC-AA1A4186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A30A9C-BD11-6D0A-CBCA-F75366C0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C7D854-6B8A-8C15-ACE6-EA898629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22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13A3E-5DA9-F97A-926A-538852B7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385F3-914D-1757-A729-63DEC28E2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AE0AA7-446F-F344-EA2C-4C7D98FA3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852706-6371-DBD0-708B-40589771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44FE88-9C5C-2F2D-52E6-33DFDEA4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28A9F6-AB6E-96FB-B9D7-F4249E51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1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29719-8196-644F-00A3-DD67C959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BBCD62-A16B-2469-AA4C-14C4851DE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55E7FF-8DB9-C515-89CF-24B748495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E3ADD2-3956-16B0-2153-22DA5F88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74331B-E778-58CF-49E8-A5D67572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F0B81F-E5CE-F40D-BF25-235EA642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67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D3B41-B348-C070-41E1-901A6553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E2D673-409E-49B6-9ACA-AD3CAF16E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9C18C-6B02-8A7A-132B-0AE6B7CF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C66130-47CE-64A7-FF86-3D3AA974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7ED62-E6CE-D543-1169-06495FA8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77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247391-002A-ED72-9666-77BDE653A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83003B-46FF-87A4-22F1-8842C304F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1DD010-F59B-6278-9ECD-6485F742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D416B5-AF16-9623-8C49-F4FE9502D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AE9A1-0A3C-0310-9CF1-708188EF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740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EDC3CCC-947A-4D41-9F66-809F1982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83F749-40E7-475E-BB08-77FAF3D385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596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75F40-539E-4AE3-8A8B-9B362337D88C}"/>
              </a:ext>
            </a:extLst>
          </p:cNvPr>
          <p:cNvSpPr/>
          <p:nvPr userDrawn="1"/>
        </p:nvSpPr>
        <p:spPr>
          <a:xfrm rot="16200000" flipV="1">
            <a:off x="3006571" y="-3006573"/>
            <a:ext cx="6178858" cy="12192002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82F5BE-DFFC-4821-A823-DB5DF8769CDA}"/>
              </a:ext>
            </a:extLst>
          </p:cNvPr>
          <p:cNvGrpSpPr/>
          <p:nvPr userDrawn="1"/>
        </p:nvGrpSpPr>
        <p:grpSpPr>
          <a:xfrm>
            <a:off x="9901561" y="6301594"/>
            <a:ext cx="2012272" cy="403204"/>
            <a:chOff x="9901561" y="6301594"/>
            <a:chExt cx="2012272" cy="40320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089A494-7B4D-48F8-903E-DE4F6CABC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7605" y="6301594"/>
              <a:ext cx="376228" cy="39002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ADB742-1802-4A41-ABC5-11EF37CA21B0}"/>
                </a:ext>
              </a:extLst>
            </p:cNvPr>
            <p:cNvSpPr txBox="1"/>
            <p:nvPr/>
          </p:nvSpPr>
          <p:spPr>
            <a:xfrm>
              <a:off x="9901561" y="6383363"/>
              <a:ext cx="1745534" cy="3214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60000"/>
                </a:lnSpc>
                <a:spcBef>
                  <a:spcPts val="600"/>
                </a:spcBef>
              </a:pPr>
              <a:r>
                <a:rPr kumimoji="1" lang="en-US" altLang="ko-KR" sz="1400" b="0" kern="1200" spc="-50" baseline="0">
                  <a:ln>
                    <a:solidFill>
                      <a:srgbClr val="072C7F">
                        <a:alpha val="21000"/>
                      </a:srgbClr>
                    </a:solidFill>
                  </a:ln>
                  <a:solidFill>
                    <a:srgbClr val="00B0F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charset="0"/>
                </a:rPr>
                <a:t>                   </a:t>
              </a:r>
              <a:r>
                <a:rPr kumimoji="1" lang="en-US" altLang="ko-KR" sz="1400" b="0" kern="1200" spc="-50" baseline="0">
                  <a:ln>
                    <a:solidFill>
                      <a:srgbClr val="072C7F">
                        <a:alpha val="21000"/>
                      </a:srgbClr>
                    </a:solidFill>
                  </a:ln>
                  <a:solidFill>
                    <a:srgbClr val="072C7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charset="0"/>
                </a:rPr>
                <a:t>F M G L</a:t>
              </a:r>
            </a:p>
            <a:p>
              <a:pPr algn="ctr">
                <a:lnSpc>
                  <a:spcPct val="60000"/>
                </a:lnSpc>
                <a:spcBef>
                  <a:spcPts val="600"/>
                </a:spcBef>
              </a:pPr>
              <a:r>
                <a:rPr lang="en-US" altLang="ko-KR" sz="1050" b="0" kern="1200" spc="0" baseline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72C7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Seoul</a:t>
              </a:r>
              <a:r>
                <a:rPr lang="ko-KR" altLang="en-US" sz="1050" b="0" kern="1200" spc="0" baseline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72C7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 </a:t>
              </a:r>
              <a:r>
                <a:rPr lang="en-US" altLang="ko-KR" sz="1050" b="0" kern="1200" spc="0" baseline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72C7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Nat’l University</a:t>
              </a:r>
            </a:p>
          </p:txBody>
        </p: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31DDB0F-CCE2-44C1-9A8A-C3C0209FD158}"/>
              </a:ext>
            </a:extLst>
          </p:cNvPr>
          <p:cNvCxnSpPr>
            <a:cxnSpLocks/>
          </p:cNvCxnSpPr>
          <p:nvPr userDrawn="1"/>
        </p:nvCxnSpPr>
        <p:spPr>
          <a:xfrm>
            <a:off x="896644" y="3107180"/>
            <a:ext cx="512241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61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21FF88-9897-6692-CC31-98E27611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391E1F-BA11-3939-DB07-D3244DD9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FA54B8-4E33-987C-2426-CA0825388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6D230-DD50-4D44-B5CC-476AEB699E3B}" type="datetimeFigureOut">
              <a:rPr lang="ko-KR" altLang="en-US" smtClean="0"/>
              <a:t>2025-09-11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DE11E-25F9-C5E5-5FDC-60CDC4A03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D2F80B-70AA-A06B-438E-A9FB1D2D7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11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F11A6FE-D57C-4621-8347-7C9CAD77D50F}"/>
              </a:ext>
            </a:extLst>
          </p:cNvPr>
          <p:cNvSpPr txBox="1"/>
          <p:nvPr/>
        </p:nvSpPr>
        <p:spPr>
          <a:xfrm>
            <a:off x="867511" y="3215832"/>
            <a:ext cx="5327101" cy="786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altLang="ko-KR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2025. 09.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11.(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|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70B3A-F8EA-4463-9C06-14ADD736FB15}"/>
              </a:ext>
            </a:extLst>
          </p:cNvPr>
          <p:cNvSpPr txBox="1"/>
          <p:nvPr/>
        </p:nvSpPr>
        <p:spPr>
          <a:xfrm>
            <a:off x="777640" y="1558010"/>
            <a:ext cx="788161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Network Analysis</a:t>
            </a:r>
          </a:p>
          <a:p>
            <a:r>
              <a:rPr lang="ko-KR" altLang="en-US" sz="4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네트워크 분석</a:t>
            </a:r>
          </a:p>
        </p:txBody>
      </p:sp>
    </p:spTree>
    <p:extLst>
      <p:ext uri="{BB962C8B-B14F-4D97-AF65-F5344CB8AC3E}">
        <p14:creationId xmlns:p14="http://schemas.microsoft.com/office/powerpoint/2010/main" val="41811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C7AEFD0-E546-26FA-052F-6A3BDD7EC5D5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06DFC622-09BE-B5B5-6AA7-0A145929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E5602-45BE-BEDD-5526-A78B82263193}"/>
              </a:ext>
            </a:extLst>
          </p:cNvPr>
          <p:cNvSpPr txBox="1"/>
          <p:nvPr/>
        </p:nvSpPr>
        <p:spPr>
          <a:xfrm>
            <a:off x="203625" y="115633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Network Analysis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개요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2DD13181-E8CB-07C3-FF39-AFD8B09539B7}"/>
              </a:ext>
            </a:extLst>
          </p:cNvPr>
          <p:cNvSpPr txBox="1">
            <a:spLocks/>
          </p:cNvSpPr>
          <p:nvPr/>
        </p:nvSpPr>
        <p:spPr>
          <a:xfrm>
            <a:off x="105508" y="1048685"/>
            <a:ext cx="11966330" cy="10720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 분석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Network Analysis)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개체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이들 사이의 관계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링크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구성된 네트워크를 수학적으로 표현하고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시각화하여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패턴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동작 원리를 이해하는 방법론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61FA001-758E-AD95-019A-E9FD185EE26F}"/>
              </a:ext>
            </a:extLst>
          </p:cNvPr>
          <p:cNvSpPr txBox="1">
            <a:spLocks/>
          </p:cNvSpPr>
          <p:nvPr/>
        </p:nvSpPr>
        <p:spPr>
          <a:xfrm>
            <a:off x="105508" y="2356945"/>
            <a:ext cx="11966330" cy="40753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네트워크란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서로 연결된 개체들의 집합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다양한 개체들 간의 연결과 관계를 포괄하는 개념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단순히 개체 간의 연결을 의미하는 것을 넘어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연결에서 발생하는 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상호작용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 흐름 등을 포괄적으로 설명하는 체계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방법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</a:p>
          <a:p>
            <a:pPr marL="1257300" lvl="2" indent="-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그래프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graph)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네트워크를 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시각화하여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직관적으로 이해하는데 도움을 줄 수 있음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en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257300" lvl="2" indent="-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행렬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matrix)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네트워크를 수학적으로 표현하여 다양한 분석을 가능하게 함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1257300" lvl="2" indent="-342900">
              <a:lnSpc>
                <a:spcPct val="150000"/>
              </a:lnSpc>
              <a:spcBef>
                <a:spcPts val="0"/>
              </a:spcBef>
              <a:buFont typeface="+mj-ea"/>
              <a:buAutoNum type="circleNumDbPlain"/>
            </a:pP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구성 요소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257300" lvl="2" indent="-342900">
              <a:buFont typeface="+mj-ea"/>
              <a:buAutoNum type="circleNumDbPlain"/>
            </a:pPr>
            <a:r>
              <a:rPr lang="en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Node (Vertex, Point)</a:t>
            </a: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네트워크를 구성하는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점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즉 하나의 개체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의미</a:t>
            </a:r>
          </a:p>
          <a:p>
            <a:pPr marL="1257300" lvl="2" indent="-342900">
              <a:buFont typeface="+mj-ea"/>
              <a:buAutoNum type="circleNumDbPlain"/>
            </a:pPr>
            <a:r>
              <a:rPr lang="en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Link (Edge, Arc)</a:t>
            </a: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노드들 사이를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연결하고 있는 관계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의미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EF3322-B9D8-D90B-B7F8-811494E9A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842" y="5697916"/>
            <a:ext cx="3018633" cy="73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9AACA74-BD32-4B7C-9ACA-04901F1672BE}"/>
              </a:ext>
            </a:extLst>
          </p:cNvPr>
          <p:cNvSpPr/>
          <p:nvPr/>
        </p:nvSpPr>
        <p:spPr>
          <a:xfrm>
            <a:off x="8020842" y="4134493"/>
            <a:ext cx="3265638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>
                <a:solidFill>
                  <a:srgbClr val="4B69C6"/>
                </a:solidFill>
                <a:latin typeface="Consolas" panose="020B0609020204030204" pitchFamily="49" charset="0"/>
              </a:rPr>
              <a:t>import</a:t>
            </a:r>
            <a:r>
              <a:rPr lang="en-US" altLang="ko-KR" sz="14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b="1">
                <a:solidFill>
                  <a:srgbClr val="7A3E9D"/>
                </a:solidFill>
                <a:latin typeface="Consolas" panose="020B0609020204030204" pitchFamily="49" charset="0"/>
              </a:rPr>
              <a:t>networkx</a:t>
            </a:r>
            <a:r>
              <a:rPr lang="en-US" altLang="ko-KR" sz="14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4B69C6"/>
                </a:solidFill>
                <a:latin typeface="Consolas" panose="020B0609020204030204" pitchFamily="49" charset="0"/>
              </a:rPr>
              <a:t>as</a:t>
            </a:r>
            <a:r>
              <a:rPr lang="en-US" altLang="ko-KR" sz="14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b="1">
                <a:solidFill>
                  <a:srgbClr val="7A3E9D"/>
                </a:solidFill>
                <a:latin typeface="Consolas" panose="020B0609020204030204" pitchFamily="49" charset="0"/>
              </a:rPr>
              <a:t>nx</a:t>
            </a:r>
          </a:p>
          <a:p>
            <a:endParaRPr lang="en-US" altLang="ko-KR" sz="1400" b="1">
              <a:solidFill>
                <a:srgbClr val="7A3E9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400">
                <a:solidFill>
                  <a:srgbClr val="7A3E9D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14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b="1">
                <a:solidFill>
                  <a:srgbClr val="7A3E9D"/>
                </a:solidFill>
                <a:latin typeface="Consolas" panose="020B0609020204030204" pitchFamily="49" charset="0"/>
              </a:rPr>
              <a:t>nx</a:t>
            </a:r>
            <a:r>
              <a:rPr lang="en-US" altLang="ko-KR" sz="140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 b="1">
                <a:solidFill>
                  <a:srgbClr val="7A3E9D"/>
                </a:solidFill>
                <a:latin typeface="Consolas" panose="020B0609020204030204" pitchFamily="49" charset="0"/>
              </a:rPr>
              <a:t>Graph</a:t>
            </a:r>
            <a:r>
              <a:rPr lang="en-US" altLang="ko-KR" sz="140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en-US" altLang="ko-KR" sz="140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ko-KR" sz="1400">
                <a:solidFill>
                  <a:srgbClr val="7A3E9D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140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 b="1">
                <a:solidFill>
                  <a:srgbClr val="AA3731"/>
                </a:solidFill>
                <a:latin typeface="Consolas" panose="020B0609020204030204" pitchFamily="49" charset="0"/>
              </a:rPr>
              <a:t>add_node</a:t>
            </a:r>
            <a:r>
              <a:rPr lang="en-US" altLang="ko-KR" sz="1400">
                <a:solidFill>
                  <a:srgbClr val="777777"/>
                </a:solidFill>
                <a:latin typeface="Consolas" panose="020B0609020204030204" pitchFamily="49" charset="0"/>
              </a:rPr>
              <a:t>(‘A’)</a:t>
            </a:r>
          </a:p>
          <a:p>
            <a:r>
              <a:rPr lang="en-US" altLang="ko-KR" sz="1400">
                <a:solidFill>
                  <a:srgbClr val="7A3E9D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140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 b="1">
                <a:solidFill>
                  <a:srgbClr val="AA3731"/>
                </a:solidFill>
                <a:latin typeface="Consolas" panose="020B0609020204030204" pitchFamily="49" charset="0"/>
              </a:rPr>
              <a:t>add_edge</a:t>
            </a:r>
            <a:r>
              <a:rPr lang="en-US" altLang="ko-KR" sz="140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rgbClr val="333333"/>
                </a:solidFill>
                <a:latin typeface="Consolas" panose="020B0609020204030204" pitchFamily="49" charset="0"/>
              </a:rPr>
              <a:t>‘A’, ‘B’, weight= 1)</a:t>
            </a:r>
            <a:endParaRPr lang="en-US" altLang="ko-KR" sz="14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98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BCDD-78F7-6D34-83F9-994B16AEC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54378C35-500E-2680-6A6B-5221EDE610E7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81A53E5D-4476-796B-9DEA-14F6D7D4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1D8A6F-1B5C-824B-76E2-764DB2B4384E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Network Analysis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개요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방향성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,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가중치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5EDE8335-F3D7-510C-C351-11A203D96648}"/>
              </a:ext>
            </a:extLst>
          </p:cNvPr>
          <p:cNvSpPr txBox="1">
            <a:spLocks/>
          </p:cNvSpPr>
          <p:nvPr/>
        </p:nvSpPr>
        <p:spPr>
          <a:xfrm>
            <a:off x="105508" y="765302"/>
            <a:ext cx="11966330" cy="110921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방향성이 없는 네트워크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대칭 관계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Symmetric Relationship)</a:t>
            </a:r>
            <a:endParaRPr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연결의 가중치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노드들 간의 관계가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존재하는지의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유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무로만 분류되기 때문에 이진 형태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(binary)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표현됨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매트릭스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대각선을 기준으로 좌우가 대칭된 값으로 표현됨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D883149-1E61-673E-CF0E-37D14B5BF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80" y="2361572"/>
            <a:ext cx="8397240" cy="425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95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62EF9-9E26-7815-1030-989195FD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7A3EB12A-A29D-26DD-5D25-1F287A4E50B0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0C21865-DCD4-DFF0-6E27-85D4B3D7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2AA5C-E3B2-2850-4EAC-F89625CD5629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Network Analysis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개요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방향성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,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가중치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9F67AA74-5EDF-EAEC-6346-84E6791014F0}"/>
              </a:ext>
            </a:extLst>
          </p:cNvPr>
          <p:cNvSpPr txBox="1">
            <a:spLocks/>
          </p:cNvSpPr>
          <p:nvPr/>
        </p:nvSpPr>
        <p:spPr>
          <a:xfrm>
            <a:off x="105508" y="742442"/>
            <a:ext cx="11966330" cy="17264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방향성이 있는 네트워크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비대칭 관계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</a:t>
            </a:r>
            <a:r>
              <a:rPr lang="en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symmetric Relationship)</a:t>
            </a:r>
            <a:endParaRPr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노드들의 관계를 표현하는 링크가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각각 다른 방향으로 화살표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그려지며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화살표와 함께 표기되어 있는 수치 또한 다름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연결의 가중치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각 셀을 구성하는 값들이 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만이 아닌 다른 값들도 존재함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스스로에게 향하는 링크도 존재할 수 있음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자가 루프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(Self-Loop)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D7893B3-3AFA-7BFD-0A97-E5EB894CA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15852"/>
            <a:ext cx="8397240" cy="425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65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28CD7-AA1B-4191-5117-009155DA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817E09B-AFFF-762B-04D0-79B3979DF019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6C0F3934-CB19-1ACE-EA7E-F94AFAFD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181ED6-C24D-72AD-BDA0-0EDFAF11E7E4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02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Network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특징을 나타내는 개념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EA449DAA-FE5E-0C46-E015-035A63D21219}"/>
              </a:ext>
            </a:extLst>
          </p:cNvPr>
          <p:cNvSpPr txBox="1">
            <a:spLocks/>
          </p:cNvSpPr>
          <p:nvPr/>
        </p:nvSpPr>
        <p:spPr>
          <a:xfrm>
            <a:off x="105508" y="742441"/>
            <a:ext cx="11966330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노드의 개수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노드가 많을 수록 더 크고 복잡한 네트워크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연결의 개수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연결이 많을 수록 네트워크는 더 끈끈하게 연결되어 있음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밀도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(density)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총 연결 수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가능한 총 연결 수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밀도가 높으면 많은 노드들이 연결되어 있을 것이므로 더 깊고 끈끈한 네트워크라고 볼 수 있음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 수 평균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노드들이 다른 노드와 평균적으로 몇 개 씩 연결되어 있는지를 의미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클러스터 계수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(clustering coefficient)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추이성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transitivity)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인접하는 노드들 간의 관계 정도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네트워크의 특성을 측정할 수 있는 수준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 수준</a:t>
            </a:r>
            <a:r>
              <a:rPr lang="en-US" altLang="ko-KR" sz="16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6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Node level, 'centrality measures’)</a:t>
            </a:r>
            <a:r>
              <a:rPr lang="en-US" altLang="ko-KR" sz="16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b="1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u="sng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 내에서 노드의 위치에 관심이 있을 경우</a:t>
            </a:r>
            <a:endParaRPr lang="en" altLang="ko-KR" sz="1600" b="1" u="sng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 수준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Network level, 'global measures’)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 전체의 구조를 이해하고 싶은 경우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E18B1A-E47A-E690-0C5D-72B72B738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784" y="2514600"/>
            <a:ext cx="3185160" cy="147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5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F77C-FBDD-0D0F-2678-5EFC8D1AA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F3AF44-99C7-15B7-5CE1-F6091E71C674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68C14BA2-E8B6-F8FD-F405-F6DF6164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84AD1E-8CF0-F9D1-10D0-66E5BFC35390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03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노드 수준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분석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(Centrality Measures)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300DDD3-CBA8-38EF-4D47-F1B4A4690E39}"/>
              </a:ext>
            </a:extLst>
          </p:cNvPr>
          <p:cNvSpPr txBox="1">
            <a:spLocks/>
          </p:cNvSpPr>
          <p:nvPr/>
        </p:nvSpPr>
        <p:spPr>
          <a:xfrm>
            <a:off x="105508" y="1048685"/>
            <a:ext cx="11966330" cy="10720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24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중심성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지수 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Centrality Concepts)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 해당 노드가 네트워크에서 얼마나 중요한지 측정하는 지수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5C1D0723-60E6-46F9-0FAC-CC3F77BC4580}"/>
              </a:ext>
            </a:extLst>
          </p:cNvPr>
          <p:cNvSpPr txBox="1">
            <a:spLocks/>
          </p:cNvSpPr>
          <p:nvPr/>
        </p:nvSpPr>
        <p:spPr>
          <a:xfrm>
            <a:off x="777240" y="2456879"/>
            <a:ext cx="4014568" cy="39754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8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&lt;</a:t>
            </a:r>
            <a:r>
              <a:rPr lang="ko-KR" altLang="en-US" sz="18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연결성 기반 </a:t>
            </a:r>
            <a:r>
              <a:rPr lang="en-US" altLang="ko-KR" sz="18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&gt;</a:t>
            </a:r>
          </a:p>
          <a:p>
            <a:pPr marL="0" indent="0" algn="ctr">
              <a:buNone/>
            </a:pPr>
            <a:endParaRPr lang="en-US" altLang="ko-KR" sz="16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marL="274320" indent="-274320"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연결 </a:t>
            </a:r>
            <a:r>
              <a:rPr lang="ko-KR" altLang="en-US" sz="16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중심성</a:t>
            </a:r>
            <a:r>
              <a:rPr lang="en-US" altLang="ko-KR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en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Degree Centrality)</a:t>
            </a:r>
          </a:p>
          <a:p>
            <a:pPr marL="274320" indent="-274320"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고유벡터 </a:t>
            </a:r>
            <a:r>
              <a:rPr lang="ko-KR" altLang="en-US" sz="16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중심성</a:t>
            </a:r>
            <a:r>
              <a:rPr lang="en-US" altLang="ko-KR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en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Eigenvector Centrality)</a:t>
            </a:r>
          </a:p>
          <a:p>
            <a:pPr marL="274320" indent="-274320">
              <a:buFont typeface="+mj-lt"/>
              <a:buAutoNum type="arabicPeriod"/>
            </a:pP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카츠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600" dirty="0" err="1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중심성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en" sz="16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Katz Centrality)</a:t>
            </a:r>
          </a:p>
          <a:p>
            <a:pPr marL="274320" indent="-274320">
              <a:buFont typeface="+mj-lt"/>
              <a:buAutoNum type="arabicPeriod"/>
            </a:pP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페이지랭크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en" sz="1600" dirty="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PageRank)</a:t>
            </a:r>
          </a:p>
        </p:txBody>
      </p: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5F09EFFF-86B4-ED79-19C0-1E83AD66AB77}"/>
              </a:ext>
            </a:extLst>
          </p:cNvPr>
          <p:cNvSpPr txBox="1">
            <a:spLocks/>
          </p:cNvSpPr>
          <p:nvPr/>
        </p:nvSpPr>
        <p:spPr>
          <a:xfrm>
            <a:off x="7125328" y="2456879"/>
            <a:ext cx="4014568" cy="397542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18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&lt;</a:t>
            </a:r>
            <a:r>
              <a:rPr lang="ko-KR" altLang="en-US" sz="18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위상학적 관점 </a:t>
            </a:r>
            <a:r>
              <a:rPr lang="en-US" altLang="ko-KR" sz="18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&gt;</a:t>
            </a:r>
            <a:endParaRPr lang="en" altLang="ko-KR" sz="1800" b="1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marL="274320" indent="-274320">
              <a:buFont typeface="+mj-lt"/>
              <a:buAutoNum type="arabicPeriod"/>
            </a:pPr>
            <a:endParaRPr lang="en-US" altLang="ko-KR" sz="16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pPr marL="274320" indent="-274320"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매개 </a:t>
            </a:r>
            <a:r>
              <a:rPr lang="ko-KR" altLang="en-US" sz="16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중심성</a:t>
            </a:r>
            <a:r>
              <a:rPr lang="en-US" altLang="ko-KR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en" altLang="ko-KR" sz="16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Betweeness</a:t>
            </a:r>
            <a:r>
              <a:rPr lang="en" altLang="ko-KR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Centrality)</a:t>
            </a:r>
          </a:p>
          <a:p>
            <a:pPr marL="274320" indent="-274320"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근접 </a:t>
            </a:r>
            <a:r>
              <a:rPr lang="ko-KR" altLang="en-US" sz="160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중심성</a:t>
            </a:r>
            <a:r>
              <a:rPr lang="en-US" altLang="ko-KR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en" altLang="ko-KR" sz="16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Closeness Centrality)</a:t>
            </a:r>
            <a:endParaRPr lang="en-US" altLang="ko-KR" sz="1600" dirty="0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713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03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노드 수준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분석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(Centrality Measures)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연결성 기반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 중심성 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(Degree Centrality):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네트워크 내에서 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Hub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누구인가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중심성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지수에서 가장 간단하면서 기본적인 지표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노드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Node)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직접적으로 연결된 모든 링크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Link)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개수로 지수를 평가함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degree(i) =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특정 노드에 연결된 링크의 수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도수</a:t>
            </a: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 =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네트워크를 구성하는 모든 노드의 수</a:t>
            </a: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 startAt="2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고유벡터 중심성 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(Eigenvector Centrality):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네트워크 내에서 중요한 것들과 많이 연결되어있는가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가정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노드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중심성이 높은 노드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많이 연결된 노드가 중요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모든 노드의 중요도를 동일하게 설정해둔 다음에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b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연결된 이웃들의 중요도의 합으로 각 노드의 중요도를 </a:t>
            </a:r>
            <a:r>
              <a:rPr lang="en-US" altLang="ko-KR" sz="1600">
                <a:solidFill>
                  <a:srgbClr val="7A3E9D"/>
                </a:solidFill>
                <a:latin typeface="Consolas" panose="020B0609020204030204" pitchFamily="49" charset="0"/>
              </a:rPr>
              <a:t>max_iter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번 업데이트한 후 전체 합이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되도록 정규화함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D0780A-DA7D-2A53-27CD-CC3BBEF2E0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073"/>
          <a:stretch/>
        </p:blipFill>
        <p:spPr>
          <a:xfrm>
            <a:off x="7618233" y="1536639"/>
            <a:ext cx="3805938" cy="233729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526FEDB-3B68-4AFB-AA5A-8B2BA2E08EDF}"/>
              </a:ext>
            </a:extLst>
          </p:cNvPr>
          <p:cNvSpPr/>
          <p:nvPr/>
        </p:nvSpPr>
        <p:spPr>
          <a:xfrm>
            <a:off x="733531" y="3488561"/>
            <a:ext cx="50097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>
                <a:solidFill>
                  <a:srgbClr val="7A3E9D"/>
                </a:solidFill>
                <a:latin typeface="Consolas" panose="020B0609020204030204" pitchFamily="49" charset="0"/>
              </a:rPr>
              <a:t>degree_centrality</a:t>
            </a:r>
            <a:r>
              <a:rPr lang="en-US" altLang="ko-KR" sz="16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>
                <a:solidFill>
                  <a:srgbClr val="7A3E9D"/>
                </a:solidFill>
                <a:latin typeface="Consolas" panose="020B0609020204030204" pitchFamily="49" charset="0"/>
              </a:rPr>
              <a:t>nx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b="1">
                <a:solidFill>
                  <a:srgbClr val="AA3731"/>
                </a:solidFill>
                <a:latin typeface="Consolas" panose="020B0609020204030204" pitchFamily="49" charset="0"/>
              </a:rPr>
              <a:t>degree_centrality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>
                <a:solidFill>
                  <a:srgbClr val="7A3E9D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altLang="ko-KR" sz="16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0ABD20C-E2F2-4AF5-BDB7-EAF4B31ED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898" y="1947326"/>
            <a:ext cx="2987872" cy="62802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292C377-22A0-4CF7-8178-DFCB2D34D5A3}"/>
              </a:ext>
            </a:extLst>
          </p:cNvPr>
          <p:cNvSpPr/>
          <p:nvPr/>
        </p:nvSpPr>
        <p:spPr>
          <a:xfrm>
            <a:off x="733531" y="5823171"/>
            <a:ext cx="5486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>
                <a:solidFill>
                  <a:srgbClr val="7A3E9D"/>
                </a:solidFill>
                <a:latin typeface="Consolas" panose="020B0609020204030204" pitchFamily="49" charset="0"/>
              </a:rPr>
              <a:t>eigenvector_centrality</a:t>
            </a:r>
            <a:endParaRPr lang="en-US" altLang="ko-KR" sz="160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>
                <a:solidFill>
                  <a:srgbClr val="7A3E9D"/>
                </a:solidFill>
                <a:latin typeface="Consolas" panose="020B0609020204030204" pitchFamily="49" charset="0"/>
              </a:rPr>
              <a:t>nx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b="1">
                <a:solidFill>
                  <a:srgbClr val="AA3731"/>
                </a:solidFill>
                <a:latin typeface="Consolas" panose="020B0609020204030204" pitchFamily="49" charset="0"/>
              </a:rPr>
              <a:t> eigenvector_centrality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>
                <a:solidFill>
                  <a:srgbClr val="7A3E9D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6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>
                <a:solidFill>
                  <a:srgbClr val="7A3E9D"/>
                </a:solidFill>
                <a:latin typeface="Consolas" panose="020B0609020204030204" pitchFamily="49" charset="0"/>
              </a:rPr>
              <a:t>max_iter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>
                <a:solidFill>
                  <a:srgbClr val="9C5D27"/>
                </a:solidFill>
                <a:latin typeface="Consolas" panose="020B0609020204030204" pitchFamily="49" charset="0"/>
              </a:rPr>
              <a:t>1000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altLang="ko-KR" sz="16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35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8B7997A3-6622-4F70-85C2-20D44A6C7775}"/>
              </a:ext>
            </a:extLst>
          </p:cNvPr>
          <p:cNvGrpSpPr/>
          <p:nvPr/>
        </p:nvGrpSpPr>
        <p:grpSpPr>
          <a:xfrm>
            <a:off x="7037128" y="4444436"/>
            <a:ext cx="4774500" cy="2170424"/>
            <a:chOff x="7037128" y="4062007"/>
            <a:chExt cx="4774500" cy="2170424"/>
          </a:xfrm>
        </p:grpSpPr>
        <p:pic>
          <p:nvPicPr>
            <p:cNvPr id="1028" name="Picture 4" descr="https://blog.kakaocdn.net/dna/cY8JDd/btsLlc1xbIX/AAAAAAAAAAAAAAAAAAAAAMHalTuzLhJRGAxMI6PwTSiPLKvoVgEbGtsfCEvO8HtM/img.png?credential=yqXZFxpELC7KVnFOS48ylbz2pIh7yKj8&amp;expires=1759244399&amp;allow_ip=&amp;allow_referer=&amp;signature=TFNoxcet2v4sbJUAXRDCasqR%2FWQ%3D">
              <a:extLst>
                <a:ext uri="{FF2B5EF4-FFF2-40B4-BE49-F238E27FC236}">
                  <a16:creationId xmlns:a16="http://schemas.microsoft.com/office/drawing/2014/main" id="{E1E96F0B-94CE-4ECC-80F1-02007608E9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915" b="14655"/>
            <a:stretch/>
          </p:blipFill>
          <p:spPr bwMode="auto">
            <a:xfrm>
              <a:off x="7037128" y="4062007"/>
              <a:ext cx="4774500" cy="21704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E0B3994-21A1-4DF6-A5F5-DFD466A17CB2}"/>
                </a:ext>
              </a:extLst>
            </p:cNvPr>
            <p:cNvSpPr/>
            <p:nvPr/>
          </p:nvSpPr>
          <p:spPr>
            <a:xfrm>
              <a:off x="7267575" y="6007543"/>
              <a:ext cx="2457450" cy="2248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436DAE3-5F2D-4A4B-A8DF-18340838970F}"/>
              </a:ext>
            </a:extLst>
          </p:cNvPr>
          <p:cNvGrpSpPr/>
          <p:nvPr/>
        </p:nvGrpSpPr>
        <p:grpSpPr>
          <a:xfrm>
            <a:off x="6819900" y="1656412"/>
            <a:ext cx="5168476" cy="2377176"/>
            <a:chOff x="6819900" y="1484962"/>
            <a:chExt cx="5168476" cy="2377176"/>
          </a:xfrm>
        </p:grpSpPr>
        <p:pic>
          <p:nvPicPr>
            <p:cNvPr id="1026" name="Picture 2" descr="https://blog.kakaocdn.net/dna/9iZcK/btsLkEjVnyi/AAAAAAAAAAAAAAAAAAAAAFC6HFz6TujutyELPU10z-SBpueysbOuB0cCNZibscLr/img.png?credential=yqXZFxpELC7KVnFOS48ylbz2pIh7yKj8&amp;expires=1759244399&amp;allow_ip=&amp;allow_referer=&amp;signature=aJwAZfAurkFnP4ygCsXekkZ%2B1oM%3D">
              <a:extLst>
                <a:ext uri="{FF2B5EF4-FFF2-40B4-BE49-F238E27FC236}">
                  <a16:creationId xmlns:a16="http://schemas.microsoft.com/office/drawing/2014/main" id="{B681DCC3-8F96-4498-9E0A-02BA235D0C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593" b="17001"/>
            <a:stretch/>
          </p:blipFill>
          <p:spPr bwMode="auto">
            <a:xfrm>
              <a:off x="6836891" y="1484962"/>
              <a:ext cx="5151485" cy="2377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5C631FA-5F93-4298-9DA3-820DF34B542B}"/>
                </a:ext>
              </a:extLst>
            </p:cNvPr>
            <p:cNvSpPr/>
            <p:nvPr/>
          </p:nvSpPr>
          <p:spPr>
            <a:xfrm>
              <a:off x="6819900" y="3655386"/>
              <a:ext cx="1847850" cy="2067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03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노드 수준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분석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(Centrality Measures)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위상학적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기반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11" name="내용 개체 틀 1">
            <a:extLst>
              <a:ext uri="{FF2B5EF4-FFF2-40B4-BE49-F238E27FC236}">
                <a16:creationId xmlns:a16="http://schemas.microsoft.com/office/drawing/2014/main" id="{61A5C947-D51C-4060-B5DC-09B1EE671DEA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매개 중심성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(Betweeness Centrality):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네트워크 내에서 연결해주는 사람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(Linker)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누구인가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노드들이 해당 노드를 통과하는 경로의 수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 내에서 특정 노드가 다른 노드들 사이에 위치하는 정도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임의의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A, B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노드에 대해서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A-B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최단 경로에 노드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포함되어 있는 횟수로 계산</a:t>
            </a: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예시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노드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B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의 매개 중심성 </a:t>
            </a:r>
            <a:b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</a:b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포함하는 최단경로</a:t>
            </a:r>
            <a:b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 (A, B, C), (A, B, C, D), (A, B, C, F), (A, B, C, E) = 4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Wingdings" panose="05000000000000000000" pitchFamily="2" charset="2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 startAt="2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근접 중심성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(Closeness Centrality):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네트워크 내에서 중심에 있는 사람은 누구인가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가정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중요한 노드일수록 다른 노드까지 도달하는 경로가 짧을 것</a:t>
            </a: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 연결된 노드의 개수를 측정하는 연결 중심성과 다르게 </a:t>
            </a:r>
            <a:b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간접적으로 연결된 모든 노드들의 최소 경로를 측정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예시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 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근접 중심성</a:t>
            </a:r>
            <a:b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 = 6 // Length(A, K) = 1+2+3+3+3 = 12 </a:t>
            </a:r>
            <a:b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 5/12</a:t>
            </a:r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10A36B7-1913-4481-B589-AFB151C3D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287" y="5447263"/>
            <a:ext cx="2269425" cy="664222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420C8E-3440-4E0C-9438-0BFB067A9E1A}"/>
              </a:ext>
            </a:extLst>
          </p:cNvPr>
          <p:cNvSpPr/>
          <p:nvPr/>
        </p:nvSpPr>
        <p:spPr>
          <a:xfrm>
            <a:off x="733531" y="3186179"/>
            <a:ext cx="6096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600">
                <a:solidFill>
                  <a:srgbClr val="7A3E9D"/>
                </a:solidFill>
                <a:latin typeface="Consolas" panose="020B0609020204030204" pitchFamily="49" charset="0"/>
              </a:rPr>
              <a:t>betweenness_centrality</a:t>
            </a:r>
            <a:r>
              <a:rPr lang="en-US" altLang="ko-KR" sz="16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60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600" b="1">
                <a:solidFill>
                  <a:srgbClr val="7A3E9D"/>
                </a:solidFill>
                <a:latin typeface="Consolas" panose="020B0609020204030204" pitchFamily="49" charset="0"/>
              </a:rPr>
              <a:t>nx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600" b="1">
                <a:solidFill>
                  <a:srgbClr val="AA3731"/>
                </a:solidFill>
                <a:latin typeface="Consolas" panose="020B0609020204030204" pitchFamily="49" charset="0"/>
              </a:rPr>
              <a:t>betweenness_centrality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600">
                <a:solidFill>
                  <a:srgbClr val="7A3E9D"/>
                </a:solidFill>
                <a:latin typeface="Consolas" panose="020B0609020204030204" pitchFamily="49" charset="0"/>
              </a:rPr>
              <a:t>G</a:t>
            </a:r>
            <a:r>
              <a:rPr lang="en-US" altLang="ko-KR" sz="1600">
                <a:solidFill>
                  <a:srgbClr val="777777"/>
                </a:solidFill>
                <a:latin typeface="Consolas" panose="020B0609020204030204" pitchFamily="49" charset="0"/>
              </a:rPr>
              <a:t>)</a:t>
            </a:r>
            <a:endParaRPr lang="en-US" altLang="ko-KR" sz="1600" b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97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04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강남검진센터 데이터 적용 사례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[Poor] Degree centrality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Sweet Food: 0.727 &gt; Salty Food: 0.455 &gt; Vegetables: 0.364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환자가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Degree centrality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식품군을 많이 먹는다면 → 직접적으로 많은 다른 식품군도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섭취할 가능성이 높음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 음식을 많이 먹는 사람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 →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튀긴음식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짠음식도 함께 많이 먹을 확률 높음</a:t>
            </a:r>
            <a:endParaRPr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채소를 적게 먹는 사람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 →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등도 많이 먹을 확률 높음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묶음 개선 효과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Sweet Food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조절 → 연관성이 강한 다른 식품군의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식습관이 개선될 수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C066D-D2F2-4CA4-9E30-3C0C4FCA929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7"/>
          <a:stretch>
            <a:fillRect/>
          </a:stretch>
        </p:blipFill>
        <p:spPr bwMode="auto">
          <a:xfrm>
            <a:off x="2588200" y="983323"/>
            <a:ext cx="7015600" cy="31857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3B6BE3-E4C0-402C-B103-AE2FBA4DDBBF}"/>
              </a:ext>
            </a:extLst>
          </p:cNvPr>
          <p:cNvSpPr/>
          <p:nvPr/>
        </p:nvSpPr>
        <p:spPr>
          <a:xfrm>
            <a:off x="361308" y="1572676"/>
            <a:ext cx="2222083" cy="1441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1D68EA-B59D-40BA-A1BF-1F168132BC4F}"/>
              </a:ext>
            </a:extLst>
          </p:cNvPr>
          <p:cNvSpPr/>
          <p:nvPr/>
        </p:nvSpPr>
        <p:spPr>
          <a:xfrm>
            <a:off x="9608609" y="1572676"/>
            <a:ext cx="2230098" cy="1445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B4AFE60-C7EA-42A4-9A92-47A84CA7BA22}"/>
              </a:ext>
            </a:extLst>
          </p:cNvPr>
          <p:cNvSpPr/>
          <p:nvPr/>
        </p:nvSpPr>
        <p:spPr>
          <a:xfrm>
            <a:off x="8823158" y="5069737"/>
            <a:ext cx="3015549" cy="1491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직접적 동반 발생 정도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식품군을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먹으면 </a:t>
            </a:r>
            <a:endParaRPr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몇 개 식품군도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얼마나 많은 문제와 직결되는가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?</a:t>
            </a:r>
            <a:endParaRPr lang="ko-KR" altLang="en-US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757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04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강남검진센터 데이터 적용 사례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[Poor] Betweenness centrality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Sweet Food: 0.445 &gt; Vegetables: 0.145 &gt; Salty Food: 0.064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서로 다른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 사이에서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Betweenness centrality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식품군이 중요한 매개체로 작용하고 있음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단백질 부족한 사람 →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Sweet Food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갈망 → 가공식품 선택증가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   ↑                                 ↑                            ↑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문제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                      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연결고리                    문제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 차단 효과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식습관이 다른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식습관에 영향을 미치기 전에 차단하여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식습관 조절이 용이해짐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C066D-D2F2-4CA4-9E30-3C0C4FCA929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7"/>
          <a:stretch>
            <a:fillRect/>
          </a:stretch>
        </p:blipFill>
        <p:spPr bwMode="auto">
          <a:xfrm>
            <a:off x="2588200" y="983323"/>
            <a:ext cx="7015600" cy="31857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4EDFFDD-E90E-4B0A-A089-160D71929E07}"/>
              </a:ext>
            </a:extLst>
          </p:cNvPr>
          <p:cNvSpPr/>
          <p:nvPr/>
        </p:nvSpPr>
        <p:spPr>
          <a:xfrm>
            <a:off x="361308" y="1572676"/>
            <a:ext cx="2222083" cy="1441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0A243E-DAE4-4FCA-B5D7-AE4ADB51C1A5}"/>
              </a:ext>
            </a:extLst>
          </p:cNvPr>
          <p:cNvSpPr/>
          <p:nvPr/>
        </p:nvSpPr>
        <p:spPr>
          <a:xfrm>
            <a:off x="9608609" y="1572676"/>
            <a:ext cx="2230098" cy="1445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226960-AF69-420C-90DC-A134454101B0}"/>
              </a:ext>
            </a:extLst>
          </p:cNvPr>
          <p:cNvSpPr/>
          <p:nvPr/>
        </p:nvSpPr>
        <p:spPr>
          <a:xfrm>
            <a:off x="8823158" y="5069737"/>
            <a:ext cx="3015549" cy="14905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연쇄 반응의 핵심 정도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식품군이 다른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식습관들을 연결해주는 다리 역할을 하는가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해결하면 다른 문제도 해결되는가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?</a:t>
            </a:r>
            <a:endParaRPr lang="ko-KR" altLang="en-US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06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04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강남검진센터 데이터 적용 사례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[Ideal] Degree centrality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17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Grain: 0.545 &gt; Fried: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0.455 </a:t>
            </a:r>
            <a:r>
              <a:rPr lang="en-US" altLang="ko-KR" sz="17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SSB: 0.455 &gt; Fruits: 0.364 = Processed: 0.364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환자가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Degree centrality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식품군을 많이 먹는다면 → 직접적으로 많은 다른 식품군도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섭취할 가능성이 높음</a:t>
            </a:r>
            <a:endParaRPr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곡류를 적정량 먹는 사람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 →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단백질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과일 등도 균형있게 섭취할 확률 높음</a:t>
            </a:r>
            <a:endParaRPr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튀긴음식을 적절히 조절하는 사람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 →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전체적인 식단 관리 의식이 높아 다른 식품군도 절제할 확률 높음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묶음 개선 효과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적정 섭취 → 연관성이 강한 다른 식품군의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식습관도 함께 개선될 수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C066D-D2F2-4CA4-9E30-3C0C4FCA929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7"/>
          <a:stretch>
            <a:fillRect/>
          </a:stretch>
        </p:blipFill>
        <p:spPr bwMode="auto">
          <a:xfrm>
            <a:off x="2588200" y="983323"/>
            <a:ext cx="7015600" cy="31857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6916F2F-620B-4382-8B71-885F9DF78793}"/>
              </a:ext>
            </a:extLst>
          </p:cNvPr>
          <p:cNvSpPr/>
          <p:nvPr/>
        </p:nvSpPr>
        <p:spPr>
          <a:xfrm>
            <a:off x="361308" y="1572676"/>
            <a:ext cx="2222083" cy="1441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8A9CE9-7723-4662-9182-90B06B4069D5}"/>
              </a:ext>
            </a:extLst>
          </p:cNvPr>
          <p:cNvSpPr/>
          <p:nvPr/>
        </p:nvSpPr>
        <p:spPr>
          <a:xfrm>
            <a:off x="9608609" y="1572676"/>
            <a:ext cx="2230098" cy="1445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E5B891E-517E-4DDD-B10A-33950FB66016}"/>
              </a:ext>
            </a:extLst>
          </p:cNvPr>
          <p:cNvSpPr/>
          <p:nvPr/>
        </p:nvSpPr>
        <p:spPr>
          <a:xfrm>
            <a:off x="8823158" y="5069737"/>
            <a:ext cx="3015549" cy="113357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직접적 동반 발생 정도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식품군을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먹으면 </a:t>
            </a:r>
            <a:endParaRPr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몇 개 식품군도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ko-KR" altLang="en-US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384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04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강남검진센터 데이터 적용 사례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[Ideal] Betweenness centrality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17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Grain: 0.103 &gt; Fried: 0.012 &gt; SSB: 0.012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서로 다른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 사이에서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Betweenness centrality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식품군이 중요한 매개체로 작용하고 있음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단백질 적정 섭취 →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규칙적 섭취 → 채소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과일 섭취 증가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   ↑                               ↑                            ↑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개선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                    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연결고리                    개선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 차단 효과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식습관이 다른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식습관으로 자연스럽게 이어지도록 하는 핵심 고리 역할을 하여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전체적인 건강한 식습관 정착이 용이해짐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C066D-D2F2-4CA4-9E30-3C0C4FCA929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7"/>
          <a:stretch>
            <a:fillRect/>
          </a:stretch>
        </p:blipFill>
        <p:spPr bwMode="auto">
          <a:xfrm>
            <a:off x="2588200" y="983323"/>
            <a:ext cx="7015600" cy="31857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C74AC8D-BE93-4E92-B858-7D3FF2C50684}"/>
              </a:ext>
            </a:extLst>
          </p:cNvPr>
          <p:cNvSpPr/>
          <p:nvPr/>
        </p:nvSpPr>
        <p:spPr>
          <a:xfrm>
            <a:off x="361308" y="1572676"/>
            <a:ext cx="2222083" cy="1441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D76BD2-BAD1-49DB-B9F7-7A6346B2D4A8}"/>
              </a:ext>
            </a:extLst>
          </p:cNvPr>
          <p:cNvSpPr/>
          <p:nvPr/>
        </p:nvSpPr>
        <p:spPr>
          <a:xfrm>
            <a:off x="9608609" y="1572676"/>
            <a:ext cx="2230098" cy="1445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264285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04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강남검진센터 데이터 적용 사례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 startAt="2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질환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상관관계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(A) Diet-Biomarker </a:t>
            </a: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</a:t>
            </a:r>
          </a:p>
          <a:p>
            <a:pPr lvl="1">
              <a:lnSpc>
                <a:spcPct val="10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부정적 상관관계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빨간선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우세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건강한 식품군 섭취가 위험 생체지표 감소와 연관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위험한 식품군 섭취가 위험 생체지표 증가와 연관</a:t>
            </a:r>
          </a:p>
          <a:p>
            <a:pPr lvl="1">
              <a:lnSpc>
                <a:spcPct val="100000"/>
              </a:lnSpc>
            </a:pP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(Degree centrality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Weight: 0.409 &gt; eGFR: 0.273 &gt; BMI: 0.227</a:t>
            </a:r>
          </a:p>
          <a:p>
            <a:pPr>
              <a:lnSpc>
                <a:spcPct val="100000"/>
              </a:lnSpc>
            </a:pPr>
            <a:r>
              <a:rPr lang="en-US" altLang="ko-KR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(B) Diet-MetS</a:t>
            </a: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</a:t>
            </a:r>
          </a:p>
          <a:p>
            <a:pPr lvl="1">
              <a:lnSpc>
                <a:spcPct val="10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긍정적 상관관계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초록선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우세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MetS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증가 시 식습관 개선 패턴</a:t>
            </a:r>
          </a:p>
          <a:p>
            <a:pPr lvl="1">
              <a:lnSpc>
                <a:spcPct val="100000"/>
              </a:lnSpc>
            </a:pP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(Degree centrality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△ WC: 0.688 &gt; △ BP: 0.625 &gt; IFG: 0.562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(C) Diet-Disease </a:t>
            </a: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긍정적 상관관계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초록선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우세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질병 보유 시 식습관 개선 패턴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(Degree centrality 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Obese: 0.667 &gt; Hypertension: 0.444 &gt; Diabetes Mellitus: 0.389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54EF41C-C9CE-4ADE-BA44-53E085D22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7806"/>
            <a:ext cx="9448800" cy="284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3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04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강남검진센터 데이터 적용 사례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 </a:t>
            </a:r>
            <a:r>
              <a:rPr lang="ko-KR" altLang="en-US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endParaRPr lang="en-US" altLang="ko-KR" sz="2400" b="1" dirty="0">
              <a:ln w="9525"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203864"/>
              </a:solidFill>
              <a:latin typeface="Pretendard Black" panose="02000503000000020004" pitchFamily="2" charset="-127"/>
              <a:ea typeface="Pretendard Black" panose="02000503000000020004" pitchFamily="2" charset="-127"/>
              <a:cs typeface="Pretendard Black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 startAt="2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질환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상관관계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결론</a:t>
            </a:r>
          </a:p>
          <a:p>
            <a:pPr lvl="1">
              <a:lnSpc>
                <a:spcPct val="15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생체지표만 안 좋은 초기에는 “안 좋은 식습관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안 좋은 생체지표” 패턴</a:t>
            </a:r>
          </a:p>
          <a:p>
            <a:pPr lvl="1">
              <a:lnSpc>
                <a:spcPct val="15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질병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/MetS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이미 유발된 후에는 오히려 수진자가 식습관을 관리하여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질병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/MetS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있을수록 식습관을 관리한 패턴을 보임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DDF1D9-822E-44F9-A222-FF0C48BFA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7806"/>
            <a:ext cx="9448800" cy="284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7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2590</TotalTime>
  <Words>1691</Words>
  <Application>Microsoft Office PowerPoint</Application>
  <PresentationFormat>와이드스크린</PresentationFormat>
  <Paragraphs>263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Arial</vt:lpstr>
      <vt:lpstr>Consolas</vt:lpstr>
      <vt:lpstr>나눔스퀘어 ExtraBold</vt:lpstr>
      <vt:lpstr>맑은 고딕</vt:lpstr>
      <vt:lpstr>Pretendard Black</vt:lpstr>
      <vt:lpstr>Pretendard</vt:lpstr>
      <vt:lpstr>나눔스퀘어</vt:lpstr>
      <vt:lpstr>G마켓 산스 Medium</vt:lpstr>
      <vt:lpstr>Wingdings</vt:lpstr>
      <vt:lpstr>나눔스퀘어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황희정</dc:creator>
  <cp:lastModifiedBy>Heejeong Hwang</cp:lastModifiedBy>
  <cp:revision>43</cp:revision>
  <dcterms:created xsi:type="dcterms:W3CDTF">2023-09-20T10:10:36Z</dcterms:created>
  <dcterms:modified xsi:type="dcterms:W3CDTF">2025-09-11T06:58:03Z</dcterms:modified>
</cp:coreProperties>
</file>