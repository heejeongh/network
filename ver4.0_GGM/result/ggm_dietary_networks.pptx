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75" r:id="rId6"/>
    <p:sldId id="277" r:id="rId7"/>
    <p:sldId id="278" r:id="rId8"/>
    <p:sldId id="279" r:id="rId9"/>
    <p:sldId id="273" r:id="rId10"/>
    <p:sldId id="274" r:id="rId11"/>
    <p:sldId id="280" r:id="rId12"/>
    <p:sldId id="282" r:id="rId13"/>
    <p:sldId id="281" r:id="rId14"/>
    <p:sldId id="284" r:id="rId15"/>
    <p:sldId id="283" r:id="rId16"/>
  </p:sldIdLst>
  <p:sldSz cx="12192000" cy="6858000"/>
  <p:notesSz cx="6858000" cy="12192000"/>
  <p:embeddedFontLst>
    <p:embeddedFont>
      <p:font typeface="Pretendard" panose="02000503000000020004" pitchFamily="2" charset="-127"/>
      <p:regular r:id="rId18"/>
      <p:bold r:id="rId19"/>
    </p:embeddedFont>
    <p:embeddedFont>
      <p:font typeface="Pretendard ExtraBold" panose="02000503000000020004" pitchFamily="2" charset="-127"/>
      <p:bold r:id="rId20"/>
    </p:embeddedFont>
    <p:embeddedFont>
      <p:font typeface="Pretendard Light" panose="02000403000000020004" pitchFamily="2" charset="-127"/>
      <p:regular r:id="rId21"/>
    </p:embeddedFont>
    <p:embeddedFont>
      <p:font typeface="Pretendard Medium" panose="02000503000000020004" pitchFamily="2" charset="-127"/>
      <p:regular r:id="rId22"/>
    </p:embeddedFont>
    <p:embeddedFont>
      <p:font typeface="Pretendard SemiBold" panose="02000503000000020004" pitchFamily="2" charset="-12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E1FCEB"/>
    <a:srgbClr val="F5FDF8"/>
    <a:srgbClr val="FEE4E4"/>
    <a:srgbClr val="FFDAD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38"/>
    <p:restoredTop sz="95970"/>
  </p:normalViewPr>
  <p:slideViewPr>
    <p:cSldViewPr snapToGrid="0" snapToObjects="1">
      <p:cViewPr varScale="1">
        <p:scale>
          <a:sx n="116" d="100"/>
          <a:sy n="116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81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B594-497E-0D3D-E36B-14124D3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F9A4F-7AB0-9010-1792-4A6BB6E46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00F66-4AC7-9A86-6DB9-ABA22562E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EBB0-3849-1696-C794-C2EE58E58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84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99E9-63DC-43D1-0021-2C61B5E4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740F3-675C-F2F9-8F05-2AF15DA18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BCEFF-2FD6-8D16-8D9F-5DC8A2C9F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11800-062F-BBCE-C6EB-B020F9BAB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AE4EB-40E5-E087-E1BE-A724A7B6C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B6DE4-1E5F-C249-7ED2-5C3C3E02A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19AFF-4AF3-2D77-440D-C4A526ADF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EBC8D-6AFF-64C5-02E1-8783632B1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9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A8F4-81AF-FDDD-970F-B1105D3D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DB271-EDA3-346E-1ED8-E76EBEC5A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C80E5-6DCB-40AA-D8EF-57DBF7195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3144F-8203-36D4-126D-0D8BA0DAC3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6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12E1-A090-6E0E-E84B-D62FE7E6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64C7F-13B1-3EC4-4F69-36C34DE1D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90A9C-DD74-F237-0080-DBB106E08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FF70-2C7E-AE97-E1B5-02EBD82C4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41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8E20-8F1C-FAE5-10C0-157E486C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72F72-C76A-1EBF-4041-5BEAA5067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AAE55-D8A8-7619-686C-7AF9E0C6B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8113F-2349-FED8-251D-BB1E17A7D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30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C0CF-B5DB-A446-E772-E53D7129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4465A-4AD8-8CAA-17D8-CC37F0540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E325F-4FB4-6D17-5711-9CB567688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Prevention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(58%)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보호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(42%)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가공식품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튀김식품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+0.27~1.12*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+0.74~1.24**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+7~11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단백질식품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-7~9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HDL-C +0.93~1.81*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강한 보호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건강한 개인도 허브 식품 섭취가 대사 지표에 영향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(83%)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(17%)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튀김식품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+0.94~1.01*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+2.20~2.93**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강력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+25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급증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곡물제품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청년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 →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+43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위험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단백질식품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그룹별 양면성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중년 악화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장년 개선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환자에서 허브 식품이 질병 중증도에 더 강한 영향</a:t>
            </a:r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03F6C-9C61-C2E1-7BC6-44CA0B066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09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CEDF-DC00-F434-4B86-9FF67250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10406-8198-D4E8-C9E6-C2EBD2E40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A6065-C4E3-E0AA-F119-8C609AF93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E8967-E912-6F56-11E0-6DF2D635B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01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7CF3-9976-3E38-F743-258E4A30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B7996-B132-9325-07F4-A6FC55AF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8B31-BB1E-1E46-B21A-BD221F85C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Prevention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(58%)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보호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(42%)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가공식품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튀김식품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+0.27~1.12*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+0.74~1.24**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+7~11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단백질식품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-7~9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HDL-C +0.93~1.81*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강한 보호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건강한 개인도 허브 식품 섭취가 대사 지표에 영향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(83%)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(17%)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튀김식품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+0.94~1.01*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+2.20~2.93**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강력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+25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급증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곡물제품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청년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 →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+43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위험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단백질식품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그룹별 양면성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중년 악화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장년 개선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환자에서 허브 식품이 질병 중증도에 더 강한 영향</a:t>
            </a:r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7D20-EFAA-6453-52AE-D3ABC8B9F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47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7CF3-9976-3E38-F743-258E4A30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B7996-B132-9325-07F4-A6FC55AF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8B31-BB1E-1E46-B21A-BD221F85C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Prevention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(58%)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보호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(42%)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가공식품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튀김식품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+0.27~1.12*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+0.74~1.24**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+7~11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단백질식품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-7~9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HDL-C +0.93~1.81*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강한 보호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건강한 개인도 허브 식품 섭취가 대사 지표에 영향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(83%)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(17%)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튀김식품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+0.94~1.01*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+2.20~2.93**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강력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+25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급증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곡물제품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청년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 →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+43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위험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단백질식품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그룹별 양면성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중년 악화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장년 개선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환자에서 허브 식품이 질병 중증도에 더 강한 영향</a:t>
            </a:r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7D20-EFAA-6453-52AE-D3ABC8B9F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21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7CF3-9976-3E38-F743-258E4A30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B7996-B132-9325-07F4-A6FC55AF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8B31-BB1E-1E46-B21A-BD221F85C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Prevention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(58%)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보호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(42%)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가공식품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튀김식품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+0.27~1.12*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+0.74~1.24**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+7~11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단백질식품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-7~9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</a:t>
            </a:r>
            <a:r>
              <a:rPr lang="en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HDL-C +0.93~1.81*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강한 보호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건강한 개인도 허브 식품 섭취가 대사 지표에 영향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(</a:t>
            </a:r>
            <a:r>
              <a:rPr lang="en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+)**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유의한 연관성 관찰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(83%) /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완화 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(17%)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튀김식품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가공식품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+0.94~1.01*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허리둘레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+2.20~2.93**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강력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+25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mg/dL***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급증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곡물제품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고섭취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청년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 →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중성지방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+43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mg/dL*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위험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단백질식품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그룹별 양면성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 중년 악화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장년 개선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MetS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환자에서 허브 식품이 질병 중증도에 더 강한 영향</a:t>
            </a:r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7D20-EFAA-6453-52AE-D3ABC8B9F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4108EB-FC98-509E-B43C-CFC822587F4B}"/>
              </a:ext>
            </a:extLst>
          </p:cNvPr>
          <p:cNvGrpSpPr/>
          <p:nvPr/>
        </p:nvGrpSpPr>
        <p:grpSpPr>
          <a:xfrm>
            <a:off x="417311" y="1006006"/>
            <a:ext cx="11357378" cy="1056190"/>
            <a:chOff x="761695" y="1523849"/>
            <a:chExt cx="11357378" cy="1056190"/>
          </a:xfrm>
        </p:grpSpPr>
        <p:sp>
          <p:nvSpPr>
            <p:cNvPr id="4" name="Text 2"/>
            <p:cNvSpPr txBox="1"/>
            <p:nvPr/>
          </p:nvSpPr>
          <p:spPr>
            <a:xfrm>
              <a:off x="761695" y="1523849"/>
              <a:ext cx="12573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dirty="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연구 배경</a:t>
              </a:r>
              <a:endParaRPr lang="en-US" sz="210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800099" y="1974728"/>
              <a:ext cx="11318974" cy="6053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전통적인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식이 패턴 분석은 식품 간 복잡한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조건부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의존성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간과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실제 식품 간 관계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파악에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한계</a:t>
              </a:r>
              <a:endPara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허브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(hub)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식품이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인구통계학적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대사적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특성에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따라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변화하는지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연구를 통해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맞춤형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개입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근거</a:t>
              </a:r>
              <a:r>
                <a:rPr lang="ko-KR" alt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확보가 필요</a:t>
              </a:r>
              <a:endPara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50B1B2-B6B1-F121-AF08-1E40D1B3FFBC}"/>
              </a:ext>
            </a:extLst>
          </p:cNvPr>
          <p:cNvGrpSpPr/>
          <p:nvPr/>
        </p:nvGrpSpPr>
        <p:grpSpPr>
          <a:xfrm>
            <a:off x="417311" y="4737279"/>
            <a:ext cx="11357378" cy="1419297"/>
            <a:chOff x="417311" y="4737279"/>
            <a:chExt cx="11357378" cy="1419297"/>
          </a:xfrm>
        </p:grpSpPr>
        <p:sp>
          <p:nvSpPr>
            <p:cNvPr id="6" name="Text 4"/>
            <p:cNvSpPr txBox="1"/>
            <p:nvPr/>
          </p:nvSpPr>
          <p:spPr>
            <a:xfrm>
              <a:off x="417311" y="4737279"/>
              <a:ext cx="18288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210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en-US" dirty="0"/>
                <a:t>핵심 </a:t>
              </a:r>
              <a:r>
                <a:rPr lang="en-US" dirty="0" err="1"/>
                <a:t>연구</a:t>
              </a:r>
              <a:r>
                <a:rPr lang="en-US" dirty="0"/>
                <a:t> </a:t>
              </a:r>
              <a:r>
                <a:rPr lang="en-US" dirty="0" err="1"/>
                <a:t>질문</a:t>
              </a:r>
              <a:endParaRPr lang="en-US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417311" y="5118584"/>
              <a:ext cx="11357378" cy="1037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 algn="l">
                <a:buFont typeface="+mj-ea"/>
                <a:buAutoNum type="circleNumDbPlain"/>
              </a:pP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식이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네트워크에서 </a:t>
              </a:r>
              <a:r>
                <a:rPr lang="en-US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중심 허브 위치를 차지하는 식품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 무엇인지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규명함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 marL="342900" indent="-342900">
                <a:buFont typeface="+mj-ea"/>
                <a:buAutoNum type="circleNumDbPlain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허브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식품이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성별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연령대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MetS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유무에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따라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변화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하는지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분석함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 marL="342900" indent="-342900">
                <a:buFont typeface="+mj-ea"/>
                <a:buAutoNum type="circleNumDbPlain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이러한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발견을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토대로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MetS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유무에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따른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맞춤형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코칭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전략을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도출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함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384DEEF-4405-3C8D-AA4C-088608842347}"/>
              </a:ext>
            </a:extLst>
          </p:cNvPr>
          <p:cNvGrpSpPr/>
          <p:nvPr/>
        </p:nvGrpSpPr>
        <p:grpSpPr>
          <a:xfrm>
            <a:off x="417311" y="2556629"/>
            <a:ext cx="11357378" cy="1686217"/>
            <a:chOff x="417311" y="2490075"/>
            <a:chExt cx="11357378" cy="1686217"/>
          </a:xfrm>
        </p:grpSpPr>
        <p:sp>
          <p:nvSpPr>
            <p:cNvPr id="5" name="Text 3"/>
            <p:cNvSpPr txBox="1"/>
            <p:nvPr/>
          </p:nvSpPr>
          <p:spPr>
            <a:xfrm>
              <a:off x="417311" y="2490075"/>
              <a:ext cx="12573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210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en-US" dirty="0" err="1"/>
                <a:t>연구</a:t>
              </a:r>
              <a:r>
                <a:rPr lang="en-US" dirty="0"/>
                <a:t> </a:t>
              </a:r>
              <a:r>
                <a:rPr lang="en-US" dirty="0" err="1"/>
                <a:t>목표</a:t>
              </a:r>
              <a:endParaRPr lang="en-US" dirty="0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675D379-873C-9229-AB30-D09CB497B422}"/>
                </a:ext>
              </a:extLst>
            </p:cNvPr>
            <p:cNvGrpSpPr/>
            <p:nvPr/>
          </p:nvGrpSpPr>
          <p:grpSpPr>
            <a:xfrm>
              <a:off x="417311" y="3004488"/>
              <a:ext cx="11357378" cy="1171804"/>
              <a:chOff x="761695" y="3743554"/>
              <a:chExt cx="11357378" cy="914400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761695" y="3743554"/>
                <a:ext cx="11357378" cy="914400"/>
              </a:xfrm>
              <a:prstGeom prst="rect">
                <a:avLst/>
              </a:prstGeom>
              <a:solidFill>
                <a:srgbClr val="F8F9FA"/>
              </a:solidFill>
              <a:ln/>
            </p:spPr>
            <p:txBody>
              <a:bodyPr anchor="ctr"/>
              <a:lstStyle/>
              <a:p>
                <a:pPr algn="ctr"/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교차검증된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그래픽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라쏘를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사용한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준모수적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가우시안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코퓰라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그래픽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모형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(SGCGM)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을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적용</a:t>
                </a:r>
                <a:r>
                  <a:rPr lang="ko-KR" altLang="en-US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하여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</a:t>
                </a:r>
              </a:p>
              <a:p>
                <a:pPr algn="ctr"/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강남검진센터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en-US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수진자</a:t>
                </a:r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집단에서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성별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연령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대사증후군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MetS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상태에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따른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보편적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및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그룹별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특이적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허브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식품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규명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  <a:p>
                <a:pPr algn="ctr"/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이를 통해 집단별 맞춤 식이 솔루션 도출</a:t>
                </a:r>
                <a:endPara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761695" y="3743554"/>
                <a:ext cx="38405" cy="914400"/>
              </a:xfrm>
              <a:prstGeom prst="rect">
                <a:avLst/>
              </a:prstGeom>
              <a:solidFill>
                <a:srgbClr val="0A2540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cxnSp>
        <p:nvCxnSpPr>
          <p:cNvPr id="17" name="직선 연결선 15">
            <a:extLst>
              <a:ext uri="{FF2B5EF4-FFF2-40B4-BE49-F238E27FC236}">
                <a16:creationId xmlns:a16="http://schemas.microsoft.com/office/drawing/2014/main" id="{63677DC7-D183-C509-D1C7-E430298050CE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59C3EA-C490-F568-7E92-8203ECE7A8CC}"/>
              </a:ext>
            </a:extLst>
          </p:cNvPr>
          <p:cNvSpPr txBox="1"/>
          <p:nvPr/>
        </p:nvSpPr>
        <p:spPr>
          <a:xfrm>
            <a:off x="118865" y="128093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Background &amp; Objectives</a:t>
            </a:r>
            <a:endParaRPr lang="en-US" altLang="ko-KR" sz="2400" b="1" dirty="0"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17310" y="3929867"/>
            <a:ext cx="26773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100">
                <a:solidFill>
                  <a:srgbClr val="0A254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GGM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파이프라인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21114" y="1383628"/>
            <a:ext cx="5528424" cy="1846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22,964명 한국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성인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(H-PEACE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층화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(2) ×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(3) ×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MetS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(2) = 11개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12개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Grain, Protein, Vegetables, Dairy, Fruits, Fried, High Fat Meat, Processed, SSB, Salt Use, Salty/Sweet Food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7310" y="4402485"/>
            <a:ext cx="5300777" cy="180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Nonparanormal SKEPTIC: rank → Φ⁻¹(F̂(x))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변환</a:t>
            </a:r>
            <a:endParaRPr lang="en-US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Graphical Lasso: L1-penalized precision matrix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추정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5-fold CV: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λ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(0.01-0.316)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Partial Correlations: |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ρ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&gt; 0.10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Edge</a:t>
            </a:r>
            <a:r>
              <a:rPr lang="ko-KR" alt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설정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연결선 15">
            <a:extLst>
              <a:ext uri="{FF2B5EF4-FFF2-40B4-BE49-F238E27FC236}">
                <a16:creationId xmlns:a16="http://schemas.microsoft.com/office/drawing/2014/main" id="{F7FB4DD4-AB9A-40B2-2CB0-1AD4BF954150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F63CFF-7574-FBEE-EC2A-AC5A8CE2E48B}"/>
              </a:ext>
            </a:extLst>
          </p:cNvPr>
          <p:cNvSpPr txBox="1"/>
          <p:nvPr/>
        </p:nvSpPr>
        <p:spPr>
          <a:xfrm>
            <a:off x="118865" y="128093"/>
            <a:ext cx="3797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Study Design &amp; Methods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57A59B0-3E07-F8EC-54D8-8447C5EDB795}"/>
              </a:ext>
            </a:extLst>
          </p:cNvPr>
          <p:cNvSpPr txBox="1"/>
          <p:nvPr/>
        </p:nvSpPr>
        <p:spPr>
          <a:xfrm>
            <a:off x="417310" y="1002323"/>
            <a:ext cx="1257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100">
                <a:solidFill>
                  <a:srgbClr val="0A254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설계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">
            <a:extLst>
              <a:ext uri="{FF2B5EF4-FFF2-40B4-BE49-F238E27FC236}">
                <a16:creationId xmlns:a16="http://schemas.microsoft.com/office/drawing/2014/main" id="{2EFA68AF-6674-7629-7182-E480CE98B919}"/>
              </a:ext>
            </a:extLst>
          </p:cNvPr>
          <p:cNvSpPr/>
          <p:nvPr/>
        </p:nvSpPr>
        <p:spPr>
          <a:xfrm>
            <a:off x="286682" y="2334432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62B320F9-DC0C-9D1B-2209-B859A4E1D020}"/>
              </a:ext>
            </a:extLst>
          </p:cNvPr>
          <p:cNvSpPr/>
          <p:nvPr/>
        </p:nvSpPr>
        <p:spPr>
          <a:xfrm>
            <a:off x="286682" y="2334432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AF92DAC-699E-E3A7-3405-7478FE8BE922}"/>
              </a:ext>
            </a:extLst>
          </p:cNvPr>
          <p:cNvGrpSpPr/>
          <p:nvPr/>
        </p:nvGrpSpPr>
        <p:grpSpPr>
          <a:xfrm>
            <a:off x="496994" y="2485811"/>
            <a:ext cx="6721754" cy="909089"/>
            <a:chOff x="972007" y="1340510"/>
            <a:chExt cx="6721754" cy="909089"/>
          </a:xfrm>
        </p:grpSpPr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3CEAD125-0A79-7E3D-9E93-35A3D24DB55D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836D75CC-84C3-8178-904B-89B388F9540E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Network Structure Heterogeneity</a:t>
              </a:r>
              <a:endParaRPr lang="en-US" sz="1800" dirty="0"/>
            </a:p>
          </p:txBody>
        </p:sp>
        <p:sp>
          <p:nvSpPr>
            <p:cNvPr id="58" name="Text 27">
              <a:extLst>
                <a:ext uri="{FF2B5EF4-FFF2-40B4-BE49-F238E27FC236}">
                  <a16:creationId xmlns:a16="http://schemas.microsoft.com/office/drawing/2014/main" id="{58DC6CC8-7578-436E-43B0-133DA0F3B920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11개 그룹에서 네트워크 구조가 다양하게 나타남 (Edges: 9-14개, Density: 0.136-0.212)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복잡성과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패턴의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명확성에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차이가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있음</a:t>
              </a:r>
              <a:endParaRPr lang="en-US" altLang="ko-KR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패턴이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상이하므로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접근이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sp>
        <p:nvSpPr>
          <p:cNvPr id="74" name="Shape 2">
            <a:extLst>
              <a:ext uri="{FF2B5EF4-FFF2-40B4-BE49-F238E27FC236}">
                <a16:creationId xmlns:a16="http://schemas.microsoft.com/office/drawing/2014/main" id="{9E90926E-3F53-E50B-E660-70D3D830E6BD}"/>
              </a:ext>
            </a:extLst>
          </p:cNvPr>
          <p:cNvSpPr/>
          <p:nvPr/>
        </p:nvSpPr>
        <p:spPr>
          <a:xfrm>
            <a:off x="286682" y="878774"/>
            <a:ext cx="11447908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DD211E7A-F908-1859-FFFB-09574275FC80}"/>
              </a:ext>
            </a:extLst>
          </p:cNvPr>
          <p:cNvSpPr/>
          <p:nvPr/>
        </p:nvSpPr>
        <p:spPr>
          <a:xfrm>
            <a:off x="286682" y="878774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266E655-95D8-1695-0309-F9B50508D285}"/>
              </a:ext>
            </a:extLst>
          </p:cNvPr>
          <p:cNvGrpSpPr/>
          <p:nvPr/>
        </p:nvGrpSpPr>
        <p:grpSpPr>
          <a:xfrm>
            <a:off x="496994" y="1030153"/>
            <a:ext cx="6721754" cy="909089"/>
            <a:chOff x="972007" y="1340510"/>
            <a:chExt cx="6721754" cy="909089"/>
          </a:xfrm>
        </p:grpSpPr>
        <p:sp>
          <p:nvSpPr>
            <p:cNvPr id="71" name="Shape 12">
              <a:extLst>
                <a:ext uri="{FF2B5EF4-FFF2-40B4-BE49-F238E27FC236}">
                  <a16:creationId xmlns:a16="http://schemas.microsoft.com/office/drawing/2014/main" id="{5F581276-AE4C-0C02-F8EB-96A937C7E493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960D4942-CBB7-F796-6D13-1BD4F5B0AD8D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Universal Hub Foods</a:t>
              </a:r>
              <a:endParaRPr lang="en-US" altLang="ko-KR" dirty="0"/>
            </a:p>
          </p:txBody>
        </p:sp>
        <p:sp>
          <p:nvSpPr>
            <p:cNvPr id="73" name="Text 27">
              <a:extLst>
                <a:ext uri="{FF2B5EF4-FFF2-40B4-BE49-F238E27FC236}">
                  <a16:creationId xmlns:a16="http://schemas.microsoft.com/office/drawing/2014/main" id="{1305366C-BA81-AA58-5DE0-B7032A790E7B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•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(Fried Foods): 7/11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(64%)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에서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상위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허브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•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가공식품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(Processed Foods): 9/11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(82%)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에서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1위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허브</a:t>
              </a:r>
              <a:endParaRPr lang="en-US" altLang="ko-KR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차이에도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불구하고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가공식품과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튀김류는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공통적으로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네트워크의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중심임</a:t>
              </a:r>
              <a:endParaRPr lang="en-US" altLang="ko-KR" sz="1200" dirty="0"/>
            </a:p>
          </p:txBody>
        </p:sp>
      </p:grpSp>
      <p:sp>
        <p:nvSpPr>
          <p:cNvPr id="82" name="Shape 2">
            <a:extLst>
              <a:ext uri="{FF2B5EF4-FFF2-40B4-BE49-F238E27FC236}">
                <a16:creationId xmlns:a16="http://schemas.microsoft.com/office/drawing/2014/main" id="{794C2029-CD77-02C1-F8D0-2E1EAD659F75}"/>
              </a:ext>
            </a:extLst>
          </p:cNvPr>
          <p:cNvSpPr/>
          <p:nvPr/>
        </p:nvSpPr>
        <p:spPr>
          <a:xfrm>
            <a:off x="286682" y="3790090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5C829686-EAB4-EE2B-487B-014F4E3219FF}"/>
              </a:ext>
            </a:extLst>
          </p:cNvPr>
          <p:cNvSpPr/>
          <p:nvPr/>
        </p:nvSpPr>
        <p:spPr>
          <a:xfrm>
            <a:off x="286682" y="3790090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4C535A3-34D3-BA2F-937F-09BB8811CEFB}"/>
              </a:ext>
            </a:extLst>
          </p:cNvPr>
          <p:cNvGrpSpPr/>
          <p:nvPr/>
        </p:nvGrpSpPr>
        <p:grpSpPr>
          <a:xfrm>
            <a:off x="496994" y="3941469"/>
            <a:ext cx="6721754" cy="909089"/>
            <a:chOff x="972007" y="1340510"/>
            <a:chExt cx="6721754" cy="909089"/>
          </a:xfrm>
        </p:grpSpPr>
        <p:sp>
          <p:nvSpPr>
            <p:cNvPr id="79" name="Shape 12">
              <a:extLst>
                <a:ext uri="{FF2B5EF4-FFF2-40B4-BE49-F238E27FC236}">
                  <a16:creationId xmlns:a16="http://schemas.microsoft.com/office/drawing/2014/main" id="{9EB36FF9-57DA-96F7-9F46-B754BBECD38D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22FAB2B8-F379-5058-02DE-35A2CCDCD577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Age-Related Hub Transitions</a:t>
              </a:r>
              <a:endParaRPr lang="en-US" altLang="ko-KR" dirty="0"/>
            </a:p>
          </p:txBody>
        </p:sp>
        <p:sp>
          <p:nvSpPr>
            <p:cNvPr id="81" name="Text 27">
              <a:extLst>
                <a:ext uri="{FF2B5EF4-FFF2-40B4-BE49-F238E27FC236}">
                  <a16:creationId xmlns:a16="http://schemas.microsoft.com/office/drawing/2014/main" id="{371CC4C4-06F0-CB15-B1EE-C0B23D144558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 증가 시 곡물의 허브 지위가 상승함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튀김류는 연령 증가 시 감소하는 경향을 보임</a:t>
              </a: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영양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중재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전략이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sp>
        <p:nvSpPr>
          <p:cNvPr id="90" name="Shape 2">
            <a:extLst>
              <a:ext uri="{FF2B5EF4-FFF2-40B4-BE49-F238E27FC236}">
                <a16:creationId xmlns:a16="http://schemas.microsoft.com/office/drawing/2014/main" id="{12936C80-7961-8C09-F326-E7DBF8274231}"/>
              </a:ext>
            </a:extLst>
          </p:cNvPr>
          <p:cNvSpPr/>
          <p:nvPr/>
        </p:nvSpPr>
        <p:spPr>
          <a:xfrm>
            <a:off x="286682" y="5245747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035B7480-8396-9241-BF4E-6141F3EF83DE}"/>
              </a:ext>
            </a:extLst>
          </p:cNvPr>
          <p:cNvSpPr/>
          <p:nvPr/>
        </p:nvSpPr>
        <p:spPr>
          <a:xfrm>
            <a:off x="286682" y="5245747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80A1764-9821-0344-08C1-991BA3CAAF33}"/>
              </a:ext>
            </a:extLst>
          </p:cNvPr>
          <p:cNvGrpSpPr/>
          <p:nvPr/>
        </p:nvGrpSpPr>
        <p:grpSpPr>
          <a:xfrm>
            <a:off x="496994" y="5397126"/>
            <a:ext cx="6721754" cy="909089"/>
            <a:chOff x="972007" y="1340510"/>
            <a:chExt cx="6721754" cy="909089"/>
          </a:xfrm>
        </p:grpSpPr>
        <p:sp>
          <p:nvSpPr>
            <p:cNvPr id="87" name="Shape 12">
              <a:extLst>
                <a:ext uri="{FF2B5EF4-FFF2-40B4-BE49-F238E27FC236}">
                  <a16:creationId xmlns:a16="http://schemas.microsoft.com/office/drawing/2014/main" id="{197FC285-BEE6-7470-4451-9E4F84943B41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88" name="Text 22">
              <a:extLst>
                <a:ext uri="{FF2B5EF4-FFF2-40B4-BE49-F238E27FC236}">
                  <a16:creationId xmlns:a16="http://schemas.microsoft.com/office/drawing/2014/main" id="{F99442B2-6A4A-4D7B-28F7-3276553731A8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-Specific Dietary Patterns</a:t>
              </a:r>
              <a:endParaRPr lang="en-US" altLang="ko-KR" dirty="0"/>
            </a:p>
          </p:txBody>
        </p:sp>
        <p:sp>
          <p:nvSpPr>
            <p:cNvPr id="89" name="Text 27">
              <a:extLst>
                <a:ext uri="{FF2B5EF4-FFF2-40B4-BE49-F238E27FC236}">
                  <a16:creationId xmlns:a16="http://schemas.microsoft.com/office/drawing/2014/main" id="{F0ACCDB5-68FA-D763-AD2C-135B674D9993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동일 성별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/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 내에서도 </a:t>
              </a:r>
              <a:r>
                <a:rPr lang="en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유무에 따라 네트워크 구조 및 </a:t>
              </a:r>
              <a:r>
                <a:rPr lang="en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Hub 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식품이 다름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(-)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그룹이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(+)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그룹보다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더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복잡한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구조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(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더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많은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edges,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높은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density)</a:t>
              </a:r>
              <a:endParaRPr lang="ko-KR" altLang="en-US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각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성별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/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연령대별로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상태에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따른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코칭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전략이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cxnSp>
        <p:nvCxnSpPr>
          <p:cNvPr id="92" name="직선 연결선 15">
            <a:extLst>
              <a:ext uri="{FF2B5EF4-FFF2-40B4-BE49-F238E27FC236}">
                <a16:creationId xmlns:a16="http://schemas.microsoft.com/office/drawing/2014/main" id="{03585029-48E5-FC56-588B-EA59EA4764E0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F315BD2-9717-BB8D-499A-B401911A8504}"/>
              </a:ext>
            </a:extLst>
          </p:cNvPr>
          <p:cNvSpPr txBox="1"/>
          <p:nvPr/>
        </p:nvSpPr>
        <p:spPr>
          <a:xfrm>
            <a:off x="118865" y="128093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700A516E-8DA8-C7CE-C611-7CA054C91D94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6F31B0-2F80-A9C5-AC90-1942BC2B6588}"/>
              </a:ext>
            </a:extLst>
          </p:cNvPr>
          <p:cNvSpPr txBox="1"/>
          <p:nvPr/>
        </p:nvSpPr>
        <p:spPr>
          <a:xfrm>
            <a:off x="118865" y="128093"/>
            <a:ext cx="834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Study Population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6E0E4-6322-55B8-1DE0-4D18C03021FC}"/>
              </a:ext>
            </a:extLst>
          </p:cNvPr>
          <p:cNvSpPr txBox="1"/>
          <p:nvPr/>
        </p:nvSpPr>
        <p:spPr>
          <a:xfrm>
            <a:off x="202504" y="760118"/>
            <a:ext cx="11786989" cy="71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buNone/>
              <a:defRPr sz="130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dirty="0"/>
              <a:t>연구 대상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23,040</a:t>
            </a:r>
            <a:r>
              <a:rPr lang="ko-KR" altLang="en-US" dirty="0"/>
              <a:t>명</a:t>
            </a:r>
            <a:r>
              <a:rPr lang="en-US" altLang="ko-KR" dirty="0"/>
              <a:t> [</a:t>
            </a:r>
            <a:r>
              <a:rPr lang="en-US" altLang="ko-KR" dirty="0" err="1"/>
              <a:t>MetS</a:t>
            </a:r>
            <a:r>
              <a:rPr lang="en-US" altLang="ko-KR" dirty="0"/>
              <a:t>(-) 17,101</a:t>
            </a:r>
            <a:r>
              <a:rPr lang="ko-KR" altLang="en-US" dirty="0"/>
              <a:t>명 </a:t>
            </a:r>
            <a:r>
              <a:rPr lang="en-US" altLang="ko-KR" dirty="0"/>
              <a:t>/ </a:t>
            </a:r>
            <a:r>
              <a:rPr lang="en-US" altLang="ko-KR" dirty="0" err="1"/>
              <a:t>MetS</a:t>
            </a:r>
            <a:r>
              <a:rPr lang="en-US" altLang="ko-KR" dirty="0"/>
              <a:t>(+) 5,939</a:t>
            </a:r>
            <a:r>
              <a:rPr lang="ko-KR" altLang="en-US" dirty="0"/>
              <a:t>명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/>
              <a:t>6</a:t>
            </a:r>
            <a:r>
              <a:rPr lang="ko-KR" altLang="en-US" dirty="0"/>
              <a:t>개 하위그룹</a:t>
            </a:r>
            <a:r>
              <a:rPr lang="en-US" altLang="ko-KR" dirty="0"/>
              <a:t>: </a:t>
            </a:r>
            <a:r>
              <a:rPr lang="ko-KR" altLang="en-US" dirty="0"/>
              <a:t>성별</a:t>
            </a:r>
            <a:r>
              <a:rPr lang="en-US" altLang="ko-KR" dirty="0"/>
              <a:t>(</a:t>
            </a:r>
            <a:r>
              <a:rPr lang="ko-KR" altLang="en-US" dirty="0"/>
              <a:t>남</a:t>
            </a:r>
            <a:r>
              <a:rPr lang="en-US" altLang="ko-KR" dirty="0"/>
              <a:t>/</a:t>
            </a:r>
            <a:r>
              <a:rPr lang="ko-KR" altLang="en-US" dirty="0"/>
              <a:t>여</a:t>
            </a:r>
            <a:r>
              <a:rPr lang="en-US" altLang="ko-KR" dirty="0"/>
              <a:t>) × </a:t>
            </a:r>
            <a:r>
              <a:rPr lang="ko-KR" altLang="en-US" dirty="0"/>
              <a:t>연령대</a:t>
            </a:r>
            <a:r>
              <a:rPr lang="en-US" altLang="ko-KR" dirty="0"/>
              <a:t>(</a:t>
            </a:r>
            <a:r>
              <a:rPr lang="ko-KR" altLang="en-US" dirty="0"/>
              <a:t>청년 </a:t>
            </a:r>
            <a:r>
              <a:rPr lang="en-US" altLang="ko-KR" dirty="0"/>
              <a:t>20-39</a:t>
            </a:r>
            <a:r>
              <a:rPr lang="ko-KR" altLang="en-US" dirty="0"/>
              <a:t>세</a:t>
            </a:r>
            <a:r>
              <a:rPr lang="en-US" altLang="ko-KR" dirty="0"/>
              <a:t>, </a:t>
            </a:r>
            <a:r>
              <a:rPr lang="ko-KR" altLang="en-US" dirty="0"/>
              <a:t>중년 </a:t>
            </a:r>
            <a:r>
              <a:rPr lang="en-US" altLang="ko-KR" dirty="0"/>
              <a:t>40-59</a:t>
            </a:r>
            <a:r>
              <a:rPr lang="ko-KR" altLang="en-US" dirty="0"/>
              <a:t>세</a:t>
            </a:r>
            <a:r>
              <a:rPr lang="en-US" altLang="ko-KR" dirty="0"/>
              <a:t>, </a:t>
            </a:r>
            <a:r>
              <a:rPr lang="ko-KR" altLang="en-US" dirty="0"/>
              <a:t>장년 </a:t>
            </a:r>
            <a:r>
              <a:rPr lang="en-US" altLang="ko-KR" dirty="0"/>
              <a:t>60-79</a:t>
            </a:r>
            <a:r>
              <a:rPr lang="ko-KR" altLang="en-US" dirty="0"/>
              <a:t>세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" altLang="ko-KR" dirty="0" err="1"/>
              <a:t>MetS</a:t>
            </a:r>
            <a:r>
              <a:rPr lang="en" altLang="ko-KR" dirty="0"/>
              <a:t>(+)</a:t>
            </a:r>
            <a:r>
              <a:rPr lang="ko-KR" altLang="en-US" dirty="0"/>
              <a:t>군은 모든 하위그룹에서 뚜렷한 대사이상 보임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sz="1000" dirty="0"/>
              <a:t>BMI +3~8 kg/m², </a:t>
            </a:r>
            <a:r>
              <a:rPr lang="ko-KR" altLang="en-US" sz="1000" dirty="0"/>
              <a:t>허리둘레 </a:t>
            </a:r>
            <a:r>
              <a:rPr lang="en-US" altLang="ko-KR" sz="1000" dirty="0"/>
              <a:t>+8~19 </a:t>
            </a:r>
            <a:r>
              <a:rPr lang="en" altLang="ko-KR" sz="1000" dirty="0"/>
              <a:t>cm</a:t>
            </a:r>
            <a:r>
              <a:rPr lang="en-US" altLang="ko-KR" sz="1000" dirty="0"/>
              <a:t>,</a:t>
            </a:r>
            <a:r>
              <a:rPr lang="ko-KR" altLang="en-US" sz="1000" dirty="0"/>
              <a:t> 수축기 </a:t>
            </a:r>
            <a:r>
              <a:rPr lang="en-US" altLang="ko-KR" sz="1000" dirty="0"/>
              <a:t>+12 </a:t>
            </a:r>
            <a:r>
              <a:rPr lang="en" altLang="ko-KR" sz="1000" dirty="0"/>
              <a:t>mmHg, </a:t>
            </a:r>
            <a:r>
              <a:rPr lang="ko-KR" altLang="en-US" sz="1000" dirty="0"/>
              <a:t>이완기 </a:t>
            </a:r>
            <a:r>
              <a:rPr lang="en-US" altLang="ko-KR" sz="1000" dirty="0"/>
              <a:t>+8 </a:t>
            </a:r>
            <a:r>
              <a:rPr lang="en" altLang="ko-KR" sz="1000" dirty="0"/>
              <a:t>mmHg</a:t>
            </a:r>
            <a:r>
              <a:rPr lang="en-US" altLang="ko-KR" sz="1000" dirty="0"/>
              <a:t>,</a:t>
            </a:r>
            <a:r>
              <a:rPr lang="ko-KR" altLang="en-US" sz="1000" dirty="0"/>
              <a:t> 중성지방 </a:t>
            </a:r>
            <a:r>
              <a:rPr lang="en-US" altLang="ko-KR" sz="1000" dirty="0"/>
              <a:t>+74 </a:t>
            </a:r>
            <a:r>
              <a:rPr lang="en" altLang="ko-KR" sz="1000" dirty="0"/>
              <a:t>mg/dL, HDL-C -11 mg/dL</a:t>
            </a:r>
            <a:r>
              <a:rPr lang="en-US" altLang="ko-KR" sz="1000" dirty="0"/>
              <a:t>,</a:t>
            </a:r>
            <a:r>
              <a:rPr lang="ko-KR" altLang="en-US" sz="1000" dirty="0"/>
              <a:t> 공복혈당 </a:t>
            </a:r>
            <a:r>
              <a:rPr lang="en-US" altLang="ko-KR" sz="1000" dirty="0"/>
              <a:t>+17 </a:t>
            </a:r>
            <a:r>
              <a:rPr lang="en" altLang="ko-KR" sz="1000" dirty="0"/>
              <a:t>mg/dL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6E0D24-64F5-6AE5-16E1-0B29B8B3A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3509"/>
              </p:ext>
            </p:extLst>
          </p:nvPr>
        </p:nvGraphicFramePr>
        <p:xfrm>
          <a:off x="202505" y="1565030"/>
          <a:ext cx="11786990" cy="516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969">
                  <a:extLst>
                    <a:ext uri="{9D8B030D-6E8A-4147-A177-3AD203B41FA5}">
                      <a16:colId xmlns:a16="http://schemas.microsoft.com/office/drawing/2014/main" val="3698894223"/>
                    </a:ext>
                  </a:extLst>
                </a:gridCol>
                <a:gridCol w="1366629">
                  <a:extLst>
                    <a:ext uri="{9D8B030D-6E8A-4147-A177-3AD203B41FA5}">
                      <a16:colId xmlns:a16="http://schemas.microsoft.com/office/drawing/2014/main" val="1575793214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3407994204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4055930190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4194566376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2384259843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2421444554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2379938234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581528737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3248942340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270020936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584368402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262278998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542504177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3244118621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592546730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289123686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871231005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55362973"/>
                    </a:ext>
                  </a:extLst>
                </a:gridCol>
                <a:gridCol w="557744">
                  <a:extLst>
                    <a:ext uri="{9D8B030D-6E8A-4147-A177-3AD203B41FA5}">
                      <a16:colId xmlns:a16="http://schemas.microsoft.com/office/drawing/2014/main" val="115438191"/>
                    </a:ext>
                  </a:extLst>
                </a:gridCol>
              </a:tblGrid>
              <a:tr h="203341">
                <a:tc rowSpan="2"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Variable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남성 청년층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(19-39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남성 중년층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(40-59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남성 장년층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(60-74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여성 청년층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(19-39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여성 중년층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(40-59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여성 장년층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(60-74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788658"/>
                  </a:ext>
                </a:extLst>
              </a:tr>
              <a:tr h="2033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MetS(+)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MetS(-)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MetS(+)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MetS(-)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MetS(-)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10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p-value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48177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Sample Size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1963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4737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2938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971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2519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5629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1084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680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7247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 (years)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33.1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33.3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33.8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0.341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64.8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67.1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70809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Height (cm)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176.5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173.4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173.9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169.7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0.404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161.1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0.012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156.2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0.003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802792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Weight (kg)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88.8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73.4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65.6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53.3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3821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BMI (kg/m²)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759624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Waist Circumference (cm)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86.1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97.7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86.1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93.8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84.8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91.6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94.1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88.5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87.6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24293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Systolic BP (mmHg)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117.8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128.8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117.5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124.9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121.1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126.9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107.4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123.3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111.8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124.7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118.9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43439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Diastolic BP (mmHg)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83.8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68.1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370962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Cholesterol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201.9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207.4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199.3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173.1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206.3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0.009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0.005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189.3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71648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Triglycerides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98.3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205.4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107.3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181.2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88.6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68.7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156.6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138.9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114.6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50402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LDL-C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133.5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136.9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126.8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121.5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128.5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131.8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0.032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131.3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113.5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446984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HDL-C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53.6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2477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Non-HDL-C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154.2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0.195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137.8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126.3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131.8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146.7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039051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Fasting Glucose (mg/dL)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93.6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98.7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113.1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101.3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89.3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108.5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108.1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95.7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111.5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660874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HbA1c (%)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5.59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5.53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5.91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5.74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6.07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5.22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5.83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5.42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5.67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6.09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60713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eGFR (mL/min/1.73m²)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101.8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101.4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0.601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90.6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90.1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0.088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81.8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96.4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85.5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7358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Hypertension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96853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Diabetes Mellitus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929230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Hyperlipidemia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39.40%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70.90%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108692"/>
                  </a:ext>
                </a:extLst>
              </a:tr>
              <a:tr h="1830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Obesity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37.60%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32.90%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01401"/>
                  </a:ext>
                </a:extLst>
              </a:tr>
              <a:tr h="183007"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altLang="ko-KR" sz="9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Increased WC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7.90%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86.80%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67.60%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03404"/>
                  </a:ext>
                </a:extLst>
              </a:tr>
              <a:tr h="18300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Elevated BP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69.00%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69.10%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481585"/>
                  </a:ext>
                </a:extLst>
              </a:tr>
              <a:tr h="36601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Impaired Fasting Glucose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69.00%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83.60%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42.30%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87.20%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7.40%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67.10%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25.90%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882331"/>
                  </a:ext>
                </a:extLst>
              </a:tr>
              <a:tr h="18300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Elevated TG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79.20%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567488"/>
                  </a:ext>
                </a:extLst>
              </a:tr>
              <a:tr h="18300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Decreased HDL-C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33.10%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28.50%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77.60%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11.70%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62.00%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10.80%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44.10%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&lt;0.001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0209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5DBE6C9-3967-BBBE-A27B-18B09391DF27}"/>
              </a:ext>
            </a:extLst>
          </p:cNvPr>
          <p:cNvSpPr txBox="1"/>
          <p:nvPr/>
        </p:nvSpPr>
        <p:spPr>
          <a:xfrm>
            <a:off x="202504" y="1584958"/>
            <a:ext cx="11786989" cy="5144936"/>
          </a:xfrm>
          <a:prstGeom prst="rect">
            <a:avLst/>
          </a:prstGeom>
          <a:solidFill>
            <a:schemeClr val="bg1">
              <a:alpha val="89000"/>
            </a:schemeClr>
          </a:solidFill>
          <a:ln/>
        </p:spPr>
        <p:txBody>
          <a:bodyPr wrap="square" lIns="216000" tIns="0" rIns="0" bIns="0" rtlCol="0" anchor="ctr"/>
          <a:lstStyle>
            <a:lvl1pPr indent="0">
              <a:buNone/>
              <a:defRPr sz="130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b="1" dirty="0"/>
              <a:t>[</a:t>
            </a:r>
            <a:r>
              <a:rPr lang="ko-KR" altLang="en-US" b="1" dirty="0"/>
              <a:t> 상세 표는 아래 결과로 요약 정리 </a:t>
            </a:r>
            <a:r>
              <a:rPr lang="en-US" altLang="ko-KR" b="1" dirty="0"/>
              <a:t>]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연령대별 차이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청년층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교육수준 낮고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신체활동 부족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불건강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식습관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외식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간식 빈도↑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중년층**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 질병 유병률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고혈압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50%,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당뇨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30%)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 약물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복용률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급증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가장 큰 임상적 격차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장년층**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만성질환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중복이환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높고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eGFR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저하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신기능 악화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성별 차이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흡연률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높고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음주 빈도 높음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신체활동 현저히 낮고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교육수준 격차 더 큼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 청년 </a:t>
            </a:r>
            <a:r>
              <a:rPr lang="en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 76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명으로 극소수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Wingdings" pitchFamily="2" charset="2"/>
              </a:rPr>
              <a:t>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분석에서 제외됨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" altLang="ko-KR" dirty="0" err="1"/>
              <a:t>MetS</a:t>
            </a:r>
            <a:r>
              <a:rPr lang="en" altLang="ko-KR" dirty="0"/>
              <a:t>(</a:t>
            </a:r>
            <a:r>
              <a:rPr lang="en-US" altLang="ko-KR" dirty="0"/>
              <a:t>-</a:t>
            </a:r>
            <a:r>
              <a:rPr lang="en" altLang="ko-KR" dirty="0"/>
              <a:t>) </a:t>
            </a:r>
            <a:r>
              <a:rPr lang="ko-KR" altLang="en-US" dirty="0"/>
              <a:t>대비 </a:t>
            </a:r>
            <a:r>
              <a:rPr lang="en" altLang="ko-KR" dirty="0" err="1"/>
              <a:t>MetS</a:t>
            </a:r>
            <a:r>
              <a:rPr lang="en" altLang="ko-KR" dirty="0"/>
              <a:t>(+)</a:t>
            </a:r>
            <a:r>
              <a:rPr lang="ko-KR" altLang="en-US" dirty="0"/>
              <a:t>의 생활습관 및 식이 패턴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모든 연령대에서 신체활동이 낮고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외식 빈도가 높음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불건강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식품군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당류음료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섭취 유의하게 높음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건강 식품군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채소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과일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섭취 낮은 경향</a:t>
            </a:r>
            <a:endParaRPr lang="en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3E58-70BF-DDA0-3ECD-253302A3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235AFD49-FB10-64D7-FAC2-A533CB813592}"/>
              </a:ext>
            </a:extLst>
          </p:cNvPr>
          <p:cNvSpPr txBox="1"/>
          <p:nvPr/>
        </p:nvSpPr>
        <p:spPr>
          <a:xfrm>
            <a:off x="261437" y="5435465"/>
            <a:ext cx="11669126" cy="134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 </a:t>
            </a:r>
            <a:r>
              <a:rPr lang="ko-KR" altLang="en-US" sz="1300" b="1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중심성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Hub Centrality)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: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일반적으로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0.182-0.364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최고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0.455 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 중년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 중년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장년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당류음료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 밀도</a:t>
            </a:r>
            <a:endParaRPr lang="en-US" altLang="ko-KR" sz="1300" b="1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남성 중년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0.152 -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여성 장년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0.273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보다 약간 낮은 경향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일부 그룹 제외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0B2FF-03C3-5F79-0B8F-EA80B450021C}"/>
              </a:ext>
            </a:extLst>
          </p:cNvPr>
          <p:cNvSpPr txBox="1"/>
          <p:nvPr/>
        </p:nvSpPr>
        <p:spPr>
          <a:xfrm>
            <a:off x="118865" y="751839"/>
            <a:ext cx="767232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전체 네트워크 특성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노드 </a:t>
            </a:r>
            <a:r>
              <a:rPr lang="en-US" altLang="ko-KR" sz="1600" b="1" dirty="0"/>
              <a:t>12</a:t>
            </a:r>
            <a:r>
              <a:rPr lang="ko-KR" altLang="en-US" sz="1600" b="1" dirty="0"/>
              <a:t>개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식품군</a:t>
            </a:r>
            <a:r>
              <a:rPr lang="en-US" altLang="ko-KR" sz="1600" b="1" dirty="0"/>
              <a:t>) + </a:t>
            </a:r>
            <a:r>
              <a:rPr lang="ko-KR" altLang="en-US" sz="1600" b="1" dirty="0" err="1"/>
              <a:t>엣지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10-18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네트워크 밀도 </a:t>
            </a:r>
            <a:r>
              <a:rPr lang="en-US" altLang="ko-KR" sz="1600" b="1" dirty="0"/>
              <a:t>0.152-0.273</a:t>
            </a:r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438292DF-6D18-7559-F08B-6CEB74975D9B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6C50FBC-AAA4-B90A-7F5E-F5B1E24B188A}"/>
              </a:ext>
            </a:extLst>
          </p:cNvPr>
          <p:cNvSpPr txBox="1"/>
          <p:nvPr/>
        </p:nvSpPr>
        <p:spPr>
          <a:xfrm>
            <a:off x="118865" y="128093"/>
            <a:ext cx="852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Network Construction &amp; Hub Identification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C2EABF-1E7F-8486-AD8B-04F35589541E}"/>
              </a:ext>
            </a:extLst>
          </p:cNvPr>
          <p:cNvGrpSpPr/>
          <p:nvPr/>
        </p:nvGrpSpPr>
        <p:grpSpPr>
          <a:xfrm>
            <a:off x="10092177" y="37583"/>
            <a:ext cx="1886524" cy="535870"/>
            <a:chOff x="757830" y="5816203"/>
            <a:chExt cx="1993600" cy="56628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635C19A-FF71-B7E4-9738-13D10A58117A}"/>
                </a:ext>
              </a:extLst>
            </p:cNvPr>
            <p:cNvGrpSpPr/>
            <p:nvPr/>
          </p:nvGrpSpPr>
          <p:grpSpPr>
            <a:xfrm>
              <a:off x="761695" y="5816203"/>
              <a:ext cx="1811218" cy="191110"/>
              <a:chOff x="2933548" y="5816203"/>
              <a:chExt cx="1811218" cy="191110"/>
            </a:xfrm>
          </p:grpSpPr>
          <p:sp>
            <p:nvSpPr>
              <p:cNvPr id="19" name="Shape 4">
                <a:extLst>
                  <a:ext uri="{FF2B5EF4-FFF2-40B4-BE49-F238E27FC236}">
                    <a16:creationId xmlns:a16="http://schemas.microsoft.com/office/drawing/2014/main" id="{C9FBCC8D-F88C-2F28-E8C3-F6A8093DB130}"/>
                  </a:ext>
                </a:extLst>
              </p:cNvPr>
              <p:cNvSpPr/>
              <p:nvPr/>
            </p:nvSpPr>
            <p:spPr>
              <a:xfrm>
                <a:off x="2933548" y="5859177"/>
                <a:ext cx="114300" cy="114300"/>
              </a:xfrm>
              <a:prstGeom prst="ellipse">
                <a:avLst/>
              </a:prstGeom>
              <a:solidFill>
                <a:srgbClr val="FF5252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24" name="Text 5">
                <a:extLst>
                  <a:ext uri="{FF2B5EF4-FFF2-40B4-BE49-F238E27FC236}">
                    <a16:creationId xmlns:a16="http://schemas.microsoft.com/office/drawing/2014/main" id="{65AD818C-B455-1254-81C6-0725C7A553BA}"/>
                  </a:ext>
                </a:extLst>
              </p:cNvPr>
              <p:cNvSpPr txBox="1"/>
              <p:nvPr/>
            </p:nvSpPr>
            <p:spPr>
              <a:xfrm>
                <a:off x="3105455" y="5816203"/>
                <a:ext cx="1639311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높은 중심성 (High Centrality)</a:t>
                </a:r>
                <a:endParaRPr lang="en-US" sz="9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117E8E0-E98A-728A-0BE7-D41940545195}"/>
                </a:ext>
              </a:extLst>
            </p:cNvPr>
            <p:cNvGrpSpPr/>
            <p:nvPr/>
          </p:nvGrpSpPr>
          <p:grpSpPr>
            <a:xfrm>
              <a:off x="761695" y="5997171"/>
              <a:ext cx="1989735" cy="191110"/>
              <a:chOff x="3203962" y="5997171"/>
              <a:chExt cx="1989735" cy="191110"/>
            </a:xfrm>
          </p:grpSpPr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B2EF50DD-4E14-C700-06F7-0DC6EDDB836A}"/>
                  </a:ext>
                </a:extLst>
              </p:cNvPr>
              <p:cNvSpPr txBox="1"/>
              <p:nvPr/>
            </p:nvSpPr>
            <p:spPr>
              <a:xfrm>
                <a:off x="3375869" y="5997171"/>
                <a:ext cx="18178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중간 중심성 (Medium Centrality)</a:t>
                </a:r>
                <a:endParaRPr lang="en-US" sz="900" dirty="0"/>
              </a:p>
            </p:txBody>
          </p:sp>
          <p:sp>
            <p:nvSpPr>
              <p:cNvPr id="18" name="Shape 8">
                <a:extLst>
                  <a:ext uri="{FF2B5EF4-FFF2-40B4-BE49-F238E27FC236}">
                    <a16:creationId xmlns:a16="http://schemas.microsoft.com/office/drawing/2014/main" id="{BFD77E97-ECBF-2317-F42F-51051564BFAD}"/>
                  </a:ext>
                </a:extLst>
              </p:cNvPr>
              <p:cNvSpPr/>
              <p:nvPr/>
            </p:nvSpPr>
            <p:spPr>
              <a:xfrm>
                <a:off x="3203962" y="6040155"/>
                <a:ext cx="114300" cy="114300"/>
              </a:xfrm>
              <a:prstGeom prst="ellipse">
                <a:avLst/>
              </a:prstGeom>
              <a:solidFill>
                <a:srgbClr val="FF9800"/>
              </a:solidFill>
              <a:ln/>
            </p:spPr>
            <p:txBody>
              <a:bodyPr/>
              <a:lstStyle/>
              <a:p>
                <a:endParaRPr lang="ko-KR" altLang="en-US" sz="1600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067BB7F-408A-7309-6A71-52638BC8443F}"/>
                </a:ext>
              </a:extLst>
            </p:cNvPr>
            <p:cNvGrpSpPr/>
            <p:nvPr/>
          </p:nvGrpSpPr>
          <p:grpSpPr>
            <a:xfrm>
              <a:off x="757830" y="6191376"/>
              <a:ext cx="1811538" cy="191110"/>
              <a:chOff x="3077110" y="6191376"/>
              <a:chExt cx="1811538" cy="191110"/>
            </a:xfrm>
          </p:grpSpPr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ECF28357-2A46-5A3A-8F5F-5C67D53F37AF}"/>
                  </a:ext>
                </a:extLst>
              </p:cNvPr>
              <p:cNvSpPr txBox="1"/>
              <p:nvPr/>
            </p:nvSpPr>
            <p:spPr>
              <a:xfrm>
                <a:off x="3252882" y="6191376"/>
                <a:ext cx="163576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낮은 중심성 (Low Centrality)</a:t>
                </a:r>
                <a:endParaRPr lang="en-US" sz="900" dirty="0"/>
              </a:p>
            </p:txBody>
          </p:sp>
          <p:sp>
            <p:nvSpPr>
              <p:cNvPr id="15" name="Shape 9">
                <a:extLst>
                  <a:ext uri="{FF2B5EF4-FFF2-40B4-BE49-F238E27FC236}">
                    <a16:creationId xmlns:a16="http://schemas.microsoft.com/office/drawing/2014/main" id="{C6F3E80C-CC17-B42D-6ADA-0AE66B8369F1}"/>
                  </a:ext>
                </a:extLst>
              </p:cNvPr>
              <p:cNvSpPr/>
              <p:nvPr/>
            </p:nvSpPr>
            <p:spPr>
              <a:xfrm>
                <a:off x="3077110" y="6234351"/>
                <a:ext cx="114300" cy="114300"/>
              </a:xfrm>
              <a:prstGeom prst="ellipse">
                <a:avLst/>
              </a:prstGeom>
              <a:solidFill>
                <a:srgbClr val="FFD600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7200E7-094D-0BA4-D078-24CFECF26404}"/>
              </a:ext>
            </a:extLst>
          </p:cNvPr>
          <p:cNvGrpSpPr/>
          <p:nvPr/>
        </p:nvGrpSpPr>
        <p:grpSpPr>
          <a:xfrm>
            <a:off x="59433" y="1208933"/>
            <a:ext cx="12069557" cy="4077215"/>
            <a:chOff x="118865" y="1390392"/>
            <a:chExt cx="12069557" cy="407721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D0FF64F-C396-5568-0B5B-B3C0E569B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823"/>
            <a:stretch>
              <a:fillRect/>
            </a:stretch>
          </p:blipFill>
          <p:spPr>
            <a:xfrm>
              <a:off x="118865" y="1390393"/>
              <a:ext cx="6202472" cy="4077214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DA4931C-0A79-18C5-8848-11EDB505D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788" r="36066" b="1035"/>
            <a:stretch>
              <a:fillRect/>
            </a:stretch>
          </p:blipFill>
          <p:spPr>
            <a:xfrm>
              <a:off x="8222956" y="1390393"/>
              <a:ext cx="3965466" cy="4077214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97E71E94-43AD-0AF9-E216-3913B8F9B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5767" t="49788" r="2457" b="25814"/>
            <a:stretch>
              <a:fillRect/>
            </a:stretch>
          </p:blipFill>
          <p:spPr>
            <a:xfrm>
              <a:off x="6358915" y="1390392"/>
              <a:ext cx="1970892" cy="20227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366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9FFD-47DF-4B9D-FBF7-0345E74C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761D6F6-F24B-25EF-BE15-23EE413C418C}"/>
              </a:ext>
            </a:extLst>
          </p:cNvPr>
          <p:cNvGrpSpPr/>
          <p:nvPr/>
        </p:nvGrpSpPr>
        <p:grpSpPr>
          <a:xfrm>
            <a:off x="59433" y="1208933"/>
            <a:ext cx="12069557" cy="4077215"/>
            <a:chOff x="118865" y="1390392"/>
            <a:chExt cx="12069557" cy="407721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C92FD6F-E76D-FD9D-D9C5-37450E17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823"/>
            <a:stretch>
              <a:fillRect/>
            </a:stretch>
          </p:blipFill>
          <p:spPr>
            <a:xfrm>
              <a:off x="118865" y="1390393"/>
              <a:ext cx="6202472" cy="407721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95B02C7-B69E-DE36-0DED-2E93D4D40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788" r="36066" b="1035"/>
            <a:stretch>
              <a:fillRect/>
            </a:stretch>
          </p:blipFill>
          <p:spPr>
            <a:xfrm>
              <a:off x="8222956" y="1390393"/>
              <a:ext cx="3965466" cy="407721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71E564D-42F7-EECD-891E-74345C358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5767" t="49788" r="2457" b="25814"/>
            <a:stretch>
              <a:fillRect/>
            </a:stretch>
          </p:blipFill>
          <p:spPr>
            <a:xfrm>
              <a:off x="6358915" y="1390392"/>
              <a:ext cx="1970892" cy="2022780"/>
            </a:xfrm>
            <a:prstGeom prst="rect">
              <a:avLst/>
            </a:prstGeom>
          </p:spPr>
        </p:pic>
      </p:grpSp>
      <p:sp>
        <p:nvSpPr>
          <p:cNvPr id="6" name="Text 3">
            <a:extLst>
              <a:ext uri="{FF2B5EF4-FFF2-40B4-BE49-F238E27FC236}">
                <a16:creationId xmlns:a16="http://schemas.microsoft.com/office/drawing/2014/main" id="{CC1FB7D2-169A-B776-9F6D-81641177B58B}"/>
              </a:ext>
            </a:extLst>
          </p:cNvPr>
          <p:cNvSpPr txBox="1"/>
          <p:nvPr/>
        </p:nvSpPr>
        <p:spPr>
          <a:xfrm>
            <a:off x="118865" y="5435465"/>
            <a:ext cx="5977135" cy="1344285"/>
          </a:xfrm>
          <a:prstGeom prst="rect">
            <a:avLst/>
          </a:prstGeom>
          <a:solidFill>
            <a:srgbClr val="0070C0">
              <a:alpha val="5000"/>
            </a:srgbClr>
          </a:solidFill>
          <a:ln/>
        </p:spPr>
        <p:txBody>
          <a:bodyPr wrap="square" lIns="46800" tIns="46800" rIns="46800" bIns="468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그룹의 주요 허브</a:t>
            </a:r>
            <a:endParaRPr lang="en-US" altLang="ko-KR" sz="1300" b="1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(Fried Foods): 4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(Processed Foods): 3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 음료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(SSB): 3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고지방 육류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(High Fat Meat): 2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채소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(Vegetables): 1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14F702-3F55-8884-D5F0-7EC319F9F1E6}"/>
              </a:ext>
            </a:extLst>
          </p:cNvPr>
          <p:cNvSpPr txBox="1"/>
          <p:nvPr/>
        </p:nvSpPr>
        <p:spPr>
          <a:xfrm>
            <a:off x="118865" y="751839"/>
            <a:ext cx="767232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전체 네트워크 특성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노드 </a:t>
            </a:r>
            <a:r>
              <a:rPr lang="en-US" altLang="ko-KR" sz="1600" b="1" dirty="0"/>
              <a:t>12</a:t>
            </a:r>
            <a:r>
              <a:rPr lang="ko-KR" altLang="en-US" sz="1600" b="1" dirty="0"/>
              <a:t>개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식품군</a:t>
            </a:r>
            <a:r>
              <a:rPr lang="en-US" altLang="ko-KR" sz="1600" b="1" dirty="0"/>
              <a:t>) + </a:t>
            </a:r>
            <a:r>
              <a:rPr lang="ko-KR" altLang="en-US" sz="1600" b="1" dirty="0" err="1"/>
              <a:t>엣지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10-18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네트워크 밀도 </a:t>
            </a:r>
            <a:r>
              <a:rPr lang="en-US" altLang="ko-KR" sz="1600" b="1" dirty="0"/>
              <a:t>0.152-0.273</a:t>
            </a:r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059A125D-2321-AD6C-1828-46C5AD2ACE4D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E370EF9-5848-61DE-B306-45D3904F2900}"/>
              </a:ext>
            </a:extLst>
          </p:cNvPr>
          <p:cNvSpPr txBox="1"/>
          <p:nvPr/>
        </p:nvSpPr>
        <p:spPr>
          <a:xfrm>
            <a:off x="118865" y="128093"/>
            <a:ext cx="852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Network Construction &amp; Hub Identification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B34BA18-7E28-D54C-EB20-461C64F57806}"/>
              </a:ext>
            </a:extLst>
          </p:cNvPr>
          <p:cNvGrpSpPr/>
          <p:nvPr/>
        </p:nvGrpSpPr>
        <p:grpSpPr>
          <a:xfrm>
            <a:off x="10092177" y="37583"/>
            <a:ext cx="1886524" cy="535870"/>
            <a:chOff x="757830" y="5816203"/>
            <a:chExt cx="1993600" cy="56628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50A13F3-601F-A9D1-9B98-DA9546C81F35}"/>
                </a:ext>
              </a:extLst>
            </p:cNvPr>
            <p:cNvGrpSpPr/>
            <p:nvPr/>
          </p:nvGrpSpPr>
          <p:grpSpPr>
            <a:xfrm>
              <a:off x="761695" y="5816203"/>
              <a:ext cx="1811218" cy="191110"/>
              <a:chOff x="2933548" y="5816203"/>
              <a:chExt cx="1811218" cy="191110"/>
            </a:xfrm>
          </p:grpSpPr>
          <p:sp>
            <p:nvSpPr>
              <p:cNvPr id="19" name="Shape 4">
                <a:extLst>
                  <a:ext uri="{FF2B5EF4-FFF2-40B4-BE49-F238E27FC236}">
                    <a16:creationId xmlns:a16="http://schemas.microsoft.com/office/drawing/2014/main" id="{C307EA7C-E7A3-F3C3-2234-F2F68ED630F0}"/>
                  </a:ext>
                </a:extLst>
              </p:cNvPr>
              <p:cNvSpPr/>
              <p:nvPr/>
            </p:nvSpPr>
            <p:spPr>
              <a:xfrm>
                <a:off x="2933548" y="5859177"/>
                <a:ext cx="114300" cy="114300"/>
              </a:xfrm>
              <a:prstGeom prst="ellipse">
                <a:avLst/>
              </a:prstGeom>
              <a:solidFill>
                <a:srgbClr val="FF5252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24" name="Text 5">
                <a:extLst>
                  <a:ext uri="{FF2B5EF4-FFF2-40B4-BE49-F238E27FC236}">
                    <a16:creationId xmlns:a16="http://schemas.microsoft.com/office/drawing/2014/main" id="{DB7E63AB-F620-3684-B873-5EB925FEF900}"/>
                  </a:ext>
                </a:extLst>
              </p:cNvPr>
              <p:cNvSpPr txBox="1"/>
              <p:nvPr/>
            </p:nvSpPr>
            <p:spPr>
              <a:xfrm>
                <a:off x="3105455" y="5816203"/>
                <a:ext cx="1639311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높은 중심성 (High Centrality)</a:t>
                </a:r>
                <a:endParaRPr lang="en-US" sz="9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E8C9D7D-0370-AF0B-8F2A-489FEBC45471}"/>
                </a:ext>
              </a:extLst>
            </p:cNvPr>
            <p:cNvGrpSpPr/>
            <p:nvPr/>
          </p:nvGrpSpPr>
          <p:grpSpPr>
            <a:xfrm>
              <a:off x="761695" y="5997171"/>
              <a:ext cx="1989735" cy="191110"/>
              <a:chOff x="3203962" y="5997171"/>
              <a:chExt cx="1989735" cy="191110"/>
            </a:xfrm>
          </p:grpSpPr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1958F961-F8E7-3A8E-5677-9B38811C6A83}"/>
                  </a:ext>
                </a:extLst>
              </p:cNvPr>
              <p:cNvSpPr txBox="1"/>
              <p:nvPr/>
            </p:nvSpPr>
            <p:spPr>
              <a:xfrm>
                <a:off x="3375869" y="5997171"/>
                <a:ext cx="18178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중간 중심성 (Medium Centrality)</a:t>
                </a:r>
                <a:endParaRPr lang="en-US" sz="900" dirty="0"/>
              </a:p>
            </p:txBody>
          </p:sp>
          <p:sp>
            <p:nvSpPr>
              <p:cNvPr id="18" name="Shape 8">
                <a:extLst>
                  <a:ext uri="{FF2B5EF4-FFF2-40B4-BE49-F238E27FC236}">
                    <a16:creationId xmlns:a16="http://schemas.microsoft.com/office/drawing/2014/main" id="{141C5B2E-A84C-C0BC-8633-DD7E4EB00F26}"/>
                  </a:ext>
                </a:extLst>
              </p:cNvPr>
              <p:cNvSpPr/>
              <p:nvPr/>
            </p:nvSpPr>
            <p:spPr>
              <a:xfrm>
                <a:off x="3203962" y="6040155"/>
                <a:ext cx="114300" cy="114300"/>
              </a:xfrm>
              <a:prstGeom prst="ellipse">
                <a:avLst/>
              </a:prstGeom>
              <a:solidFill>
                <a:srgbClr val="FF9800"/>
              </a:solidFill>
              <a:ln/>
            </p:spPr>
            <p:txBody>
              <a:bodyPr/>
              <a:lstStyle/>
              <a:p>
                <a:endParaRPr lang="ko-KR" altLang="en-US" sz="1600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6C435AB-FE04-1E72-C725-2FFCC28261F7}"/>
                </a:ext>
              </a:extLst>
            </p:cNvPr>
            <p:cNvGrpSpPr/>
            <p:nvPr/>
          </p:nvGrpSpPr>
          <p:grpSpPr>
            <a:xfrm>
              <a:off x="757830" y="6191376"/>
              <a:ext cx="1811538" cy="191110"/>
              <a:chOff x="3077110" y="6191376"/>
              <a:chExt cx="1811538" cy="191110"/>
            </a:xfrm>
          </p:grpSpPr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1ADEBE63-F4E1-A113-E9E6-534420795799}"/>
                  </a:ext>
                </a:extLst>
              </p:cNvPr>
              <p:cNvSpPr txBox="1"/>
              <p:nvPr/>
            </p:nvSpPr>
            <p:spPr>
              <a:xfrm>
                <a:off x="3252882" y="6191376"/>
                <a:ext cx="163576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낮은 중심성 (Low Centrality)</a:t>
                </a:r>
                <a:endParaRPr lang="en-US" sz="900" dirty="0"/>
              </a:p>
            </p:txBody>
          </p:sp>
          <p:sp>
            <p:nvSpPr>
              <p:cNvPr id="15" name="Shape 9">
                <a:extLst>
                  <a:ext uri="{FF2B5EF4-FFF2-40B4-BE49-F238E27FC236}">
                    <a16:creationId xmlns:a16="http://schemas.microsoft.com/office/drawing/2014/main" id="{E557B61F-9664-E833-AF49-C0E939108BC6}"/>
                  </a:ext>
                </a:extLst>
              </p:cNvPr>
              <p:cNvSpPr/>
              <p:nvPr/>
            </p:nvSpPr>
            <p:spPr>
              <a:xfrm>
                <a:off x="3077110" y="6234351"/>
                <a:ext cx="114300" cy="114300"/>
              </a:xfrm>
              <a:prstGeom prst="ellipse">
                <a:avLst/>
              </a:prstGeom>
              <a:solidFill>
                <a:srgbClr val="FFD600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C4C9679F-4DF8-18F9-E6F6-EC5CB71B9563}"/>
              </a:ext>
            </a:extLst>
          </p:cNvPr>
          <p:cNvSpPr txBox="1"/>
          <p:nvPr/>
        </p:nvSpPr>
        <p:spPr>
          <a:xfrm>
            <a:off x="6096000" y="5435465"/>
            <a:ext cx="5977135" cy="1344285"/>
          </a:xfrm>
          <a:prstGeom prst="rect">
            <a:avLst/>
          </a:prstGeom>
          <a:solidFill>
            <a:srgbClr val="FF0000">
              <a:alpha val="4782"/>
            </a:srgbClr>
          </a:solidFill>
          <a:ln/>
        </p:spPr>
        <p:txBody>
          <a:bodyPr wrap="square" lIns="46800" tIns="46800" rIns="46800" bIns="468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b="1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그룹의 주요 허브</a:t>
            </a:r>
            <a:endParaRPr lang="en-US" altLang="ko-KR" sz="1300" b="1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(Fried Foods): 4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(Processed Foods): 3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 음료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(SSB): 3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고지방 육류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(High Fat Meat): 2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채소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(Vegetables): 1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그룹에서 허브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B01618-7271-14D0-EF60-E59C6BA37703}"/>
              </a:ext>
            </a:extLst>
          </p:cNvPr>
          <p:cNvSpPr/>
          <p:nvPr/>
        </p:nvSpPr>
        <p:spPr>
          <a:xfrm>
            <a:off x="118865" y="1171356"/>
            <a:ext cx="11859836" cy="203860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2799E1-B766-915C-0254-390AA3D9F5F7}"/>
              </a:ext>
            </a:extLst>
          </p:cNvPr>
          <p:cNvSpPr/>
          <p:nvPr/>
        </p:nvSpPr>
        <p:spPr>
          <a:xfrm>
            <a:off x="118865" y="3241450"/>
            <a:ext cx="11859836" cy="20386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010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BF90-4709-73B1-2D69-F9FECBDA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570F53D-5522-5A6C-4394-86E5BB4802F6}"/>
              </a:ext>
            </a:extLst>
          </p:cNvPr>
          <p:cNvGrpSpPr/>
          <p:nvPr/>
        </p:nvGrpSpPr>
        <p:grpSpPr>
          <a:xfrm>
            <a:off x="59433" y="1208933"/>
            <a:ext cx="12069557" cy="4077215"/>
            <a:chOff x="118865" y="1390392"/>
            <a:chExt cx="12069557" cy="4077215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08342DA2-2A6E-D229-99F5-E6895D49D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823"/>
            <a:stretch>
              <a:fillRect/>
            </a:stretch>
          </p:blipFill>
          <p:spPr>
            <a:xfrm>
              <a:off x="118865" y="1390393"/>
              <a:ext cx="6202472" cy="4077214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1C460E6-E381-2570-F8D5-D3FE64DE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788" r="36066" b="1035"/>
            <a:stretch>
              <a:fillRect/>
            </a:stretch>
          </p:blipFill>
          <p:spPr>
            <a:xfrm>
              <a:off x="8222956" y="1390393"/>
              <a:ext cx="3965466" cy="4077214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06431F37-A892-FAE6-325C-54BA12863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5767" t="49788" r="2457" b="25814"/>
            <a:stretch>
              <a:fillRect/>
            </a:stretch>
          </p:blipFill>
          <p:spPr>
            <a:xfrm>
              <a:off x="6358915" y="1390392"/>
              <a:ext cx="1970892" cy="202278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DB72030-2794-B61A-E88D-9F8C38E3765E}"/>
              </a:ext>
            </a:extLst>
          </p:cNvPr>
          <p:cNvSpPr txBox="1"/>
          <p:nvPr/>
        </p:nvSpPr>
        <p:spPr>
          <a:xfrm>
            <a:off x="118865" y="751839"/>
            <a:ext cx="767232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전체 네트워크 특성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노드 </a:t>
            </a:r>
            <a:r>
              <a:rPr lang="en-US" altLang="ko-KR" sz="1600" b="1" dirty="0"/>
              <a:t>12</a:t>
            </a:r>
            <a:r>
              <a:rPr lang="ko-KR" altLang="en-US" sz="1600" b="1" dirty="0"/>
              <a:t>개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식품군</a:t>
            </a:r>
            <a:r>
              <a:rPr lang="en-US" altLang="ko-KR" sz="1600" b="1" dirty="0"/>
              <a:t>) + </a:t>
            </a:r>
            <a:r>
              <a:rPr lang="ko-KR" altLang="en-US" sz="1600" b="1" dirty="0" err="1"/>
              <a:t>엣지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10-18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네트워크 밀도 </a:t>
            </a:r>
            <a:r>
              <a:rPr lang="en-US" altLang="ko-KR" sz="1600" b="1" dirty="0"/>
              <a:t>0.152-0.273</a:t>
            </a:r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D6271841-9456-36DE-79E5-932F4B73764E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6A3E981-DF24-9982-6A30-E87BE3CAE0DF}"/>
              </a:ext>
            </a:extLst>
          </p:cNvPr>
          <p:cNvSpPr txBox="1"/>
          <p:nvPr/>
        </p:nvSpPr>
        <p:spPr>
          <a:xfrm>
            <a:off x="118865" y="128093"/>
            <a:ext cx="852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Network Construction &amp; Hub Identification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1556943-FD7B-1005-8DB9-07695605BD8D}"/>
              </a:ext>
            </a:extLst>
          </p:cNvPr>
          <p:cNvGrpSpPr/>
          <p:nvPr/>
        </p:nvGrpSpPr>
        <p:grpSpPr>
          <a:xfrm>
            <a:off x="10092177" y="37583"/>
            <a:ext cx="1886524" cy="535870"/>
            <a:chOff x="757830" y="5816203"/>
            <a:chExt cx="1993600" cy="56628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14793C6-0C0D-AA57-F95B-FF8E9C453422}"/>
                </a:ext>
              </a:extLst>
            </p:cNvPr>
            <p:cNvGrpSpPr/>
            <p:nvPr/>
          </p:nvGrpSpPr>
          <p:grpSpPr>
            <a:xfrm>
              <a:off x="761695" y="5816203"/>
              <a:ext cx="1811218" cy="191110"/>
              <a:chOff x="2933548" y="5816203"/>
              <a:chExt cx="1811218" cy="191110"/>
            </a:xfrm>
          </p:grpSpPr>
          <p:sp>
            <p:nvSpPr>
              <p:cNvPr id="19" name="Shape 4">
                <a:extLst>
                  <a:ext uri="{FF2B5EF4-FFF2-40B4-BE49-F238E27FC236}">
                    <a16:creationId xmlns:a16="http://schemas.microsoft.com/office/drawing/2014/main" id="{2D0CF688-D0BD-ECDC-FAA9-5E817B5B20C0}"/>
                  </a:ext>
                </a:extLst>
              </p:cNvPr>
              <p:cNvSpPr/>
              <p:nvPr/>
            </p:nvSpPr>
            <p:spPr>
              <a:xfrm>
                <a:off x="2933548" y="5859177"/>
                <a:ext cx="114300" cy="114300"/>
              </a:xfrm>
              <a:prstGeom prst="ellipse">
                <a:avLst/>
              </a:prstGeom>
              <a:solidFill>
                <a:srgbClr val="FF5252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24" name="Text 5">
                <a:extLst>
                  <a:ext uri="{FF2B5EF4-FFF2-40B4-BE49-F238E27FC236}">
                    <a16:creationId xmlns:a16="http://schemas.microsoft.com/office/drawing/2014/main" id="{68493424-C576-BF92-6E14-4219C40BD9DE}"/>
                  </a:ext>
                </a:extLst>
              </p:cNvPr>
              <p:cNvSpPr txBox="1"/>
              <p:nvPr/>
            </p:nvSpPr>
            <p:spPr>
              <a:xfrm>
                <a:off x="3105455" y="5816203"/>
                <a:ext cx="1639311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높은 중심성 (High Centrality)</a:t>
                </a:r>
                <a:endParaRPr lang="en-US" sz="9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78EC408-7F3B-3012-F647-2F7129DD9A45}"/>
                </a:ext>
              </a:extLst>
            </p:cNvPr>
            <p:cNvGrpSpPr/>
            <p:nvPr/>
          </p:nvGrpSpPr>
          <p:grpSpPr>
            <a:xfrm>
              <a:off x="761695" y="5997171"/>
              <a:ext cx="1989735" cy="191110"/>
              <a:chOff x="3203962" y="5997171"/>
              <a:chExt cx="1989735" cy="191110"/>
            </a:xfrm>
          </p:grpSpPr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6A8A6974-861D-2FC3-BD24-DEE4945D209F}"/>
                  </a:ext>
                </a:extLst>
              </p:cNvPr>
              <p:cNvSpPr txBox="1"/>
              <p:nvPr/>
            </p:nvSpPr>
            <p:spPr>
              <a:xfrm>
                <a:off x="3375869" y="5997171"/>
                <a:ext cx="18178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중간 중심성 (Medium Centrality)</a:t>
                </a:r>
                <a:endParaRPr lang="en-US" sz="900" dirty="0"/>
              </a:p>
            </p:txBody>
          </p:sp>
          <p:sp>
            <p:nvSpPr>
              <p:cNvPr id="18" name="Shape 8">
                <a:extLst>
                  <a:ext uri="{FF2B5EF4-FFF2-40B4-BE49-F238E27FC236}">
                    <a16:creationId xmlns:a16="http://schemas.microsoft.com/office/drawing/2014/main" id="{DA2B860C-5EA1-7755-DC03-A53F9A8D7A9C}"/>
                  </a:ext>
                </a:extLst>
              </p:cNvPr>
              <p:cNvSpPr/>
              <p:nvPr/>
            </p:nvSpPr>
            <p:spPr>
              <a:xfrm>
                <a:off x="3203962" y="6040155"/>
                <a:ext cx="114300" cy="114300"/>
              </a:xfrm>
              <a:prstGeom prst="ellipse">
                <a:avLst/>
              </a:prstGeom>
              <a:solidFill>
                <a:srgbClr val="FF9800"/>
              </a:solidFill>
              <a:ln/>
            </p:spPr>
            <p:txBody>
              <a:bodyPr/>
              <a:lstStyle/>
              <a:p>
                <a:endParaRPr lang="ko-KR" altLang="en-US" sz="1600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4A5E789-1A03-4506-4A4E-AA8B0900301B}"/>
                </a:ext>
              </a:extLst>
            </p:cNvPr>
            <p:cNvGrpSpPr/>
            <p:nvPr/>
          </p:nvGrpSpPr>
          <p:grpSpPr>
            <a:xfrm>
              <a:off x="757830" y="6191376"/>
              <a:ext cx="1811538" cy="191110"/>
              <a:chOff x="3077110" y="6191376"/>
              <a:chExt cx="1811538" cy="191110"/>
            </a:xfrm>
          </p:grpSpPr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7DCB8C12-C28B-A445-2DAE-D744028B1DE5}"/>
                  </a:ext>
                </a:extLst>
              </p:cNvPr>
              <p:cNvSpPr txBox="1"/>
              <p:nvPr/>
            </p:nvSpPr>
            <p:spPr>
              <a:xfrm>
                <a:off x="3252882" y="6191376"/>
                <a:ext cx="163576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낮은 중심성 (Low Centrality)</a:t>
                </a:r>
                <a:endParaRPr lang="en-US" sz="900" dirty="0"/>
              </a:p>
            </p:txBody>
          </p:sp>
          <p:sp>
            <p:nvSpPr>
              <p:cNvPr id="15" name="Shape 9">
                <a:extLst>
                  <a:ext uri="{FF2B5EF4-FFF2-40B4-BE49-F238E27FC236}">
                    <a16:creationId xmlns:a16="http://schemas.microsoft.com/office/drawing/2014/main" id="{A66ABBE8-1D35-64F9-EABA-A1F39FF8DE22}"/>
                  </a:ext>
                </a:extLst>
              </p:cNvPr>
              <p:cNvSpPr/>
              <p:nvPr/>
            </p:nvSpPr>
            <p:spPr>
              <a:xfrm>
                <a:off x="3077110" y="6234351"/>
                <a:ext cx="114300" cy="114300"/>
              </a:xfrm>
              <a:prstGeom prst="ellipse">
                <a:avLst/>
              </a:prstGeom>
              <a:solidFill>
                <a:srgbClr val="FFD600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F6ED2F-C6FB-1261-E583-CFB6548DEF53}"/>
              </a:ext>
            </a:extLst>
          </p:cNvPr>
          <p:cNvSpPr/>
          <p:nvPr/>
        </p:nvSpPr>
        <p:spPr>
          <a:xfrm>
            <a:off x="118865" y="1171356"/>
            <a:ext cx="5868576" cy="411479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C8DB67-AD61-5093-92BD-73E3F371E227}"/>
              </a:ext>
            </a:extLst>
          </p:cNvPr>
          <p:cNvSpPr/>
          <p:nvPr/>
        </p:nvSpPr>
        <p:spPr>
          <a:xfrm>
            <a:off x="6025019" y="1171356"/>
            <a:ext cx="5953682" cy="4114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ECEFD5-561D-28DD-0011-E17F12820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953250"/>
              </p:ext>
            </p:extLst>
          </p:nvPr>
        </p:nvGraphicFramePr>
        <p:xfrm>
          <a:off x="175722" y="1200462"/>
          <a:ext cx="5786667" cy="403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245">
                  <a:extLst>
                    <a:ext uri="{9D8B030D-6E8A-4147-A177-3AD203B41FA5}">
                      <a16:colId xmlns:a16="http://schemas.microsoft.com/office/drawing/2014/main" val="189640630"/>
                    </a:ext>
                  </a:extLst>
                </a:gridCol>
                <a:gridCol w="2267211">
                  <a:extLst>
                    <a:ext uri="{9D8B030D-6E8A-4147-A177-3AD203B41FA5}">
                      <a16:colId xmlns:a16="http://schemas.microsoft.com/office/drawing/2014/main" val="2851390519"/>
                    </a:ext>
                  </a:extLst>
                </a:gridCol>
                <a:gridCol w="2267211">
                  <a:extLst>
                    <a:ext uri="{9D8B030D-6E8A-4147-A177-3AD203B41FA5}">
                      <a16:colId xmlns:a16="http://schemas.microsoft.com/office/drawing/2014/main" val="3157017079"/>
                    </a:ext>
                  </a:extLst>
                </a:gridCol>
              </a:tblGrid>
              <a:tr h="578234"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 err="1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(-)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 err="1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(+)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46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청년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(20-39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튀김식품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고지방 육류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당류 음료 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서구화 식이 패턴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곡물제품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튀김식품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곡물제품이 유일하게 </a:t>
                      </a:r>
                      <a:b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</a:b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허브로 등장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3581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중년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(40-59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튀김식품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 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300" b="0" kern="1200" dirty="0" err="1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불건강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식품 중심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튀김식품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단백질식품 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--&gt;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3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개 허브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가장 복잡한 구조</a:t>
                      </a:r>
                      <a:endParaRPr lang="ko-KR" altLang="en-US" sz="1300" b="0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569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장년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(60-79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고지방 육류 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상대적으로 단순한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당류 음료 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32480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4C3D046-0275-CAD5-737E-99D91B268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022501"/>
              </p:ext>
            </p:extLst>
          </p:nvPr>
        </p:nvGraphicFramePr>
        <p:xfrm>
          <a:off x="6039501" y="1200462"/>
          <a:ext cx="5786667" cy="403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245">
                  <a:extLst>
                    <a:ext uri="{9D8B030D-6E8A-4147-A177-3AD203B41FA5}">
                      <a16:colId xmlns:a16="http://schemas.microsoft.com/office/drawing/2014/main" val="189640630"/>
                    </a:ext>
                  </a:extLst>
                </a:gridCol>
                <a:gridCol w="2267211">
                  <a:extLst>
                    <a:ext uri="{9D8B030D-6E8A-4147-A177-3AD203B41FA5}">
                      <a16:colId xmlns:a16="http://schemas.microsoft.com/office/drawing/2014/main" val="2851390519"/>
                    </a:ext>
                  </a:extLst>
                </a:gridCol>
                <a:gridCol w="2267211">
                  <a:extLst>
                    <a:ext uri="{9D8B030D-6E8A-4147-A177-3AD203B41FA5}">
                      <a16:colId xmlns:a16="http://schemas.microsoft.com/office/drawing/2014/main" val="3157017079"/>
                    </a:ext>
                  </a:extLst>
                </a:gridCol>
              </a:tblGrid>
              <a:tr h="578234"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 err="1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(-)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 err="1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(+)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8588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246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청년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(20-39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8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-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-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3581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중년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(40-59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8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당류 음료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음료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튀김식품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단백질식품 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남성 중년과 유사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569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장년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(60-79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세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DAD8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당류 음료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b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</a:b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중년과 유사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가공식품</a:t>
                      </a:r>
                      <a:r>
                        <a:rPr lang="en-US" altLang="ko-KR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, </a:t>
                      </a:r>
                      <a:r>
                        <a:rPr lang="ko-KR" altLang="en-US" sz="1300" b="1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고지방 육류</a:t>
                      </a:r>
                      <a:endParaRPr lang="en-US" altLang="ko-KR" sz="1300" b="1" kern="1200" dirty="0">
                        <a:solidFill>
                          <a:srgbClr val="546E7A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300" b="0" kern="1200" dirty="0">
                          <a:solidFill>
                            <a:srgbClr val="546E7A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고지방 육류가 네트워크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32480"/>
                  </a:ext>
                </a:extLst>
              </a:tr>
            </a:tbl>
          </a:graphicData>
        </a:graphic>
      </p:graphicFrame>
      <p:sp>
        <p:nvSpPr>
          <p:cNvPr id="23" name="Text 3">
            <a:extLst>
              <a:ext uri="{FF2B5EF4-FFF2-40B4-BE49-F238E27FC236}">
                <a16:creationId xmlns:a16="http://schemas.microsoft.com/office/drawing/2014/main" id="{B84F45F4-9FDF-790E-7C42-583F811FD359}"/>
              </a:ext>
            </a:extLst>
          </p:cNvPr>
          <p:cNvSpPr txBox="1"/>
          <p:nvPr/>
        </p:nvSpPr>
        <p:spPr>
          <a:xfrm>
            <a:off x="261437" y="5435465"/>
            <a:ext cx="11669126" cy="1344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남성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 모든 연령대에서 빈번히 허브로 등장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 음료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</a:t>
            </a:r>
            <a:r>
              <a:rPr lang="ko-KR" altLang="en-US" sz="14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건강군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altLang="ko-KR" sz="14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-)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 특징적으로 높은 </a:t>
            </a:r>
            <a:r>
              <a:rPr lang="ko-KR" altLang="en-US" sz="14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중심성</a:t>
            </a:r>
            <a:endParaRPr lang="ko-KR" altLang="en-US" sz="14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(+)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에서는 </a:t>
            </a: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남녀 모두 가공식품</a:t>
            </a:r>
            <a:r>
              <a:rPr lang="en-US" altLang="ko-KR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</a:t>
            </a: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 조합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 공통적</a:t>
            </a:r>
          </a:p>
        </p:txBody>
      </p:sp>
    </p:spTree>
    <p:extLst>
      <p:ext uri="{BB962C8B-B14F-4D97-AF65-F5344CB8AC3E}">
        <p14:creationId xmlns:p14="http://schemas.microsoft.com/office/powerpoint/2010/main" val="212655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68EB0-6E4F-8E7F-5D52-2560FE9C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460025F3-1EB0-AA50-BD8D-659BF4C6005D}"/>
              </a:ext>
            </a:extLst>
          </p:cNvPr>
          <p:cNvGrpSpPr/>
          <p:nvPr/>
        </p:nvGrpSpPr>
        <p:grpSpPr>
          <a:xfrm>
            <a:off x="59433" y="1208933"/>
            <a:ext cx="12069557" cy="4077215"/>
            <a:chOff x="118865" y="1390392"/>
            <a:chExt cx="12069557" cy="407721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122524D-F673-8ED0-AD64-468CD5791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823"/>
            <a:stretch>
              <a:fillRect/>
            </a:stretch>
          </p:blipFill>
          <p:spPr>
            <a:xfrm>
              <a:off x="118865" y="1390393"/>
              <a:ext cx="6202472" cy="4077214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7947193-CD1C-21FE-AC1F-9796B740A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788" r="36066" b="1035"/>
            <a:stretch>
              <a:fillRect/>
            </a:stretch>
          </p:blipFill>
          <p:spPr>
            <a:xfrm>
              <a:off x="8222956" y="1390393"/>
              <a:ext cx="3965466" cy="4077214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EADE2891-2954-B8B6-9543-406343056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5767" t="49788" r="2457" b="25814"/>
            <a:stretch>
              <a:fillRect/>
            </a:stretch>
          </p:blipFill>
          <p:spPr>
            <a:xfrm>
              <a:off x="6358915" y="1390392"/>
              <a:ext cx="1970892" cy="202278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6F63E69-936C-1E10-3345-5B57F0FEBE8D}"/>
              </a:ext>
            </a:extLst>
          </p:cNvPr>
          <p:cNvSpPr txBox="1"/>
          <p:nvPr/>
        </p:nvSpPr>
        <p:spPr>
          <a:xfrm>
            <a:off x="118865" y="751839"/>
            <a:ext cx="767232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전체 네트워크 특성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노드 </a:t>
            </a:r>
            <a:r>
              <a:rPr lang="en-US" altLang="ko-KR" sz="1600" b="1" dirty="0"/>
              <a:t>12</a:t>
            </a:r>
            <a:r>
              <a:rPr lang="ko-KR" altLang="en-US" sz="1600" b="1" dirty="0"/>
              <a:t>개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식품군</a:t>
            </a:r>
            <a:r>
              <a:rPr lang="en-US" altLang="ko-KR" sz="1600" b="1" dirty="0"/>
              <a:t>) + </a:t>
            </a:r>
            <a:r>
              <a:rPr lang="ko-KR" altLang="en-US" sz="1600" b="1" dirty="0" err="1"/>
              <a:t>엣지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10-18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네트워크 밀도 </a:t>
            </a:r>
            <a:r>
              <a:rPr lang="en-US" altLang="ko-KR" sz="1600" b="1" dirty="0"/>
              <a:t>0.152-0.273</a:t>
            </a:r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9AEEA3C8-F043-A031-7916-A2D7CBE00C5A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4089AD1-DE4B-2465-93AC-0BFBF5298E0C}"/>
              </a:ext>
            </a:extLst>
          </p:cNvPr>
          <p:cNvSpPr txBox="1"/>
          <p:nvPr/>
        </p:nvSpPr>
        <p:spPr>
          <a:xfrm>
            <a:off x="118865" y="128093"/>
            <a:ext cx="852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Network Construction &amp; Hub Identification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1AD89F-C821-7709-85FC-702892022FA8}"/>
              </a:ext>
            </a:extLst>
          </p:cNvPr>
          <p:cNvGrpSpPr/>
          <p:nvPr/>
        </p:nvGrpSpPr>
        <p:grpSpPr>
          <a:xfrm>
            <a:off x="10092177" y="37583"/>
            <a:ext cx="1886524" cy="535870"/>
            <a:chOff x="757830" y="5816203"/>
            <a:chExt cx="1993600" cy="56628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8C51DA7-5781-2FC6-5CB9-0E03AF64B492}"/>
                </a:ext>
              </a:extLst>
            </p:cNvPr>
            <p:cNvGrpSpPr/>
            <p:nvPr/>
          </p:nvGrpSpPr>
          <p:grpSpPr>
            <a:xfrm>
              <a:off x="761695" y="5816203"/>
              <a:ext cx="1811218" cy="191110"/>
              <a:chOff x="2933548" y="5816203"/>
              <a:chExt cx="1811218" cy="191110"/>
            </a:xfrm>
          </p:grpSpPr>
          <p:sp>
            <p:nvSpPr>
              <p:cNvPr id="19" name="Shape 4">
                <a:extLst>
                  <a:ext uri="{FF2B5EF4-FFF2-40B4-BE49-F238E27FC236}">
                    <a16:creationId xmlns:a16="http://schemas.microsoft.com/office/drawing/2014/main" id="{BCF5B1F3-DF61-5D29-FAAF-49AB71B1460A}"/>
                  </a:ext>
                </a:extLst>
              </p:cNvPr>
              <p:cNvSpPr/>
              <p:nvPr/>
            </p:nvSpPr>
            <p:spPr>
              <a:xfrm>
                <a:off x="2933548" y="5859177"/>
                <a:ext cx="114300" cy="114300"/>
              </a:xfrm>
              <a:prstGeom prst="ellipse">
                <a:avLst/>
              </a:prstGeom>
              <a:solidFill>
                <a:srgbClr val="FF5252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24" name="Text 5">
                <a:extLst>
                  <a:ext uri="{FF2B5EF4-FFF2-40B4-BE49-F238E27FC236}">
                    <a16:creationId xmlns:a16="http://schemas.microsoft.com/office/drawing/2014/main" id="{580C38CA-54A6-1418-7D50-1694A6136ACF}"/>
                  </a:ext>
                </a:extLst>
              </p:cNvPr>
              <p:cNvSpPr txBox="1"/>
              <p:nvPr/>
            </p:nvSpPr>
            <p:spPr>
              <a:xfrm>
                <a:off x="3105455" y="5816203"/>
                <a:ext cx="1639311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높은 중심성 (High Centrality)</a:t>
                </a:r>
                <a:endParaRPr lang="en-US" sz="9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72CD09-F06F-0A72-2D08-EDBA59546812}"/>
                </a:ext>
              </a:extLst>
            </p:cNvPr>
            <p:cNvGrpSpPr/>
            <p:nvPr/>
          </p:nvGrpSpPr>
          <p:grpSpPr>
            <a:xfrm>
              <a:off x="761695" y="5997171"/>
              <a:ext cx="1989735" cy="191110"/>
              <a:chOff x="3203962" y="5997171"/>
              <a:chExt cx="1989735" cy="191110"/>
            </a:xfrm>
          </p:grpSpPr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B7C9947D-D490-928E-7E10-905231795BBB}"/>
                  </a:ext>
                </a:extLst>
              </p:cNvPr>
              <p:cNvSpPr txBox="1"/>
              <p:nvPr/>
            </p:nvSpPr>
            <p:spPr>
              <a:xfrm>
                <a:off x="3375869" y="5997171"/>
                <a:ext cx="18178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중간 중심성 (Medium Centrality)</a:t>
                </a:r>
                <a:endParaRPr lang="en-US" sz="900" dirty="0"/>
              </a:p>
            </p:txBody>
          </p:sp>
          <p:sp>
            <p:nvSpPr>
              <p:cNvPr id="18" name="Shape 8">
                <a:extLst>
                  <a:ext uri="{FF2B5EF4-FFF2-40B4-BE49-F238E27FC236}">
                    <a16:creationId xmlns:a16="http://schemas.microsoft.com/office/drawing/2014/main" id="{F37D73F3-FAC4-6A00-A545-2BC47BA2B923}"/>
                  </a:ext>
                </a:extLst>
              </p:cNvPr>
              <p:cNvSpPr/>
              <p:nvPr/>
            </p:nvSpPr>
            <p:spPr>
              <a:xfrm>
                <a:off x="3203962" y="6040155"/>
                <a:ext cx="114300" cy="114300"/>
              </a:xfrm>
              <a:prstGeom prst="ellipse">
                <a:avLst/>
              </a:prstGeom>
              <a:solidFill>
                <a:srgbClr val="FF9800"/>
              </a:solidFill>
              <a:ln/>
            </p:spPr>
            <p:txBody>
              <a:bodyPr/>
              <a:lstStyle/>
              <a:p>
                <a:endParaRPr lang="ko-KR" altLang="en-US" sz="1600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A36A6CB-9D41-3693-EE5D-F2C917082AC6}"/>
                </a:ext>
              </a:extLst>
            </p:cNvPr>
            <p:cNvGrpSpPr/>
            <p:nvPr/>
          </p:nvGrpSpPr>
          <p:grpSpPr>
            <a:xfrm>
              <a:off x="757830" y="6191376"/>
              <a:ext cx="1811538" cy="191110"/>
              <a:chOff x="3077110" y="6191376"/>
              <a:chExt cx="1811538" cy="191110"/>
            </a:xfrm>
          </p:grpSpPr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18C0E2DB-DF5D-3741-70B6-0EE8F9092671}"/>
                  </a:ext>
                </a:extLst>
              </p:cNvPr>
              <p:cNvSpPr txBox="1"/>
              <p:nvPr/>
            </p:nvSpPr>
            <p:spPr>
              <a:xfrm>
                <a:off x="3252882" y="6191376"/>
                <a:ext cx="163576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낮은 중심성 (Low Centrality)</a:t>
                </a:r>
                <a:endParaRPr lang="en-US" sz="900" dirty="0"/>
              </a:p>
            </p:txBody>
          </p:sp>
          <p:sp>
            <p:nvSpPr>
              <p:cNvPr id="15" name="Shape 9">
                <a:extLst>
                  <a:ext uri="{FF2B5EF4-FFF2-40B4-BE49-F238E27FC236}">
                    <a16:creationId xmlns:a16="http://schemas.microsoft.com/office/drawing/2014/main" id="{8A70EE4B-5585-E8EF-37AA-0CC5C05ECF93}"/>
                  </a:ext>
                </a:extLst>
              </p:cNvPr>
              <p:cNvSpPr/>
              <p:nvPr/>
            </p:nvSpPr>
            <p:spPr>
              <a:xfrm>
                <a:off x="3077110" y="6234351"/>
                <a:ext cx="114300" cy="114300"/>
              </a:xfrm>
              <a:prstGeom prst="ellipse">
                <a:avLst/>
              </a:prstGeom>
              <a:solidFill>
                <a:srgbClr val="FFD600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529D41-ECC0-E3FF-8298-5BA44F9EED81}"/>
              </a:ext>
            </a:extLst>
          </p:cNvPr>
          <p:cNvSpPr/>
          <p:nvPr/>
        </p:nvSpPr>
        <p:spPr>
          <a:xfrm>
            <a:off x="118865" y="1171356"/>
            <a:ext cx="1935403" cy="411479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24ECEF-53B5-C1F7-10A1-2F3CF1B13933}"/>
              </a:ext>
            </a:extLst>
          </p:cNvPr>
          <p:cNvSpPr/>
          <p:nvPr/>
        </p:nvSpPr>
        <p:spPr>
          <a:xfrm>
            <a:off x="2101697" y="1171356"/>
            <a:ext cx="1935403" cy="41147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8DDE40D5-40A9-20A3-3261-DE0D5F549794}"/>
              </a:ext>
            </a:extLst>
          </p:cNvPr>
          <p:cNvSpPr txBox="1"/>
          <p:nvPr/>
        </p:nvSpPr>
        <p:spPr>
          <a:xfrm>
            <a:off x="261437" y="5435465"/>
            <a:ext cx="11669126" cy="1344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청년층</a:t>
            </a:r>
            <a:r>
              <a:rPr lang="en-US" altLang="ko-KR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 음료가 네트워크 중심 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 </a:t>
            </a:r>
            <a:r>
              <a:rPr lang="ko-KR" altLang="en-US" sz="14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즉석식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패스트푸드 기반 구조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중년층</a:t>
            </a:r>
            <a:r>
              <a:rPr lang="en-US" altLang="ko-KR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튀김식품이 네트워크 중심 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가장 보편적 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남녀 공통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장년층</a:t>
            </a:r>
            <a:r>
              <a:rPr lang="en-US" altLang="ko-KR" sz="14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가공식품이 지속적으로 네트워크 중심</a:t>
            </a:r>
            <a:r>
              <a:rPr lang="en-US" altLang="ko-KR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고지방 육류도 허브로 등장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C56D3D-7FB4-6544-4DB7-29E839EED723}"/>
              </a:ext>
            </a:extLst>
          </p:cNvPr>
          <p:cNvSpPr/>
          <p:nvPr/>
        </p:nvSpPr>
        <p:spPr>
          <a:xfrm>
            <a:off x="4084528" y="1171356"/>
            <a:ext cx="1935403" cy="4114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BFAAC3-4F5E-EE99-6596-E8757843E0C8}"/>
              </a:ext>
            </a:extLst>
          </p:cNvPr>
          <p:cNvSpPr/>
          <p:nvPr/>
        </p:nvSpPr>
        <p:spPr>
          <a:xfrm>
            <a:off x="6261905" y="1171356"/>
            <a:ext cx="1935403" cy="411479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D8849B-BC37-1308-F80D-65E99FD444CB}"/>
              </a:ext>
            </a:extLst>
          </p:cNvPr>
          <p:cNvSpPr/>
          <p:nvPr/>
        </p:nvSpPr>
        <p:spPr>
          <a:xfrm>
            <a:off x="8244737" y="1171356"/>
            <a:ext cx="1935403" cy="41147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CA7033-5728-E832-6D59-2A19A1BD2ABF}"/>
              </a:ext>
            </a:extLst>
          </p:cNvPr>
          <p:cNvSpPr/>
          <p:nvPr/>
        </p:nvSpPr>
        <p:spPr>
          <a:xfrm>
            <a:off x="10227568" y="1171356"/>
            <a:ext cx="1935403" cy="4114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168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7693-9CAF-1255-CDE4-40FDC445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E3B29F1B-7F8A-E4F7-8003-82E07E3A89AB}"/>
              </a:ext>
            </a:extLst>
          </p:cNvPr>
          <p:cNvSpPr txBox="1"/>
          <p:nvPr/>
        </p:nvSpPr>
        <p:spPr>
          <a:xfrm>
            <a:off x="130424" y="5149294"/>
            <a:ext cx="11931146" cy="1580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커뮤니티 구조가 모든 그룹에서 일관되게 나타남 </a:t>
            </a: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Wingdings" pitchFamily="2" charset="2"/>
              </a:rPr>
              <a:t>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Wingdings" pitchFamily="2" charset="2"/>
              </a:rPr>
              <a:t> 건강한 식이 패턴과 불건강한 식이 패턴이 독립적으로 공존하고 있음</a:t>
            </a:r>
            <a:endParaRPr lang="en-US" altLang="ko-KR" sz="1300" b="1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800100" lvl="1" indent="-342900">
              <a:buAutoNum type="arabicPeriod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전통 한식 패턴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(Traditional Korean Diet Pattern)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채소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과일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곡물제품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단백질식품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유제품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800100" lvl="1" indent="-342900">
              <a:buAutoNum type="arabicPeriod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서구화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 패턴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(Western/Processed Food Pattern)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튀김식품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당류 음료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고지방 육류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단 음식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그룹에서 더 높은 내부 밀도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(0.6-0.9)</a:t>
            </a:r>
          </a:p>
          <a:p>
            <a:pPr marL="800100" lvl="1" indent="-342900">
              <a:buAutoNum type="arabicPeriod"/>
            </a:pP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고염분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패턴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(High Sodium Pattern)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소금 추가 사용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짠 음식 섭취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다른 패턴과 독립적으로 분리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모든 그룹에서 별도 클러스터로 존재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endParaRPr lang="ko-KR" altLang="en-US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모듈성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(Modularity):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여성 장년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Q=0.411 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커뮤니티 간 경계가 덜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뚜렷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~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남성 중년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 Q=0.618 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커뮤니티 구분이 가장 명확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 식품은 주로 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서구화</a:t>
            </a:r>
            <a:r>
              <a:rPr lang="en-US" altLang="ko-KR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b="1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 커뮤니티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내에서 중심 역할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DC581-4A29-B417-4A28-4DC4CB111B8E}"/>
              </a:ext>
            </a:extLst>
          </p:cNvPr>
          <p:cNvSpPr txBox="1"/>
          <p:nvPr/>
        </p:nvSpPr>
        <p:spPr>
          <a:xfrm>
            <a:off x="118865" y="820173"/>
            <a:ext cx="5284408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en-US" altLang="ko-KR" sz="1600" b="1" dirty="0"/>
              <a:t>Supple. Community Structure</a:t>
            </a:r>
            <a:endParaRPr lang="ko-KR" altLang="en-US" sz="1600" b="1" dirty="0"/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7BF14762-ADA4-ABF7-27DE-E87FEEA583DD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86A1CA-5F15-46E6-2DAF-1E8B3F7ACAA7}"/>
              </a:ext>
            </a:extLst>
          </p:cNvPr>
          <p:cNvSpPr txBox="1"/>
          <p:nvPr/>
        </p:nvSpPr>
        <p:spPr>
          <a:xfrm>
            <a:off x="118864" y="128093"/>
            <a:ext cx="11931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Network Construction &amp; Hub Identification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Community Structure Analysis</a:t>
            </a:r>
            <a:endParaRPr lang="en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04BD0B-0009-E053-57EA-8C0F96CCC520}"/>
              </a:ext>
            </a:extLst>
          </p:cNvPr>
          <p:cNvGrpSpPr/>
          <p:nvPr/>
        </p:nvGrpSpPr>
        <p:grpSpPr>
          <a:xfrm>
            <a:off x="130423" y="1300421"/>
            <a:ext cx="11931155" cy="3676403"/>
            <a:chOff x="118864" y="1300422"/>
            <a:chExt cx="11467712" cy="3533600"/>
          </a:xfrm>
        </p:grpSpPr>
        <p:pic>
          <p:nvPicPr>
            <p:cNvPr id="3" name="그림 2" descr="텍스트, 도표, 스크린샷, 종이접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A580CA0-FCEC-5F84-F102-822C0C59C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4712"/>
            <a:stretch>
              <a:fillRect/>
            </a:stretch>
          </p:blipFill>
          <p:spPr>
            <a:xfrm>
              <a:off x="118864" y="1300422"/>
              <a:ext cx="5567951" cy="3533600"/>
            </a:xfrm>
            <a:prstGeom prst="rect">
              <a:avLst/>
            </a:prstGeom>
          </p:spPr>
        </p:pic>
        <p:pic>
          <p:nvPicPr>
            <p:cNvPr id="7" name="그림 6" descr="텍스트, 도표, 스크린샷, 종이접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2DA5DE-0CAB-966F-9C12-708054C59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401" t="49519" r="-225" b="5193"/>
            <a:stretch>
              <a:fillRect/>
            </a:stretch>
          </p:blipFill>
          <p:spPr>
            <a:xfrm>
              <a:off x="5949862" y="1300422"/>
              <a:ext cx="1604929" cy="3533600"/>
            </a:xfrm>
            <a:prstGeom prst="rect">
              <a:avLst/>
            </a:prstGeom>
          </p:spPr>
        </p:pic>
        <p:pic>
          <p:nvPicPr>
            <p:cNvPr id="8" name="그림 7" descr="텍스트, 도표, 스크린샷, 종이접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C6C4F82-AFCA-C5F8-382D-C51D6E078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519" r="32902" b="5193"/>
            <a:stretch>
              <a:fillRect/>
            </a:stretch>
          </p:blipFill>
          <p:spPr>
            <a:xfrm>
              <a:off x="7850622" y="1300422"/>
              <a:ext cx="3735954" cy="353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914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60EF-DFBB-BBFB-7C11-A560B8DA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E1FE1BD8-6933-EC40-6E90-B591B3B919C2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1E644C-5529-4C22-81D4-833872A4E3B3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②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Mediating Role of Hub Foods on Dietary Patterns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5610E17-5FD8-F60B-134A-45369FD26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13535"/>
              </p:ext>
            </p:extLst>
          </p:nvPr>
        </p:nvGraphicFramePr>
        <p:xfrm>
          <a:off x="192000" y="1128182"/>
          <a:ext cx="11808000" cy="49867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4513179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73279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0585227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4582643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218416208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97866418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66735713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593403686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95256147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29463896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83601965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34516677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00212678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12401660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56166760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157542921"/>
                    </a:ext>
                  </a:extLst>
                </a:gridCol>
              </a:tblGrid>
              <a:tr h="2928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Group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Status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Hub Food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(High consumption : Low </a:t>
                      </a:r>
                      <a:r>
                        <a:rPr lang="en" altLang="ko-KR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consumption</a:t>
                      </a: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Grain Products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Vege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tables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Dairy Products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Fruits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Foods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Additional Salt Use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Salty Food </a:t>
                      </a:r>
                      <a:r>
                        <a:rPr lang="en" sz="900" b="0" i="0" u="none" strike="noStrike" spc="-7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Consumption</a:t>
                      </a:r>
                      <a:endParaRPr lang="en" sz="900" b="0" i="0" u="none" strike="noStrike" spc="-7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Sweet Food </a:t>
                      </a:r>
                      <a:r>
                        <a:rPr lang="en" altLang="ko-KR" sz="900" b="0" i="0" u="none" strike="noStrike" spc="-7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Consumption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80333"/>
                  </a:ext>
                </a:extLst>
              </a:tr>
              <a:tr h="146411">
                <a:tc rowSpan="17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Vegetables (795:304)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+1.02***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2103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(1229:734)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3457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(803:307)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-0.14*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-0.13**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79709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Vegetables (1607:973)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+1.04***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54926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(3033:287)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01280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(3271:1466)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8589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(846:323)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+0.08*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2888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(974:195)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51009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(778:41)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+0.32*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5583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(325:191)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+0.17*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46467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Grain Products (432:84)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+0.22*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941527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(217:61)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+0.30**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+0.86***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+0.83***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330209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(2111:827)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140394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(1689:228)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+0.90***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2818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(1939:182)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+0.87***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0229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(723:248)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779134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(768:203)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-0.16*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-0.13*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477325"/>
                  </a:ext>
                </a:extLst>
              </a:tr>
              <a:tr h="146411">
                <a:tc rowSpan="1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Female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(1635:344)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923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Grain Products (2080:439)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94429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(1590:164)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+0.17*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+0.85***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+0.67***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90373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(4679:950)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-0.07**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8235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(3578:371)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-0.17**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16583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(3995:1634)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82587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altLang="ko-KR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altLang="ko-KR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altLang="ko-KR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(+)</a:t>
                      </a:r>
                      <a:endParaRPr lang="en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(1008:76)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-0.25*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-0.20*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+0.18*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66127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(869:215)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+0.11**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+0.13**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283901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(884:200)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+0.28***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538969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(484:50)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7488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(506:26)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+0.38*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-0.45**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+0.89***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+0.40*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+0.29*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+0.37*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92552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(509:249)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+0.44***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398025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(619:61)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+0.20*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+0.24**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819559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(525:155)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+0.39***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+0.15***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48702"/>
                  </a:ext>
                </a:extLst>
              </a:tr>
              <a:tr h="146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(595:85)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-0.23*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+0.52***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+0.46***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+0.21***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+0.19**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+0.18**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35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DE2172-52E2-BC4F-550C-9C20F592FDC5}"/>
              </a:ext>
            </a:extLst>
          </p:cNvPr>
          <p:cNvSpPr txBox="1"/>
          <p:nvPr/>
        </p:nvSpPr>
        <p:spPr>
          <a:xfrm>
            <a:off x="118864" y="751839"/>
            <a:ext cx="1180799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허브 식품의 고섭취군과 </a:t>
            </a:r>
            <a:r>
              <a:rPr lang="ko-KR" altLang="en-US" sz="1600" b="1" dirty="0" err="1"/>
              <a:t>저섭취군을</a:t>
            </a:r>
            <a:r>
              <a:rPr lang="ko-KR" altLang="en-US" sz="1600" b="1" dirty="0"/>
              <a:t> 비교하여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허브 식품이 네트워크로 연결된 다른 식품들의 섭취에 미치는 영향을 분석</a:t>
            </a:r>
            <a:endParaRPr lang="en-US" altLang="ko-KR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90B0D-9E04-152F-F37A-1FFDA8F01250}"/>
              </a:ext>
            </a:extLst>
          </p:cNvPr>
          <p:cNvSpPr txBox="1"/>
          <p:nvPr/>
        </p:nvSpPr>
        <p:spPr>
          <a:xfrm>
            <a:off x="192000" y="6210300"/>
            <a:ext cx="11828876" cy="61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800100" lvl="1" indent="-342900">
              <a:buAutoNum type="arabicPeriod"/>
              <a:defRPr sz="130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r>
              <a:rPr lang="ko-KR" altLang="en-US" dirty="0"/>
              <a:t>총 </a:t>
            </a:r>
            <a:r>
              <a:rPr lang="en-US" altLang="ko-KR" dirty="0"/>
              <a:t>214</a:t>
            </a:r>
            <a:r>
              <a:rPr lang="ko-KR" altLang="en-US" dirty="0"/>
              <a:t>개 유의한 매개효과 관찰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b="0" dirty="0"/>
              <a:t>양의 연관성 </a:t>
            </a:r>
            <a:r>
              <a:rPr lang="en-US" altLang="ko-KR" b="0" dirty="0"/>
              <a:t>191</a:t>
            </a:r>
            <a:r>
              <a:rPr lang="ko-KR" altLang="en-US" b="0" dirty="0"/>
              <a:t>개 </a:t>
            </a:r>
            <a:r>
              <a:rPr lang="en-US" altLang="ko-KR" b="0" dirty="0"/>
              <a:t>(89%)</a:t>
            </a:r>
            <a:r>
              <a:rPr lang="ko-KR" altLang="en-US" b="0" dirty="0"/>
              <a:t> </a:t>
            </a:r>
            <a:r>
              <a:rPr lang="en-US" altLang="ko-KR" b="0" dirty="0"/>
              <a:t>/ </a:t>
            </a:r>
            <a:r>
              <a:rPr lang="ko-KR" altLang="en-US" b="0" dirty="0"/>
              <a:t>음의 연관성 </a:t>
            </a:r>
            <a:r>
              <a:rPr lang="en-US" altLang="ko-KR" b="0" dirty="0"/>
              <a:t>23</a:t>
            </a:r>
            <a:r>
              <a:rPr lang="ko-KR" altLang="en-US" b="0" dirty="0"/>
              <a:t>개 </a:t>
            </a:r>
            <a:r>
              <a:rPr lang="en-US" altLang="ko-KR" b="0" dirty="0"/>
              <a:t>(11%)</a:t>
            </a:r>
            <a:r>
              <a:rPr lang="ko-KR" altLang="en-US" b="0" dirty="0"/>
              <a:t> </a:t>
            </a:r>
            <a:r>
              <a:rPr lang="en-US" altLang="ko-KR" b="0" dirty="0">
                <a:sym typeface="Wingdings" pitchFamily="2" charset="2"/>
              </a:rPr>
              <a:t></a:t>
            </a:r>
            <a:r>
              <a:rPr lang="ko-KR" altLang="en-US" b="0" dirty="0">
                <a:sym typeface="Wingdings" pitchFamily="2" charset="2"/>
              </a:rPr>
              <a:t> </a:t>
            </a:r>
            <a:r>
              <a:rPr lang="ko-KR" altLang="en-US" b="0" dirty="0"/>
              <a:t>하나의 허브 식품 섭취가 증가하면 네트워크로 연결된 다른 식품들도 연쇄적으로 증가함</a:t>
            </a:r>
            <a:endParaRPr lang="en-US" altLang="ko-KR" b="0" dirty="0"/>
          </a:p>
          <a:p>
            <a:r>
              <a:rPr lang="ko-KR" altLang="en-US" b="0" dirty="0"/>
              <a:t>가공식품</a:t>
            </a:r>
            <a:r>
              <a:rPr lang="en-US" altLang="ko-KR" b="0" dirty="0"/>
              <a:t>/</a:t>
            </a:r>
            <a:r>
              <a:rPr lang="ko-KR" altLang="en-US" b="0" dirty="0"/>
              <a:t>튀김식품 허브 </a:t>
            </a:r>
            <a:r>
              <a:rPr lang="en-US" altLang="ko-KR" b="0" dirty="0">
                <a:sym typeface="Wingdings" pitchFamily="2" charset="2"/>
              </a:rPr>
              <a:t></a:t>
            </a:r>
            <a:r>
              <a:rPr lang="en-US" altLang="ko-KR" b="0" dirty="0"/>
              <a:t> </a:t>
            </a:r>
            <a:r>
              <a:rPr lang="ko-KR" altLang="en-US" b="0" dirty="0"/>
              <a:t>당류음료 </a:t>
            </a:r>
            <a:r>
              <a:rPr lang="en-US" altLang="ko-KR" b="0" dirty="0"/>
              <a:t>+0.64~0.90*</a:t>
            </a:r>
            <a:r>
              <a:rPr lang="ko-KR" altLang="en-US" dirty="0"/>
              <a:t>**</a:t>
            </a:r>
            <a:r>
              <a:rPr lang="en-US" altLang="ko-KR" dirty="0"/>
              <a:t>, </a:t>
            </a:r>
            <a:r>
              <a:rPr lang="ko-KR" altLang="en-US" dirty="0"/>
              <a:t>고지방육류 </a:t>
            </a:r>
            <a:r>
              <a:rPr lang="en-US" altLang="ko-KR" dirty="0"/>
              <a:t>+0.58~0.87**</a:t>
            </a:r>
            <a:r>
              <a:rPr lang="ko-KR" altLang="en-US" b="0" dirty="0"/>
              <a:t>* 등 강한 동반 상승 </a:t>
            </a:r>
            <a:r>
              <a:rPr lang="en-US" altLang="ko-KR" b="0" dirty="0"/>
              <a:t>/</a:t>
            </a:r>
            <a:r>
              <a:rPr lang="ko-KR" altLang="en-US" b="0" dirty="0"/>
              <a:t> 고지방 육류 </a:t>
            </a:r>
            <a:r>
              <a:rPr lang="ko-KR" altLang="en-US" b="0" dirty="0" err="1"/>
              <a:t>고섭취</a:t>
            </a:r>
            <a:r>
              <a:rPr lang="ko-KR" altLang="en-US" b="0" dirty="0"/>
              <a:t> </a:t>
            </a:r>
            <a:r>
              <a:rPr lang="en-US" altLang="ko-KR" b="0" dirty="0">
                <a:sym typeface="Wingdings" pitchFamily="2" charset="2"/>
              </a:rPr>
              <a:t></a:t>
            </a:r>
            <a:r>
              <a:rPr lang="ko-KR" altLang="en-US" b="0" dirty="0"/>
              <a:t> 가공식품 </a:t>
            </a:r>
            <a:r>
              <a:rPr lang="en-US" altLang="ko-KR" b="0" dirty="0"/>
              <a:t>0.89 </a:t>
            </a:r>
            <a:r>
              <a:rPr lang="ko-KR" altLang="en-US" b="0" dirty="0"/>
              <a:t>증가</a:t>
            </a:r>
            <a:r>
              <a:rPr lang="en-US" altLang="ko-KR" b="0" dirty="0"/>
              <a:t>,</a:t>
            </a:r>
            <a:r>
              <a:rPr lang="ko-KR" altLang="en-US" b="0" dirty="0"/>
              <a:t> 과일 </a:t>
            </a:r>
            <a:r>
              <a:rPr lang="en-US" altLang="ko-KR" b="0" dirty="0"/>
              <a:t>-0.45** </a:t>
            </a:r>
            <a:r>
              <a:rPr lang="ko-KR" altLang="en-US" b="0" dirty="0"/>
              <a:t>감소</a:t>
            </a:r>
          </a:p>
          <a:p>
            <a:r>
              <a:rPr lang="ko-KR" altLang="en-US" b="0" dirty="0"/>
              <a:t>허브 식품이 식이 패턴의 </a:t>
            </a:r>
            <a:r>
              <a:rPr lang="ko-KR" altLang="en-US" dirty="0"/>
              <a:t>레버리지 포인트</a:t>
            </a:r>
            <a:r>
              <a:rPr lang="en-US" altLang="ko-KR" b="0" dirty="0"/>
              <a:t> </a:t>
            </a:r>
            <a:r>
              <a:rPr lang="ko-KR" altLang="en-US" b="0" dirty="0"/>
              <a:t>역할 → 허브만 조절해도 전체 식이 패턴 개선 가능</a:t>
            </a:r>
          </a:p>
        </p:txBody>
      </p:sp>
    </p:spTree>
    <p:extLst>
      <p:ext uri="{BB962C8B-B14F-4D97-AF65-F5344CB8AC3E}">
        <p14:creationId xmlns:p14="http://schemas.microsoft.com/office/powerpoint/2010/main" val="3813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9AD6-58BD-C324-CEF9-DE706C52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2A345DAD-D325-3144-74ED-9F4F8B8053FA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44B2E6-4AC4-9586-C99C-45DF3A773D1D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②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Mediating Role of Hub Foods on Dietary Patterns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DA97F4-D71D-7C21-232F-A65A903AF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10812"/>
              </p:ext>
            </p:extLst>
          </p:nvPr>
        </p:nvGraphicFramePr>
        <p:xfrm>
          <a:off x="192000" y="1128182"/>
          <a:ext cx="11790000" cy="454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4513179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73279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0585227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45826439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218416208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978664189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667357132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1593403686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952561471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294638967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836019654"/>
                    </a:ext>
                  </a:extLst>
                </a:gridCol>
              </a:tblGrid>
              <a:tr h="53367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Group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Status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Hub Food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(High consumption : Low </a:t>
                      </a:r>
                      <a:r>
                        <a:rPr lang="en" altLang="ko-KR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consumption</a:t>
                      </a: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BMI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(kg/m2)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Diastolic Blood Pressure (mmHg)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Fasting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glucose 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HDL-C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Systolic blood pressure (mmHg)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Triglycerides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Waist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circumference (cm)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80333"/>
                  </a:ext>
                </a:extLst>
              </a:tr>
              <a:tr h="267335"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Vegetables (795:304)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2103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(1229:734)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+2.79**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34575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(803:307)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79709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Vegetables (1607:973)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+0.94**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+8.75*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+2.20***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54926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(3033:287)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01280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(3271:1466)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+20.28*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8589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(846:323)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2888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(974:195)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+6.85*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+1.24**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510095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(778:41)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+7.80*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55833"/>
                  </a:ext>
                </a:extLst>
              </a:tr>
              <a:tr h="267335">
                <a:tc rowSpan="6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Female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(1635:344)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+1.01***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-1.59*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-4.82***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+2.93***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923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Grain Products (2080:439)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+0.97***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+24.95***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+2.55***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94429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(1590:164)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+0.43***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+1.34***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903735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(4679:950)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8235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(3578:371)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-2.24*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+43.39*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16583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(3995:1634)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825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983CB3-89E8-05A7-1C34-ADCE7A4F74C0}"/>
              </a:ext>
            </a:extLst>
          </p:cNvPr>
          <p:cNvSpPr txBox="1"/>
          <p:nvPr/>
        </p:nvSpPr>
        <p:spPr>
          <a:xfrm>
            <a:off x="118864" y="751839"/>
            <a:ext cx="1180799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허브 식품의 고섭취군과 </a:t>
            </a:r>
            <a:r>
              <a:rPr lang="ko-KR" altLang="en-US" sz="1600" b="1" dirty="0" err="1"/>
              <a:t>저섭취군을</a:t>
            </a:r>
            <a:r>
              <a:rPr lang="ko-KR" altLang="en-US" sz="1600" b="1" dirty="0"/>
              <a:t> 비교하여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허브 식품이 건강 지표</a:t>
            </a:r>
            <a:r>
              <a:rPr lang="en-US" altLang="ko-KR" sz="1600" b="1" dirty="0"/>
              <a:t>(</a:t>
            </a:r>
            <a:r>
              <a:rPr lang="en" altLang="ko-KR" sz="1600" b="1" dirty="0"/>
              <a:t>BMI, </a:t>
            </a:r>
            <a:r>
              <a:rPr lang="ko-KR" altLang="en-US" sz="1600" b="1" dirty="0"/>
              <a:t>혈압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혈당</a:t>
            </a:r>
            <a:r>
              <a:rPr lang="en-US" altLang="ko-KR" sz="1600" b="1" dirty="0"/>
              <a:t>, </a:t>
            </a:r>
            <a:r>
              <a:rPr lang="en" altLang="ko-KR" sz="1600" b="1" dirty="0"/>
              <a:t>HDL-C, </a:t>
            </a:r>
            <a:r>
              <a:rPr lang="ko-KR" altLang="en-US" sz="1600" b="1" dirty="0"/>
              <a:t>중성지방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허리둘레</a:t>
            </a:r>
            <a:r>
              <a:rPr lang="en-US" altLang="ko-KR" sz="1600" b="1" dirty="0"/>
              <a:t>)</a:t>
            </a:r>
            <a:r>
              <a:rPr lang="ko-KR" altLang="en-US" sz="1600" b="1" dirty="0" err="1"/>
              <a:t>에</a:t>
            </a:r>
            <a:r>
              <a:rPr lang="ko-KR" altLang="en-US" sz="1600" b="1" dirty="0"/>
              <a:t> 미치는 영향을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2BD5B-2C97-4952-B9E1-C1D2F1981C4D}"/>
              </a:ext>
            </a:extLst>
          </p:cNvPr>
          <p:cNvSpPr txBox="1"/>
          <p:nvPr/>
        </p:nvSpPr>
        <p:spPr>
          <a:xfrm>
            <a:off x="192000" y="5729818"/>
            <a:ext cx="11828876" cy="109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800100" lvl="1" indent="-342900">
              <a:buAutoNum type="arabicPeriod"/>
              <a:defRPr sz="130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r>
              <a:rPr lang="en" altLang="ko-KR" dirty="0"/>
              <a:t>Prevention (</a:t>
            </a:r>
            <a:r>
              <a:rPr lang="en" altLang="ko-KR" dirty="0" err="1"/>
              <a:t>MetS</a:t>
            </a:r>
            <a:r>
              <a:rPr lang="en" altLang="ko-KR" dirty="0"/>
              <a:t>-)</a:t>
            </a:r>
            <a:r>
              <a:rPr lang="en" altLang="ko-KR" b="0" dirty="0"/>
              <a:t>: </a:t>
            </a:r>
            <a:r>
              <a:rPr lang="ko-KR" altLang="en-US" b="0" dirty="0"/>
              <a:t>총 </a:t>
            </a:r>
            <a:r>
              <a:rPr lang="en-US" altLang="ko-KR" b="0" dirty="0"/>
              <a:t>26</a:t>
            </a:r>
            <a:r>
              <a:rPr lang="ko-KR" altLang="en-US" b="0" dirty="0"/>
              <a:t>개 유의한 연관성 관찰</a:t>
            </a:r>
            <a:r>
              <a:rPr lang="en-US" altLang="ko-KR" b="0" dirty="0"/>
              <a:t>: </a:t>
            </a:r>
            <a:r>
              <a:rPr lang="ko-KR" altLang="en-US" b="0" dirty="0"/>
              <a:t>위험 방향 </a:t>
            </a:r>
            <a:r>
              <a:rPr lang="en-US" altLang="ko-KR" b="0" dirty="0"/>
              <a:t>15</a:t>
            </a:r>
            <a:r>
              <a:rPr lang="ko-KR" altLang="en-US" b="0" dirty="0"/>
              <a:t>개 </a:t>
            </a:r>
            <a:r>
              <a:rPr lang="en-US" altLang="ko-KR" b="0" dirty="0"/>
              <a:t>(58%) / </a:t>
            </a:r>
            <a:r>
              <a:rPr lang="ko-KR" altLang="en-US" b="0" dirty="0"/>
              <a:t>보호 방향 </a:t>
            </a:r>
            <a:r>
              <a:rPr lang="en-US" altLang="ko-KR" b="0" dirty="0"/>
              <a:t>11</a:t>
            </a:r>
            <a:r>
              <a:rPr lang="ko-KR" altLang="en-US" b="0" dirty="0"/>
              <a:t>개 </a:t>
            </a:r>
            <a:r>
              <a:rPr lang="en-US" altLang="ko-KR" b="0" dirty="0"/>
              <a:t>(42%)</a:t>
            </a:r>
          </a:p>
          <a:p>
            <a:pPr lvl="1"/>
            <a:r>
              <a:rPr lang="ko-KR" altLang="en-US" b="0" dirty="0"/>
              <a:t>가공식품</a:t>
            </a:r>
            <a:r>
              <a:rPr lang="en-US" altLang="ko-KR" b="0" dirty="0"/>
              <a:t>/</a:t>
            </a:r>
            <a:r>
              <a:rPr lang="ko-KR" altLang="en-US" b="0" dirty="0"/>
              <a:t>튀김식품 </a:t>
            </a:r>
            <a:r>
              <a:rPr lang="ko-KR" altLang="en-US" b="0" dirty="0" err="1"/>
              <a:t>고섭취</a:t>
            </a:r>
            <a:r>
              <a:rPr lang="ko-KR" altLang="en-US" b="0" dirty="0"/>
              <a:t> → </a:t>
            </a:r>
            <a:r>
              <a:rPr lang="en" altLang="ko-KR" b="0" dirty="0"/>
              <a:t>BMI +0.27~1.12***, </a:t>
            </a:r>
            <a:r>
              <a:rPr lang="ko-KR" altLang="en-US" b="0" dirty="0"/>
              <a:t>허리둘레 </a:t>
            </a:r>
            <a:r>
              <a:rPr lang="en-US" altLang="ko-KR" b="0" dirty="0"/>
              <a:t>+0.74~1.24**, </a:t>
            </a:r>
            <a:r>
              <a:rPr lang="ko-KR" altLang="en-US" b="0" dirty="0"/>
              <a:t>중성지방 </a:t>
            </a:r>
            <a:r>
              <a:rPr lang="en-US" altLang="ko-KR" b="0" dirty="0"/>
              <a:t>+7~11 </a:t>
            </a:r>
            <a:r>
              <a:rPr lang="en" altLang="ko-KR" b="0" dirty="0"/>
              <a:t>mg/dL </a:t>
            </a:r>
            <a:r>
              <a:rPr lang="ko-KR" altLang="en-US" b="0" dirty="0"/>
              <a:t>증가</a:t>
            </a:r>
          </a:p>
          <a:p>
            <a:pPr lvl="1"/>
            <a:r>
              <a:rPr lang="ko-KR" altLang="en-US" b="0" dirty="0"/>
              <a:t>채소</a:t>
            </a:r>
            <a:r>
              <a:rPr lang="en-US" altLang="ko-KR" b="0" dirty="0"/>
              <a:t>/</a:t>
            </a:r>
            <a:r>
              <a:rPr lang="ko-KR" altLang="en-US" b="0" dirty="0"/>
              <a:t>단백질식품 </a:t>
            </a:r>
            <a:r>
              <a:rPr lang="ko-KR" altLang="en-US" b="0" dirty="0" err="1"/>
              <a:t>고섭취</a:t>
            </a:r>
            <a:r>
              <a:rPr lang="ko-KR" altLang="en-US" b="0" dirty="0"/>
              <a:t> → 중성지방 </a:t>
            </a:r>
            <a:r>
              <a:rPr lang="en-US" altLang="ko-KR" b="0" dirty="0"/>
              <a:t>-7~9 </a:t>
            </a:r>
            <a:r>
              <a:rPr lang="en" altLang="ko-KR" b="0" dirty="0"/>
              <a:t>mg/dL***, HDL-C +0.93~1.81* </a:t>
            </a:r>
            <a:r>
              <a:rPr lang="ko-KR" altLang="en-US" b="0" dirty="0"/>
              <a:t>개선 </a:t>
            </a:r>
            <a:r>
              <a:rPr lang="en-US" altLang="ko-KR" b="0" dirty="0"/>
              <a:t>(</a:t>
            </a:r>
            <a:r>
              <a:rPr lang="ko-KR" altLang="en-US" b="0" dirty="0"/>
              <a:t>강한 보호 효과</a:t>
            </a:r>
            <a:r>
              <a:rPr lang="en-US" altLang="ko-KR" b="0" dirty="0"/>
              <a:t>)</a:t>
            </a:r>
          </a:p>
          <a:p>
            <a:pPr lvl="1"/>
            <a:r>
              <a:rPr lang="ko-KR" altLang="en-US" b="0" dirty="0"/>
              <a:t>건강한 개인도 허브 식품 섭취가 대사 지표에 영향</a:t>
            </a:r>
          </a:p>
        </p:txBody>
      </p:sp>
    </p:spTree>
    <p:extLst>
      <p:ext uri="{BB962C8B-B14F-4D97-AF65-F5344CB8AC3E}">
        <p14:creationId xmlns:p14="http://schemas.microsoft.com/office/powerpoint/2010/main" val="286103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095-E41D-98E4-C7E2-F4700D89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CC87454A-06DE-639D-4C97-DA7C7F68882E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360591-C007-2D8D-0979-C79B4AC80967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③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Hub Foods and Health Indicators Association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C50062-7328-FA7F-3ADC-75EA49784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366690"/>
              </p:ext>
            </p:extLst>
          </p:nvPr>
        </p:nvGraphicFramePr>
        <p:xfrm>
          <a:off x="192000" y="1128182"/>
          <a:ext cx="11790000" cy="454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4513179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73279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0585227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45826439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218416208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978664189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667357132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1593403686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952561471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294638967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836019654"/>
                    </a:ext>
                  </a:extLst>
                </a:gridCol>
              </a:tblGrid>
              <a:tr h="47748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Group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Status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Hub Food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(High consumption : Low </a:t>
                      </a:r>
                      <a:r>
                        <a:rPr lang="en" altLang="ko-KR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consumption</a:t>
                      </a:r>
                      <a:r>
                        <a:rPr lang="en" sz="7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BMI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(kg/m2)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Diastolic Blood Pressure (mmHg)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Fasting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glucose 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HDL-C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Systolic blood pressure (mmHg)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Triglycerides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(mg/dL)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Waist </a:t>
                      </a: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circumference (cm)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80333"/>
                  </a:ext>
                </a:extLst>
              </a:tr>
              <a:tr h="239189">
                <a:tc rowSpan="8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</a:t>
                      </a: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(325:191)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+0.34***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+0.97***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2103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Grain Products (432:84)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-1.15*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-1.84**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34575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(217:61)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-0.72**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79709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(2111:827)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+1.51*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54926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(1689:228)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01280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(1939:182)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-1.23*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+7.72***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8589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(723:248)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+0.40*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+6.14*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2888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(768:203)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510095"/>
                  </a:ext>
                </a:extLst>
              </a:tr>
              <a:tr h="239189"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Female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MetS</a:t>
                      </a:r>
                      <a:endParaRPr lang="en" sz="900" b="0" i="0" u="none" strike="noStrike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</a:t>
                      </a: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altLang="ko-KR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Young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(1008:76)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-2.49*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4530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(869:215)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-2.32*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708004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(884:200)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+1.81*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-7.06***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73592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(484:50)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+0.27**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+1.12***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923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 Fat Meat (506:26)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-1.67**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+11.00*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+0.74*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94429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Fried Foods (509:249)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+0.93*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-9.34***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-0.70**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903735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900" b="0" i="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Older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SSB (619:61)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+0.48*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+1.21*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8235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Protein Foods (525:155)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+0.35*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-1.19**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-7.84**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16583"/>
                  </a:ext>
                </a:extLst>
              </a:tr>
              <a:tr h="239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Processed Foods (595:85)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-12.54***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" sz="9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825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BB3208-D0F6-F5E4-7422-02A3859D8705}"/>
              </a:ext>
            </a:extLst>
          </p:cNvPr>
          <p:cNvSpPr txBox="1"/>
          <p:nvPr/>
        </p:nvSpPr>
        <p:spPr>
          <a:xfrm>
            <a:off x="118864" y="751839"/>
            <a:ext cx="1180799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허브 식품의 고섭취군과 </a:t>
            </a:r>
            <a:r>
              <a:rPr lang="ko-KR" altLang="en-US" sz="1600" b="1" dirty="0" err="1"/>
              <a:t>저섭취군을</a:t>
            </a:r>
            <a:r>
              <a:rPr lang="ko-KR" altLang="en-US" sz="1600" b="1" dirty="0"/>
              <a:t> 비교하여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허브 식품이 건강 지표</a:t>
            </a:r>
            <a:r>
              <a:rPr lang="en-US" altLang="ko-KR" sz="1600" b="1" dirty="0"/>
              <a:t>(</a:t>
            </a:r>
            <a:r>
              <a:rPr lang="en" altLang="ko-KR" sz="1600" b="1" dirty="0"/>
              <a:t>BMI, </a:t>
            </a:r>
            <a:r>
              <a:rPr lang="ko-KR" altLang="en-US" sz="1600" b="1" dirty="0"/>
              <a:t>혈압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혈당</a:t>
            </a:r>
            <a:r>
              <a:rPr lang="en-US" altLang="ko-KR" sz="1600" b="1" dirty="0"/>
              <a:t>, </a:t>
            </a:r>
            <a:r>
              <a:rPr lang="en" altLang="ko-KR" sz="1600" b="1" dirty="0"/>
              <a:t>HDL-C, </a:t>
            </a:r>
            <a:r>
              <a:rPr lang="ko-KR" altLang="en-US" sz="1600" b="1" dirty="0"/>
              <a:t>중성지방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허리둘레</a:t>
            </a:r>
            <a:r>
              <a:rPr lang="en-US" altLang="ko-KR" sz="1600" b="1" dirty="0"/>
              <a:t>)</a:t>
            </a:r>
            <a:r>
              <a:rPr lang="ko-KR" altLang="en-US" sz="1600" b="1" dirty="0" err="1"/>
              <a:t>에</a:t>
            </a:r>
            <a:r>
              <a:rPr lang="ko-KR" altLang="en-US" sz="1600" b="1" dirty="0"/>
              <a:t> 미치는 영향을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BC234-C871-6EDE-9A9F-609C9DD4BC0A}"/>
              </a:ext>
            </a:extLst>
          </p:cNvPr>
          <p:cNvSpPr txBox="1"/>
          <p:nvPr/>
        </p:nvSpPr>
        <p:spPr>
          <a:xfrm>
            <a:off x="192000" y="5729818"/>
            <a:ext cx="11828876" cy="109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800100" lvl="1" indent="-342900">
              <a:buAutoNum type="arabicPeriod"/>
              <a:defRPr sz="130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r>
              <a:rPr lang="en" altLang="ko-KR" dirty="0"/>
              <a:t>Management (</a:t>
            </a:r>
            <a:r>
              <a:rPr lang="en" altLang="ko-KR" dirty="0" err="1"/>
              <a:t>MetS</a:t>
            </a:r>
            <a:r>
              <a:rPr lang="en" altLang="ko-KR" dirty="0"/>
              <a:t>+)</a:t>
            </a:r>
            <a:r>
              <a:rPr lang="en" altLang="ko-KR" b="0" dirty="0"/>
              <a:t>: </a:t>
            </a:r>
            <a:r>
              <a:rPr lang="ko-KR" altLang="en-US" b="0" dirty="0"/>
              <a:t>총 </a:t>
            </a:r>
            <a:r>
              <a:rPr lang="en-US" altLang="ko-KR" b="0" dirty="0"/>
              <a:t>18</a:t>
            </a:r>
            <a:r>
              <a:rPr lang="ko-KR" altLang="en-US" b="0" dirty="0"/>
              <a:t>개 유의한 연관성 관찰</a:t>
            </a:r>
            <a:r>
              <a:rPr lang="en-US" altLang="ko-KR" b="0" dirty="0"/>
              <a:t>: </a:t>
            </a:r>
            <a:r>
              <a:rPr lang="ko-KR" altLang="en-US" b="0" dirty="0"/>
              <a:t>악화 방향 </a:t>
            </a:r>
            <a:r>
              <a:rPr lang="en-US" altLang="ko-KR" b="0" dirty="0"/>
              <a:t>15</a:t>
            </a:r>
            <a:r>
              <a:rPr lang="ko-KR" altLang="en-US" b="0" dirty="0"/>
              <a:t>개 </a:t>
            </a:r>
            <a:r>
              <a:rPr lang="en-US" altLang="ko-KR" b="0" dirty="0"/>
              <a:t>(83%) / </a:t>
            </a:r>
            <a:r>
              <a:rPr lang="ko-KR" altLang="en-US" b="0" dirty="0"/>
              <a:t>완화 방향 </a:t>
            </a:r>
            <a:r>
              <a:rPr lang="en-US" altLang="ko-KR" b="0" dirty="0"/>
              <a:t>3</a:t>
            </a:r>
            <a:r>
              <a:rPr lang="ko-KR" altLang="en-US" b="0" dirty="0"/>
              <a:t>개 </a:t>
            </a:r>
            <a:r>
              <a:rPr lang="en-US" altLang="ko-KR" b="0" dirty="0"/>
              <a:t>(17%)</a:t>
            </a:r>
          </a:p>
          <a:p>
            <a:pPr lvl="1"/>
            <a:r>
              <a:rPr lang="ko-KR" altLang="en-US" b="0" dirty="0"/>
              <a:t>튀김식품</a:t>
            </a:r>
            <a:r>
              <a:rPr lang="en-US" altLang="ko-KR" b="0" dirty="0"/>
              <a:t>/</a:t>
            </a:r>
            <a:r>
              <a:rPr lang="ko-KR" altLang="en-US" b="0" dirty="0"/>
              <a:t>가공식품 </a:t>
            </a:r>
            <a:r>
              <a:rPr lang="ko-KR" altLang="en-US" b="0" dirty="0" err="1"/>
              <a:t>고섭취</a:t>
            </a:r>
            <a:r>
              <a:rPr lang="ko-KR" altLang="en-US" b="0" dirty="0"/>
              <a:t> → </a:t>
            </a:r>
            <a:r>
              <a:rPr lang="en" altLang="ko-KR" b="0" dirty="0"/>
              <a:t>BMI +0.94~1.01***, </a:t>
            </a:r>
            <a:r>
              <a:rPr lang="ko-KR" altLang="en-US" b="0" dirty="0"/>
              <a:t>허리둘레 </a:t>
            </a:r>
            <a:r>
              <a:rPr lang="en-US" altLang="ko-KR" b="0" dirty="0"/>
              <a:t>+2.20~2.93*** (</a:t>
            </a:r>
            <a:r>
              <a:rPr lang="en" altLang="ko-KR" b="0" dirty="0" err="1"/>
              <a:t>MetS</a:t>
            </a:r>
            <a:r>
              <a:rPr lang="en" altLang="ko-KR" b="0" dirty="0"/>
              <a:t>- </a:t>
            </a:r>
            <a:r>
              <a:rPr lang="ko-KR" altLang="en-US" b="0" dirty="0"/>
              <a:t>대비 </a:t>
            </a:r>
            <a:r>
              <a:rPr lang="en-US" altLang="ko-KR" b="0" dirty="0"/>
              <a:t>2</a:t>
            </a:r>
            <a:r>
              <a:rPr lang="ko-KR" altLang="en-US" b="0" dirty="0"/>
              <a:t>배 강력</a:t>
            </a:r>
            <a:r>
              <a:rPr lang="en-US" altLang="ko-KR" b="0" dirty="0"/>
              <a:t>), </a:t>
            </a:r>
            <a:r>
              <a:rPr lang="ko-KR" altLang="en-US" b="0" dirty="0"/>
              <a:t>중성지방 </a:t>
            </a:r>
            <a:r>
              <a:rPr lang="en-US" altLang="ko-KR" b="0" dirty="0"/>
              <a:t>+25 </a:t>
            </a:r>
            <a:r>
              <a:rPr lang="en" altLang="ko-KR" b="0" dirty="0"/>
              <a:t>mg/dL*** </a:t>
            </a:r>
            <a:r>
              <a:rPr lang="ko-KR" altLang="en-US" b="0" dirty="0"/>
              <a:t>급증</a:t>
            </a:r>
          </a:p>
          <a:p>
            <a:pPr lvl="1"/>
            <a:r>
              <a:rPr lang="ko-KR" altLang="en-US" b="0" dirty="0"/>
              <a:t>곡물제품 </a:t>
            </a:r>
            <a:r>
              <a:rPr lang="ko-KR" altLang="en-US" b="0" dirty="0" err="1"/>
              <a:t>고섭취</a:t>
            </a:r>
            <a:r>
              <a:rPr lang="ko-KR" altLang="en-US" b="0" dirty="0"/>
              <a:t> </a:t>
            </a:r>
            <a:r>
              <a:rPr lang="en-US" altLang="ko-KR" b="0" dirty="0"/>
              <a:t>(</a:t>
            </a:r>
            <a:r>
              <a:rPr lang="ko-KR" altLang="en-US" b="0" dirty="0"/>
              <a:t>남성 청년 </a:t>
            </a:r>
            <a:r>
              <a:rPr lang="en" altLang="ko-KR" b="0" dirty="0" err="1"/>
              <a:t>MetS</a:t>
            </a:r>
            <a:r>
              <a:rPr lang="en" altLang="ko-KR" b="0" dirty="0"/>
              <a:t>+) → </a:t>
            </a:r>
            <a:r>
              <a:rPr lang="ko-KR" altLang="en-US" b="0" dirty="0"/>
              <a:t>중성지방 </a:t>
            </a:r>
            <a:r>
              <a:rPr lang="en-US" altLang="ko-KR" b="0" dirty="0"/>
              <a:t>+43 </a:t>
            </a:r>
            <a:r>
              <a:rPr lang="en" altLang="ko-KR" b="0" dirty="0"/>
              <a:t>mg/dL* (</a:t>
            </a:r>
            <a:r>
              <a:rPr lang="ko-KR" altLang="en-US" b="0" dirty="0"/>
              <a:t>가장 위험</a:t>
            </a:r>
            <a:r>
              <a:rPr lang="en-US" altLang="ko-KR" b="0" dirty="0"/>
              <a:t>)</a:t>
            </a:r>
          </a:p>
          <a:p>
            <a:pPr lvl="1"/>
            <a:r>
              <a:rPr lang="ko-KR" altLang="en-US" b="0" dirty="0"/>
              <a:t>단백질식품</a:t>
            </a:r>
            <a:r>
              <a:rPr lang="en-US" altLang="ko-KR" b="0" dirty="0"/>
              <a:t>: </a:t>
            </a:r>
            <a:r>
              <a:rPr lang="ko-KR" altLang="en-US" b="0" dirty="0"/>
              <a:t>그룹별 양면성 </a:t>
            </a:r>
            <a:r>
              <a:rPr lang="en-US" altLang="ko-KR" b="0" dirty="0"/>
              <a:t>(</a:t>
            </a:r>
            <a:r>
              <a:rPr lang="ko-KR" altLang="en-US" b="0" dirty="0"/>
              <a:t>남성 중년 악화 </a:t>
            </a:r>
            <a:r>
              <a:rPr lang="en" altLang="ko-KR" b="0" dirty="0"/>
              <a:t>vs </a:t>
            </a:r>
            <a:r>
              <a:rPr lang="ko-KR" altLang="en-US" b="0" dirty="0"/>
              <a:t>여성 장년 개선</a:t>
            </a:r>
            <a:r>
              <a:rPr lang="en-US" altLang="ko-KR" b="0" dirty="0"/>
              <a:t>)</a:t>
            </a:r>
          </a:p>
          <a:p>
            <a:pPr lvl="1"/>
            <a:r>
              <a:rPr lang="en" altLang="ko-KR" b="0" dirty="0" err="1"/>
              <a:t>MetS</a:t>
            </a:r>
            <a:r>
              <a:rPr lang="en" altLang="ko-KR" b="0" dirty="0"/>
              <a:t> </a:t>
            </a:r>
            <a:r>
              <a:rPr lang="ko-KR" altLang="en-US" b="0" dirty="0"/>
              <a:t>환자에서 허브 식품이 질병 중증도에 더 강한 영향</a:t>
            </a:r>
          </a:p>
        </p:txBody>
      </p:sp>
    </p:spTree>
    <p:extLst>
      <p:ext uri="{BB962C8B-B14F-4D97-AF65-F5344CB8AC3E}">
        <p14:creationId xmlns:p14="http://schemas.microsoft.com/office/powerpoint/2010/main" val="350042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69E6-51AF-4310-905F-683FA2B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CD26E792-6C62-FD67-F2FA-1CDAD4551A7A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497D27-51E6-9F85-A305-09BE7064111C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④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Integrated Dual-Leverage Strategy</a:t>
            </a:r>
            <a:endParaRPr lang="en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graphicFrame>
        <p:nvGraphicFramePr>
          <p:cNvPr id="146" name="표 145">
            <a:extLst>
              <a:ext uri="{FF2B5EF4-FFF2-40B4-BE49-F238E27FC236}">
                <a16:creationId xmlns:a16="http://schemas.microsoft.com/office/drawing/2014/main" id="{1634E965-4ECB-4721-8C35-37424A28F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23769"/>
              </p:ext>
            </p:extLst>
          </p:nvPr>
        </p:nvGraphicFramePr>
        <p:xfrm>
          <a:off x="32367" y="798788"/>
          <a:ext cx="12119326" cy="5843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29076894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20755435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1838801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180367078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1485856205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4043368048"/>
                    </a:ext>
                  </a:extLst>
                </a:gridCol>
                <a:gridCol w="779326">
                  <a:extLst>
                    <a:ext uri="{9D8B030D-6E8A-4147-A177-3AD203B41FA5}">
                      <a16:colId xmlns:a16="http://schemas.microsoft.com/office/drawing/2014/main" val="715301236"/>
                    </a:ext>
                  </a:extLst>
                </a:gridCol>
              </a:tblGrid>
              <a:tr h="2860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성별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연령대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MetS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허브 식품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매개효과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건강효과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권장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9824"/>
                  </a:ext>
                </a:extLst>
              </a:tr>
              <a:tr h="326923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남성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청년층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(19-39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Vegetables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단백질식품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(↑1.02***),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(↑0.38***),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(↑0.47***)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-12.54***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증가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12816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(↑0.69***),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(↑0.19***),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(↑0.24***)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 err="1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이완기혈압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-1.19**,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-7.84**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증가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150745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(↑0.62***),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(↑0.70***),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(↑0.78***)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+0.48*,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+1.21*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073201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(+)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(↑0.61***), </a:t>
                      </a:r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(↑0.34***)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54578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Grain Products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단백질식품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(↑0.43***),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(↑0.56***)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-2.24*,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+43.39*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91206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(↑0.86***),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(↑0.83***),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(↑0.51***)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03229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(40-59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Vegetables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단백질식품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(↑1.04***),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(↑0.39***),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(↑0.40***)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+0.93*,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-9.34***,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-0.70**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증가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713889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(↑0.65***),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(↑0.57***),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(↑0.73***)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-1.67**,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+11.00*,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+0.74*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73247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(↑0.45***),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(↑0.39***),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(↑0.25***)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+0.27**,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+1.12***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86072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(+)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  <a:endParaRPr lang="en-US" sz="1200" b="0" i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(↑0.67***), </a:t>
                      </a:r>
                      <a:r>
                        <a:rPr lang="ko-KR" altLang="en-US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(↑0.27***), </a:t>
                      </a:r>
                      <a:r>
                        <a:rPr lang="ko-KR" altLang="en-US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(↑0.09*)</a:t>
                      </a:r>
                      <a:endParaRPr lang="en-US" altLang="ko-KR" sz="1100" b="0" i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+0.43***, </a:t>
                      </a:r>
                      <a:r>
                        <a:rPr lang="ko-KR" altLang="en-US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i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+1.34***</a:t>
                      </a:r>
                      <a:endParaRPr lang="en-US" altLang="ko-KR" sz="1100" b="0" i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405498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(↑0.90***),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(↑0.61***),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(↑0.58***)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+0.97***,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+24.95***,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+2.55***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0552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(↑0.87***), </a:t>
                      </a:r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(↑0.73***), </a:t>
                      </a:r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(↑0.64***)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+1.01***,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+2.93***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114914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(60-74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(↑0.66***),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(↑0.43***),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과일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(↑0.19***)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+1.81*,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-7.06***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증가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95208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(↑0.42***),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(↑0.35***),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(↑0.41***)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 err="1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수축기혈압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-2.32*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712821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High Fat Meat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(↑0.55***),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(↑0.45***),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(↑0.41***)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 err="1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이완기혈압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-2.49*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686574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(+)</a:t>
                      </a: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(↑0.66***), </a:t>
                      </a:r>
                      <a:r>
                        <a:rPr lang="ko-KR" altLang="en-US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곡물 </a:t>
                      </a:r>
                      <a:r>
                        <a:rPr lang="en-US" altLang="ko-KR" sz="1100" u="none" strike="noStrike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(↑0.33***)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68348"/>
                  </a:ext>
                </a:extLst>
              </a:tr>
              <a:tr h="3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(↑0.43***),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(↑0.39***),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(↑0.31***)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+0.40*, </a:t>
                      </a:r>
                      <a:r>
                        <a:rPr lang="ko-KR" altLang="en-US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+6.14*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76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09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69E6-51AF-4310-905F-683FA2B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CD26E792-6C62-FD67-F2FA-1CDAD4551A7A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497D27-51E6-9F85-A305-09BE7064111C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④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Integrated Dual-Leverage Strategy</a:t>
            </a:r>
            <a:endParaRPr lang="en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graphicFrame>
        <p:nvGraphicFramePr>
          <p:cNvPr id="146" name="표 145">
            <a:extLst>
              <a:ext uri="{FF2B5EF4-FFF2-40B4-BE49-F238E27FC236}">
                <a16:creationId xmlns:a16="http://schemas.microsoft.com/office/drawing/2014/main" id="{1634E965-4ECB-4721-8C35-37424A28F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75055"/>
              </p:ext>
            </p:extLst>
          </p:nvPr>
        </p:nvGraphicFramePr>
        <p:xfrm>
          <a:off x="32367" y="798788"/>
          <a:ext cx="12119326" cy="5843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29076894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20755435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1838801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180367078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1485856205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4043368048"/>
                    </a:ext>
                  </a:extLst>
                </a:gridCol>
                <a:gridCol w="779326">
                  <a:extLst>
                    <a:ext uri="{9D8B030D-6E8A-4147-A177-3AD203B41FA5}">
                      <a16:colId xmlns:a16="http://schemas.microsoft.com/office/drawing/2014/main" val="715301236"/>
                    </a:ext>
                  </a:extLst>
                </a:gridCol>
              </a:tblGrid>
              <a:tr h="2899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성별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연령대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MetS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허브 식품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매개효과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건강효과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권장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9824"/>
                  </a:ext>
                </a:extLst>
              </a:tr>
              <a:tr h="370251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청년층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(19-39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SSB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(↑0.54***),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(↑0.25***),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짠음식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(↑0.33***)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-1.23*,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+7.72***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12816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Grain Products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단백질식품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(↑0.50***),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(↑0.48***),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과일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(↑0.18***)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661482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(↑0.85***),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(↑0.67***),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(↑0.30***)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+1.51*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150745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(40-59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SSB</a:t>
                      </a:r>
                      <a:endParaRPr lang="en-US" sz="11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(↑0.43***), 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(↑0.22***), 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(↑0.23***)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713889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(↑0.51***), 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(↑0.44***), 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(↑0.42***)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이완기혈압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-1.15*,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수축기혈압</a:t>
                      </a:r>
                      <a:r>
                        <a:rPr lang="ko-KR" altLang="en-US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-1.84**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73247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(↑0.38***),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(↑0.36***),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단백질식품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(↑0.21***)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+0.34***,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+0.97***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86072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(+)</a:t>
                      </a:r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(↑0.89***),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(↑0.79***),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(↑0.41***)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+20.28*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405498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High Fat Meat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(↑0.89***),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(↑0.55***),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(↑0.40*)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0552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(↑0.44***),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(↑0.36***),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당류음료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(↑0.25***)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BMI +0.94**,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+8.75*,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+2.20***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114914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장년층</a:t>
                      </a:r>
                      <a:endParaRPr lang="en-US" altLang="ko-KR" sz="1200" u="none" strike="noStrike" dirty="0"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(60-74</a:t>
                      </a:r>
                      <a:r>
                        <a:rPr lang="ko-KR" altLang="en-US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  <a:r>
                        <a:rPr lang="en-US" altLang="ko-KR" sz="105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(-)</a:t>
                      </a:r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SSB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(↑0.27***),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(↑0.26***),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짠음식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(↑0.18*)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+7.80*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95208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High Fat Meat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(↑0.23***),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(↑0.11**),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짠음식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(↑0.19***)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중성지방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+6.85*,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허리둘레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+1.24**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감소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712821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Fried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(↑0.21***),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(↑0.21***),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(↑0.28***)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686574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(+)</a:t>
                      </a:r>
                      <a:r>
                        <a:rPr lang="ko-KR" altLang="en-US" sz="1200" u="none" strike="noStrike" dirty="0"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SSB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가공식품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(↑0.23***),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소금첨가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(↑0.24**),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짠음식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(↑0.42***)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68348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Protein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채소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(↑0.71***),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유제품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(↑0.39***),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과일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(↑0.22***)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HDL-C +2.79**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증가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765007"/>
                  </a:ext>
                </a:extLst>
              </a:tr>
              <a:tr h="370251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Processed Foods</a:t>
                      </a:r>
                    </a:p>
                  </a:txBody>
                  <a:tcPr marL="45720" marR="4572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튀김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(↑0.52***),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고지방육류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(↑0.46***),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단음식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(↑0.43***)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80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44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8D69E6-51AF-4310-905F-683FA2B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CD26E792-6C62-FD67-F2FA-1CDAD4551A7A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497D27-51E6-9F85-A305-09BE7064111C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④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Integrated Dual-Leverage Strategy</a:t>
            </a:r>
            <a:endParaRPr lang="en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F291357-7E90-4534-A2D5-6CAFDBA4BE64}"/>
              </a:ext>
            </a:extLst>
          </p:cNvPr>
          <p:cNvGrpSpPr/>
          <p:nvPr/>
        </p:nvGrpSpPr>
        <p:grpSpPr>
          <a:xfrm>
            <a:off x="1399142" y="867786"/>
            <a:ext cx="3961670" cy="1027122"/>
            <a:chOff x="952805" y="2537883"/>
            <a:chExt cx="4488772" cy="1163781"/>
          </a:xfrm>
        </p:grpSpPr>
        <p:sp>
          <p:nvSpPr>
            <p:cNvPr id="9" name="Shape 23">
              <a:extLst>
                <a:ext uri="{FF2B5EF4-FFF2-40B4-BE49-F238E27FC236}">
                  <a16:creationId xmlns:a16="http://schemas.microsoft.com/office/drawing/2014/main" id="{B4F5F38A-5A03-40CD-8143-58BFB2B78071}"/>
                </a:ext>
              </a:extLst>
            </p:cNvPr>
            <p:cNvSpPr/>
            <p:nvPr/>
          </p:nvSpPr>
          <p:spPr>
            <a:xfrm>
              <a:off x="952805" y="2537883"/>
              <a:ext cx="4488772" cy="1163781"/>
            </a:xfrm>
            <a:prstGeom prst="roundRect">
              <a:avLst>
                <a:gd name="adj" fmla="val 9383"/>
              </a:avLst>
            </a:prstGeom>
            <a:solidFill>
              <a:srgbClr val="FFFFFF">
                <a:alpha val="90000"/>
              </a:srgbClr>
            </a:solidFill>
            <a:ln w="12700">
              <a:solidFill>
                <a:srgbClr val="2E4057">
                  <a:alpha val="10000"/>
                </a:srgbClr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0" name="Text 25">
              <a:extLst>
                <a:ext uri="{FF2B5EF4-FFF2-40B4-BE49-F238E27FC236}">
                  <a16:creationId xmlns:a16="http://schemas.microsoft.com/office/drawing/2014/main" id="{1F18C252-9E1D-40D4-BA03-798FD80AD54A}"/>
                </a:ext>
              </a:extLst>
            </p:cNvPr>
            <p:cNvSpPr txBox="1"/>
            <p:nvPr/>
          </p:nvSpPr>
          <p:spPr>
            <a:xfrm>
              <a:off x="1638604" y="2663654"/>
              <a:ext cx="258377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LEVERAGE 1: NETWORK</a:t>
              </a:r>
              <a:endParaRPr lang="en-US" sz="1400" dirty="0"/>
            </a:p>
          </p:txBody>
        </p:sp>
        <p:sp>
          <p:nvSpPr>
            <p:cNvPr id="11" name="Text 26">
              <a:extLst>
                <a:ext uri="{FF2B5EF4-FFF2-40B4-BE49-F238E27FC236}">
                  <a16:creationId xmlns:a16="http://schemas.microsoft.com/office/drawing/2014/main" id="{09A7CEF8-EADF-45A1-901B-A05B1D4A148C}"/>
                </a:ext>
              </a:extLst>
            </p:cNvPr>
            <p:cNvSpPr txBox="1"/>
            <p:nvPr/>
          </p:nvSpPr>
          <p:spPr>
            <a:xfrm>
              <a:off x="1262089" y="3083364"/>
              <a:ext cx="4179488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CASCADE EFFECT</a:t>
              </a:r>
            </a:p>
            <a:p>
              <a:pPr marL="0" indent="0" algn="l">
                <a:buNone/>
              </a:pPr>
              <a:r>
                <a:rPr lang="en-US" sz="12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Modifiying</a:t>
              </a:r>
              <a:r>
                <a:rPr lang="en-US" sz="1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1 Hub Food alters connected food intakes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E9DA3BC-1489-4119-B62B-9D9E18FFD72E}"/>
              </a:ext>
            </a:extLst>
          </p:cNvPr>
          <p:cNvGrpSpPr/>
          <p:nvPr/>
        </p:nvGrpSpPr>
        <p:grpSpPr>
          <a:xfrm>
            <a:off x="6831189" y="867786"/>
            <a:ext cx="3961670" cy="1027122"/>
            <a:chOff x="952805" y="2537883"/>
            <a:chExt cx="4488772" cy="1163781"/>
          </a:xfrm>
        </p:grpSpPr>
        <p:sp>
          <p:nvSpPr>
            <p:cNvPr id="14" name="Shape 23">
              <a:extLst>
                <a:ext uri="{FF2B5EF4-FFF2-40B4-BE49-F238E27FC236}">
                  <a16:creationId xmlns:a16="http://schemas.microsoft.com/office/drawing/2014/main" id="{79FBA19A-95F7-4E96-9958-74BC295B5B33}"/>
                </a:ext>
              </a:extLst>
            </p:cNvPr>
            <p:cNvSpPr/>
            <p:nvPr/>
          </p:nvSpPr>
          <p:spPr>
            <a:xfrm>
              <a:off x="952805" y="2537883"/>
              <a:ext cx="4488772" cy="1163781"/>
            </a:xfrm>
            <a:prstGeom prst="roundRect">
              <a:avLst>
                <a:gd name="adj" fmla="val 9383"/>
              </a:avLst>
            </a:prstGeom>
            <a:solidFill>
              <a:srgbClr val="FFFFFF">
                <a:alpha val="90000"/>
              </a:srgbClr>
            </a:solidFill>
            <a:ln w="12700">
              <a:solidFill>
                <a:srgbClr val="2E4057">
                  <a:alpha val="10000"/>
                </a:srgbClr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5" name="Text 25">
              <a:extLst>
                <a:ext uri="{FF2B5EF4-FFF2-40B4-BE49-F238E27FC236}">
                  <a16:creationId xmlns:a16="http://schemas.microsoft.com/office/drawing/2014/main" id="{6901D0C3-FF38-40EB-93F0-BD266F8B42C1}"/>
                </a:ext>
              </a:extLst>
            </p:cNvPr>
            <p:cNvSpPr txBox="1"/>
            <p:nvPr/>
          </p:nvSpPr>
          <p:spPr>
            <a:xfrm>
              <a:off x="1638604" y="2663654"/>
              <a:ext cx="258377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LEVERAGE 2: HEALTH</a:t>
              </a:r>
              <a:endParaRPr lang="en-US" sz="1400" dirty="0"/>
            </a:p>
          </p:txBody>
        </p:sp>
        <p:sp>
          <p:nvSpPr>
            <p:cNvPr id="16" name="Text 26">
              <a:extLst>
                <a:ext uri="{FF2B5EF4-FFF2-40B4-BE49-F238E27FC236}">
                  <a16:creationId xmlns:a16="http://schemas.microsoft.com/office/drawing/2014/main" id="{A335947E-7B89-4772-80C9-6183113B2354}"/>
                </a:ext>
              </a:extLst>
            </p:cNvPr>
            <p:cNvSpPr txBox="1"/>
            <p:nvPr/>
          </p:nvSpPr>
          <p:spPr>
            <a:xfrm>
              <a:off x="1262089" y="3083364"/>
              <a:ext cx="4179488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DIRECT OUTCOME</a:t>
              </a:r>
            </a:p>
            <a:p>
              <a:pPr marL="0" indent="0" algn="l">
                <a:buNone/>
              </a:pPr>
              <a:r>
                <a:rPr lang="en-US" sz="1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Hub modification directly improves biomarkers.</a:t>
              </a:r>
            </a:p>
          </p:txBody>
        </p:sp>
      </p:grpSp>
      <p:pic>
        <p:nvPicPr>
          <p:cNvPr id="5" name="그림 4" descr="원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2764BD-1865-A2DA-0E2E-3D8721CAE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5" t="5832" r="3035" b="3749"/>
          <a:stretch>
            <a:fillRect/>
          </a:stretch>
        </p:blipFill>
        <p:spPr>
          <a:xfrm>
            <a:off x="1035586" y="1886248"/>
            <a:ext cx="10120828" cy="48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4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4644</TotalTime>
  <Words>5970</Words>
  <Application>Microsoft Macintosh PowerPoint</Application>
  <PresentationFormat>와이드스크린</PresentationFormat>
  <Paragraphs>1680</Paragraphs>
  <Slides>15</Slides>
  <Notes>15</Notes>
  <HiddenSlides>2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Pretendard</vt:lpstr>
      <vt:lpstr>Wingdings</vt:lpstr>
      <vt:lpstr>Pretendard Medium</vt:lpstr>
      <vt:lpstr>Arial</vt:lpstr>
      <vt:lpstr>Pretendard SemiBold</vt:lpstr>
      <vt:lpstr>Pretendard Light</vt:lpstr>
      <vt:lpstr>Pretendard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희정 황</cp:lastModifiedBy>
  <cp:revision>18</cp:revision>
  <dcterms:created xsi:type="dcterms:W3CDTF">2025-11-21T11:42:12Z</dcterms:created>
  <dcterms:modified xsi:type="dcterms:W3CDTF">2025-11-29T14:20:49Z</dcterms:modified>
</cp:coreProperties>
</file>