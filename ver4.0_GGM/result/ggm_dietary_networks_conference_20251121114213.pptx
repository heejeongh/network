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72" r:id="rId6"/>
    <p:sldId id="273" r:id="rId7"/>
    <p:sldId id="265" r:id="rId8"/>
    <p:sldId id="274" r:id="rId9"/>
    <p:sldId id="268" r:id="rId10"/>
    <p:sldId id="270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86"/>
    <p:restoredTop sz="95970"/>
  </p:normalViewPr>
  <p:slideViewPr>
    <p:cSldViewPr snapToGrid="0" snapToObjects="1">
      <p:cViewPr>
        <p:scale>
          <a:sx n="89" d="100"/>
          <a:sy n="89" d="100"/>
        </p:scale>
        <p:origin x="984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7818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D762D-CDAA-ACD2-68F0-C8C125CDB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B60766-7EBC-5028-D78E-FE727B46C8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15E79-AC76-B8E7-99C7-AE8D9D9DC3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723A2-D827-B332-265B-D04915D7D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8461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C12E1-A090-6E0E-E84B-D62FE7E61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964C7F-13B1-3EC4-4F69-36C34DE1D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A90A9C-DD74-F237-0080-DBB106E08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0FF70-2C7E-AE97-E1B5-02EBD82C42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41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18E20-8F1C-FAE5-10C0-157E486C7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E72F72-C76A-1EBF-4041-5BEAA50674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CAAE55-D8A8-7619-686C-7AF9E0C6B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E8113F-2349-FED8-251D-BB1E17A7D1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5306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A04108EB-FC98-509E-B43C-CFC822587F4B}"/>
              </a:ext>
            </a:extLst>
          </p:cNvPr>
          <p:cNvGrpSpPr/>
          <p:nvPr/>
        </p:nvGrpSpPr>
        <p:grpSpPr>
          <a:xfrm>
            <a:off x="417311" y="1006006"/>
            <a:ext cx="11357378" cy="1056190"/>
            <a:chOff x="761695" y="1523849"/>
            <a:chExt cx="11357378" cy="1056190"/>
          </a:xfrm>
        </p:grpSpPr>
        <p:sp>
          <p:nvSpPr>
            <p:cNvPr id="4" name="Text 2"/>
            <p:cNvSpPr txBox="1"/>
            <p:nvPr/>
          </p:nvSpPr>
          <p:spPr>
            <a:xfrm>
              <a:off x="761695" y="1523849"/>
              <a:ext cx="1257300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100" dirty="0">
                  <a:solidFill>
                    <a:srgbClr val="0A254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연구 배경</a:t>
              </a:r>
              <a:endParaRPr lang="en-US" sz="2100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800099" y="1974728"/>
              <a:ext cx="11318974" cy="6053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전통적인</a:t>
              </a:r>
              <a:r>
                <a:rPr lang="en-US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식이 패턴 분석은 식품 간 복잡한 </a:t>
              </a:r>
              <a:r>
                <a:rPr lang="en-US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조건부</a:t>
              </a:r>
              <a:r>
                <a:rPr lang="en-US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의존성</a:t>
              </a:r>
              <a:r>
                <a:rPr lang="en-US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간과</a:t>
              </a:r>
              <a:r>
                <a:rPr lang="en-US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→ 실제 식품 간 관계 </a:t>
              </a:r>
              <a:r>
                <a:rPr lang="en-US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파악에</a:t>
              </a:r>
              <a:r>
                <a:rPr lang="en-US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한계</a:t>
              </a:r>
              <a:endParaRPr lang="en-US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허브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(hub) </a:t>
              </a: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식품이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인구통계학적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대사적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특성에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따라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어떻게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변화하는지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altLang="en-US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연구를 통해 </a:t>
              </a: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맞춤형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영양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개입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근거</a:t>
              </a:r>
              <a:r>
                <a:rPr lang="ko-KR" altLang="en-US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확보가 필요</a:t>
              </a:r>
              <a:endPara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5850B1B2-B6B1-F121-AF08-1E40D1B3FFBC}"/>
              </a:ext>
            </a:extLst>
          </p:cNvPr>
          <p:cNvGrpSpPr/>
          <p:nvPr/>
        </p:nvGrpSpPr>
        <p:grpSpPr>
          <a:xfrm>
            <a:off x="417311" y="4737279"/>
            <a:ext cx="11357378" cy="1419297"/>
            <a:chOff x="417311" y="4737279"/>
            <a:chExt cx="11357378" cy="1419297"/>
          </a:xfrm>
        </p:grpSpPr>
        <p:sp>
          <p:nvSpPr>
            <p:cNvPr id="6" name="Text 4"/>
            <p:cNvSpPr txBox="1"/>
            <p:nvPr/>
          </p:nvSpPr>
          <p:spPr>
            <a:xfrm>
              <a:off x="417311" y="4737279"/>
              <a:ext cx="1828800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indent="0">
                <a:buNone/>
                <a:defRPr sz="2100">
                  <a:solidFill>
                    <a:srgbClr val="0A254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defRPr>
              </a:lvl1pPr>
            </a:lstStyle>
            <a:p>
              <a:r>
                <a:rPr lang="en-US" dirty="0"/>
                <a:t>핵심 </a:t>
              </a:r>
              <a:r>
                <a:rPr lang="en-US" dirty="0" err="1"/>
                <a:t>연구</a:t>
              </a:r>
              <a:r>
                <a:rPr lang="en-US" dirty="0"/>
                <a:t> </a:t>
              </a:r>
              <a:r>
                <a:rPr lang="en-US" dirty="0" err="1"/>
                <a:t>질문</a:t>
              </a:r>
              <a:endParaRPr lang="en-US" dirty="0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417311" y="5118584"/>
              <a:ext cx="11357378" cy="10379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 algn="l">
                <a:buFont typeface="+mj-ea"/>
                <a:buAutoNum type="circleNumDbPlain"/>
              </a:pPr>
              <a:r>
                <a:rPr lang="en-US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식이</a:t>
              </a:r>
              <a:r>
                <a:rPr lang="en-US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네트워크에서 </a:t>
              </a:r>
              <a:r>
                <a:rPr lang="en-US" sz="1600" b="1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중심 허브 위치를 차지하는 식품</a:t>
              </a:r>
              <a:r>
                <a:rPr lang="en-US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이 무엇인지 </a:t>
              </a:r>
              <a:r>
                <a:rPr lang="en-US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규명함</a:t>
              </a:r>
              <a:r>
                <a:rPr lang="en-US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</a:p>
            <a:p>
              <a:pPr marL="342900" indent="-342900">
                <a:buFont typeface="+mj-ea"/>
                <a:buAutoNum type="circleNumDbPlain"/>
              </a:pP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허브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식품이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b="1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성별</a:t>
              </a:r>
              <a:r>
                <a:rPr lang="en-US" altLang="ko-KR" sz="1600" b="1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600" b="1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연령대</a:t>
              </a:r>
              <a:r>
                <a:rPr lang="en-US" altLang="ko-KR" sz="1600" b="1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b="1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및</a:t>
              </a:r>
              <a:r>
                <a:rPr lang="en-US" altLang="ko-KR" sz="1600" b="1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b="1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MetS</a:t>
              </a:r>
              <a:r>
                <a:rPr lang="en-US" altLang="ko-KR" sz="1600" b="1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b="1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유무에</a:t>
              </a:r>
              <a:r>
                <a:rPr lang="en-US" altLang="ko-KR" sz="1600" b="1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b="1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따라</a:t>
              </a:r>
              <a:r>
                <a:rPr lang="en-US" altLang="ko-KR" sz="1600" b="1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b="1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어떻게</a:t>
              </a:r>
              <a:r>
                <a:rPr lang="en-US" altLang="ko-KR" sz="1600" b="1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b="1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변화</a:t>
              </a: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하는지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분석함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</a:p>
            <a:p>
              <a:pPr marL="342900" indent="-342900">
                <a:buFont typeface="+mj-ea"/>
                <a:buAutoNum type="circleNumDbPlain"/>
              </a:pP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이러한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발견을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토대로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b="1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MetS</a:t>
              </a:r>
              <a:r>
                <a:rPr lang="en-US" altLang="ko-KR" sz="1600" b="1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b="1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유무에</a:t>
              </a:r>
              <a:r>
                <a:rPr lang="en-US" altLang="ko-KR" sz="1600" b="1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b="1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따른</a:t>
              </a:r>
              <a:r>
                <a:rPr lang="en-US" altLang="ko-KR" sz="1600" b="1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b="1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맞춤형</a:t>
              </a:r>
              <a:r>
                <a:rPr lang="en-US" altLang="ko-KR" sz="1600" b="1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b="1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영양</a:t>
              </a:r>
              <a:r>
                <a:rPr lang="en-US" altLang="ko-KR" sz="1600" b="1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b="1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코칭</a:t>
              </a:r>
              <a:r>
                <a:rPr lang="en-US" altLang="ko-KR" sz="1600" b="1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b="1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전략을</a:t>
              </a:r>
              <a:r>
                <a:rPr lang="en-US" altLang="ko-KR" sz="1600" b="1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600" b="1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도출</a:t>
              </a:r>
              <a:r>
                <a:rPr lang="en-US" altLang="ko-KR" sz="1600" dirty="0" err="1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함</a:t>
              </a:r>
              <a:r>
                <a:rPr lang="en-US" altLang="ko-KR" sz="1600" dirty="0">
                  <a:solidFill>
                    <a:srgbClr val="0A25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384DEEF-4405-3C8D-AA4C-088608842347}"/>
              </a:ext>
            </a:extLst>
          </p:cNvPr>
          <p:cNvGrpSpPr/>
          <p:nvPr/>
        </p:nvGrpSpPr>
        <p:grpSpPr>
          <a:xfrm>
            <a:off x="417311" y="2556629"/>
            <a:ext cx="11357378" cy="1686217"/>
            <a:chOff x="417311" y="2490075"/>
            <a:chExt cx="11357378" cy="1686217"/>
          </a:xfrm>
        </p:grpSpPr>
        <p:sp>
          <p:nvSpPr>
            <p:cNvPr id="5" name="Text 3"/>
            <p:cNvSpPr txBox="1"/>
            <p:nvPr/>
          </p:nvSpPr>
          <p:spPr>
            <a:xfrm>
              <a:off x="417311" y="2490075"/>
              <a:ext cx="1257300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indent="0">
                <a:buNone/>
                <a:defRPr sz="2100">
                  <a:solidFill>
                    <a:srgbClr val="0A254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defRPr>
              </a:lvl1pPr>
            </a:lstStyle>
            <a:p>
              <a:r>
                <a:rPr lang="en-US" dirty="0" err="1"/>
                <a:t>연구</a:t>
              </a:r>
              <a:r>
                <a:rPr lang="en-US" dirty="0"/>
                <a:t> </a:t>
              </a:r>
              <a:r>
                <a:rPr lang="en-US" dirty="0" err="1"/>
                <a:t>목표</a:t>
              </a:r>
              <a:endParaRPr lang="en-US" dirty="0"/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7675D379-873C-9229-AB30-D09CB497B422}"/>
                </a:ext>
              </a:extLst>
            </p:cNvPr>
            <p:cNvGrpSpPr/>
            <p:nvPr/>
          </p:nvGrpSpPr>
          <p:grpSpPr>
            <a:xfrm>
              <a:off x="417311" y="3004488"/>
              <a:ext cx="11357378" cy="1171804"/>
              <a:chOff x="761695" y="3743554"/>
              <a:chExt cx="11357378" cy="914400"/>
            </a:xfrm>
          </p:grpSpPr>
          <p:sp>
            <p:nvSpPr>
              <p:cNvPr id="12" name="Shape 10"/>
              <p:cNvSpPr/>
              <p:nvPr/>
            </p:nvSpPr>
            <p:spPr>
              <a:xfrm>
                <a:off x="761695" y="3743554"/>
                <a:ext cx="11357378" cy="914400"/>
              </a:xfrm>
              <a:prstGeom prst="rect">
                <a:avLst/>
              </a:prstGeom>
              <a:solidFill>
                <a:srgbClr val="F8F9FA"/>
              </a:solidFill>
              <a:ln/>
            </p:spPr>
            <p:txBody>
              <a:bodyPr anchor="ctr"/>
              <a:lstStyle/>
              <a:p>
                <a:pPr algn="ctr"/>
                <a:r>
                  <a:rPr lang="en-US" altLang="ko-KR" sz="1600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교차검증된</a:t>
                </a:r>
                <a:r>
                  <a:rPr lang="en-US" altLang="ko-KR" sz="1600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600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그래픽</a:t>
                </a:r>
                <a:r>
                  <a:rPr lang="en-US" altLang="ko-KR" sz="1600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600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라쏘를</a:t>
                </a:r>
                <a:r>
                  <a:rPr lang="en-US" altLang="ko-KR" sz="1600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600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사용한</a:t>
                </a:r>
                <a:r>
                  <a:rPr lang="en-US" altLang="ko-KR" sz="1600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600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준모수적</a:t>
                </a:r>
                <a:r>
                  <a:rPr lang="en-US" altLang="ko-KR" sz="1600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600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가우시안</a:t>
                </a:r>
                <a:r>
                  <a:rPr lang="en-US" altLang="ko-KR" sz="1600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600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코퓰라</a:t>
                </a:r>
                <a:r>
                  <a:rPr lang="en-US" altLang="ko-KR" sz="1600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600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그래픽</a:t>
                </a:r>
                <a:r>
                  <a:rPr lang="en-US" altLang="ko-KR" sz="1600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600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모형</a:t>
                </a:r>
                <a:r>
                  <a:rPr lang="en-US" altLang="ko-KR" sz="1600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(SGCGM)</a:t>
                </a:r>
                <a:r>
                  <a:rPr lang="en-US" altLang="ko-KR" sz="1600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을</a:t>
                </a:r>
                <a:r>
                  <a:rPr lang="en-US" altLang="ko-KR" sz="1600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600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적용</a:t>
                </a:r>
                <a:r>
                  <a:rPr lang="ko-KR" altLang="en-US" sz="1600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하여</a:t>
                </a:r>
                <a:r>
                  <a:rPr lang="en-US" altLang="ko-KR" sz="1600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,</a:t>
                </a:r>
              </a:p>
              <a:p>
                <a:pPr algn="ctr"/>
                <a:r>
                  <a:rPr lang="ko-KR" altLang="en-US" sz="1600" b="1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강남검진센터</a:t>
                </a:r>
                <a:r>
                  <a:rPr lang="en-US" altLang="ko-KR" sz="1600" b="1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ko-KR" altLang="en-US" sz="1600" b="1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수진자</a:t>
                </a:r>
                <a:r>
                  <a:rPr lang="ko-KR" altLang="en-US" sz="1600" b="1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집단에서 </a:t>
                </a:r>
                <a:r>
                  <a:rPr lang="en-US" altLang="ko-KR" sz="1600" b="1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성별</a:t>
                </a:r>
                <a:r>
                  <a:rPr lang="en-US" altLang="ko-KR" sz="1600" b="1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, </a:t>
                </a:r>
                <a:r>
                  <a:rPr lang="en-US" altLang="ko-KR" sz="1600" b="1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연령</a:t>
                </a:r>
                <a:r>
                  <a:rPr lang="en-US" altLang="ko-KR" sz="1600" b="1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, </a:t>
                </a:r>
                <a:r>
                  <a:rPr lang="en-US" altLang="ko-KR" sz="1600" b="1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대사증후군</a:t>
                </a:r>
                <a:r>
                  <a:rPr lang="en-US" altLang="ko-KR" sz="1600" b="1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(</a:t>
                </a:r>
                <a:r>
                  <a:rPr lang="en-US" altLang="ko-KR" sz="1600" b="1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MetS</a:t>
                </a:r>
                <a:r>
                  <a:rPr lang="en-US" altLang="ko-KR" sz="1600" b="1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) </a:t>
                </a:r>
                <a:r>
                  <a:rPr lang="en-US" altLang="ko-KR" sz="1600" b="1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상태에</a:t>
                </a:r>
                <a:r>
                  <a:rPr lang="en-US" altLang="ko-KR" sz="1600" b="1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600" b="1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따른</a:t>
                </a:r>
                <a:r>
                  <a:rPr lang="en-US" altLang="ko-KR" sz="1600" b="1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600" b="1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보편적</a:t>
                </a:r>
                <a:r>
                  <a:rPr lang="en-US" altLang="ko-KR" sz="1600" b="1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600" b="1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및</a:t>
                </a:r>
                <a:r>
                  <a:rPr lang="en-US" altLang="ko-KR" sz="1600" b="1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600" b="1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그룹별</a:t>
                </a:r>
                <a:r>
                  <a:rPr lang="en-US" altLang="ko-KR" sz="1600" b="1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600" b="1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특이적</a:t>
                </a:r>
                <a:r>
                  <a:rPr lang="en-US" altLang="ko-KR" sz="1600" b="1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600" b="1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허브</a:t>
                </a:r>
                <a:r>
                  <a:rPr lang="en-US" altLang="ko-KR" sz="1600" b="1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600" b="1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식품</a:t>
                </a:r>
                <a:r>
                  <a:rPr lang="en-US" altLang="ko-KR" sz="1600" b="1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600" b="1" dirty="0" err="1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규명</a:t>
                </a:r>
                <a:r>
                  <a:rPr lang="en-US" altLang="ko-KR" sz="1600" b="1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</a:p>
              <a:p>
                <a:pPr algn="ctr"/>
                <a:r>
                  <a:rPr lang="ko-KR" altLang="en-US" sz="1600" b="1" dirty="0">
                    <a:solidFill>
                      <a:srgbClr val="0A254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이를 통해 집단별 맞춤 식이 솔루션 도출</a:t>
                </a:r>
                <a:endParaRPr lang="en-US" altLang="ko-KR" sz="16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13" name="Shape 11"/>
              <p:cNvSpPr/>
              <p:nvPr/>
            </p:nvSpPr>
            <p:spPr>
              <a:xfrm>
                <a:off x="761695" y="3743554"/>
                <a:ext cx="38405" cy="914400"/>
              </a:xfrm>
              <a:prstGeom prst="rect">
                <a:avLst/>
              </a:prstGeom>
              <a:solidFill>
                <a:srgbClr val="0A2540"/>
              </a:solidFill>
              <a:ln/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cxnSp>
        <p:nvCxnSpPr>
          <p:cNvPr id="17" name="직선 연결선 15">
            <a:extLst>
              <a:ext uri="{FF2B5EF4-FFF2-40B4-BE49-F238E27FC236}">
                <a16:creationId xmlns:a16="http://schemas.microsoft.com/office/drawing/2014/main" id="{63677DC7-D183-C509-D1C7-E430298050CE}"/>
              </a:ext>
            </a:extLst>
          </p:cNvPr>
          <p:cNvCxnSpPr/>
          <p:nvPr/>
        </p:nvCxnSpPr>
        <p:spPr>
          <a:xfrm>
            <a:off x="0" y="647700"/>
            <a:ext cx="12192000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959C3EA-C490-F568-7E92-8203ECE7A8CC}"/>
              </a:ext>
            </a:extLst>
          </p:cNvPr>
          <p:cNvSpPr txBox="1"/>
          <p:nvPr/>
        </p:nvSpPr>
        <p:spPr>
          <a:xfrm>
            <a:off x="118865" y="128093"/>
            <a:ext cx="3905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Background &amp; Objectives</a:t>
            </a:r>
            <a:endParaRPr lang="en-US" altLang="ko-KR" sz="2400" b="1" dirty="0">
              <a:latin typeface="Pretendard ExtraBold" panose="02000503000000020004" pitchFamily="2" charset="-127"/>
              <a:ea typeface="Pretendard ExtraBold" panose="02000503000000020004" pitchFamily="2" charset="-127"/>
              <a:cs typeface="Pretendard ExtraBold" panose="02000503000000020004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417310" y="3929867"/>
            <a:ext cx="26773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100">
                <a:solidFill>
                  <a:srgbClr val="0A254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GGM </a:t>
            </a:r>
            <a:r>
              <a:rPr lang="en-US" dirty="0" err="1"/>
              <a:t>분석</a:t>
            </a:r>
            <a:r>
              <a:rPr lang="en-US" dirty="0"/>
              <a:t> </a:t>
            </a:r>
            <a:r>
              <a:rPr lang="en-US" dirty="0" err="1"/>
              <a:t>파이프라인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421114" y="1383628"/>
            <a:ext cx="5528424" cy="1846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대상</a:t>
            </a:r>
            <a:r>
              <a:rPr lang="en-US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22,964명 한국 </a:t>
            </a:r>
            <a:r>
              <a:rPr lang="en-US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성인</a:t>
            </a:r>
            <a:r>
              <a:rPr lang="en-US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(H-PEACE </a:t>
            </a:r>
            <a:r>
              <a:rPr lang="en-US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</a:t>
            </a:r>
            <a:r>
              <a:rPr lang="en-US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층화</a:t>
            </a:r>
            <a:r>
              <a:rPr lang="en-US" altLang="ko-KR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en-US" altLang="ko-KR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(2) × </a:t>
            </a:r>
            <a:r>
              <a:rPr lang="en-US" altLang="ko-KR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</a:t>
            </a:r>
            <a:r>
              <a:rPr lang="en-US" altLang="ko-KR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(3) × </a:t>
            </a:r>
            <a:r>
              <a:rPr lang="en-US" altLang="ko-KR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MetS</a:t>
            </a:r>
            <a:r>
              <a:rPr lang="en-US" altLang="ko-KR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(2) = 11개 </a:t>
            </a:r>
            <a:r>
              <a:rPr lang="en-US" altLang="ko-KR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endParaRPr lang="en-US" altLang="ko-KR" sz="1600" dirty="0">
              <a:solidFill>
                <a:srgbClr val="0A25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식품군</a:t>
            </a:r>
            <a:r>
              <a:rPr lang="en-US" altLang="ko-KR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12개 </a:t>
            </a:r>
            <a:r>
              <a:rPr lang="en-US" altLang="ko-KR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항목</a:t>
            </a:r>
            <a:r>
              <a:rPr lang="en-US" altLang="ko-KR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</a:t>
            </a:r>
            <a:endParaRPr lang="en-US" altLang="ko-KR" sz="1600" dirty="0">
              <a:solidFill>
                <a:srgbClr val="0A25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Grain, Protein, Vegetables, Dairy, Fruits, Fried, High Fat Meat, Processed, SSB, Salt Use, Salty/Sweet Food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17310" y="4402485"/>
            <a:ext cx="5300777" cy="1807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ct val="150000"/>
              </a:lnSpc>
              <a:buFont typeface="+mj-ea"/>
              <a:buAutoNum type="circleNumDbPlain"/>
            </a:pPr>
            <a:r>
              <a:rPr lang="en-US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Nonparanormal SKEPTIC: rank → Φ⁻¹(F̂(x)) </a:t>
            </a:r>
            <a:r>
              <a:rPr lang="en-US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변환</a:t>
            </a:r>
            <a:endParaRPr lang="en-US" sz="1600" dirty="0">
              <a:solidFill>
                <a:srgbClr val="0A25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Graphical Lasso: L1-penalized precision matrix </a:t>
            </a:r>
            <a:r>
              <a:rPr lang="en-US" altLang="ko-KR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추정</a:t>
            </a:r>
            <a:endParaRPr lang="en-US" altLang="ko-KR" sz="1600" dirty="0">
              <a:solidFill>
                <a:srgbClr val="0A25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5-fold CV: </a:t>
            </a:r>
            <a:r>
              <a:rPr lang="en-US" altLang="ko-KR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λ</a:t>
            </a:r>
            <a:r>
              <a:rPr lang="en-US" altLang="ko-KR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값</a:t>
            </a:r>
            <a:r>
              <a:rPr lang="en-US" altLang="ko-KR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(0.01-0.316) </a:t>
            </a:r>
            <a:r>
              <a:rPr lang="en-US" altLang="ko-KR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최적</a:t>
            </a:r>
            <a:r>
              <a:rPr lang="en-US" altLang="ko-KR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선택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Partial Correlations: |</a:t>
            </a:r>
            <a:r>
              <a:rPr lang="en-US" altLang="ko-KR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ρ</a:t>
            </a:r>
            <a:r>
              <a:rPr lang="en-US" altLang="ko-KR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| &gt; 0.10 </a:t>
            </a:r>
            <a:r>
              <a:rPr lang="en-US" altLang="ko-KR" sz="1600" dirty="0" err="1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기준</a:t>
            </a:r>
            <a:r>
              <a:rPr lang="en-US" altLang="ko-KR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Edge</a:t>
            </a:r>
            <a:r>
              <a:rPr lang="ko-KR" altLang="en-US" sz="1600" dirty="0">
                <a:solidFill>
                  <a:srgbClr val="0A25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설정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6" name="직선 연결선[R] 15">
            <a:extLst>
              <a:ext uri="{FF2B5EF4-FFF2-40B4-BE49-F238E27FC236}">
                <a16:creationId xmlns:a16="http://schemas.microsoft.com/office/drawing/2014/main" id="{3F728C75-8994-3544-E7F7-53CE552C4083}"/>
              </a:ext>
            </a:extLst>
          </p:cNvPr>
          <p:cNvCxnSpPr>
            <a:cxnSpLocks/>
          </p:cNvCxnSpPr>
          <p:nvPr/>
        </p:nvCxnSpPr>
        <p:spPr>
          <a:xfrm>
            <a:off x="6096000" y="783771"/>
            <a:ext cx="0" cy="5913912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5">
            <a:extLst>
              <a:ext uri="{FF2B5EF4-FFF2-40B4-BE49-F238E27FC236}">
                <a16:creationId xmlns:a16="http://schemas.microsoft.com/office/drawing/2014/main" id="{F7FB4DD4-AB9A-40B2-2CB0-1AD4BF954150}"/>
              </a:ext>
            </a:extLst>
          </p:cNvPr>
          <p:cNvCxnSpPr/>
          <p:nvPr/>
        </p:nvCxnSpPr>
        <p:spPr>
          <a:xfrm>
            <a:off x="0" y="647700"/>
            <a:ext cx="12192000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9F63CFF-7574-FBEE-EC2A-AC5A8CE2E48B}"/>
              </a:ext>
            </a:extLst>
          </p:cNvPr>
          <p:cNvSpPr txBox="1"/>
          <p:nvPr/>
        </p:nvSpPr>
        <p:spPr>
          <a:xfrm>
            <a:off x="118865" y="128093"/>
            <a:ext cx="37978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Study Design &amp; Methods</a:t>
            </a:r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457A59B0-3E07-F8EC-54D8-8447C5EDB795}"/>
              </a:ext>
            </a:extLst>
          </p:cNvPr>
          <p:cNvSpPr txBox="1"/>
          <p:nvPr/>
        </p:nvSpPr>
        <p:spPr>
          <a:xfrm>
            <a:off x="417310" y="1002323"/>
            <a:ext cx="12573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100">
                <a:solidFill>
                  <a:srgbClr val="0A254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 err="1"/>
              <a:t>연구</a:t>
            </a:r>
            <a:r>
              <a:rPr lang="en-US" dirty="0"/>
              <a:t> </a:t>
            </a:r>
            <a:r>
              <a:rPr lang="en-US" dirty="0" err="1"/>
              <a:t>설계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2">
            <a:extLst>
              <a:ext uri="{FF2B5EF4-FFF2-40B4-BE49-F238E27FC236}">
                <a16:creationId xmlns:a16="http://schemas.microsoft.com/office/drawing/2014/main" id="{2EFA68AF-6674-7629-7182-E480CE98B919}"/>
              </a:ext>
            </a:extLst>
          </p:cNvPr>
          <p:cNvSpPr/>
          <p:nvPr/>
        </p:nvSpPr>
        <p:spPr>
          <a:xfrm>
            <a:off x="286682" y="2334432"/>
            <a:ext cx="11408324" cy="1269430"/>
          </a:xfrm>
          <a:prstGeom prst="roundRect">
            <a:avLst>
              <a:gd name="adj" fmla="val 185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3">
            <a:extLst>
              <a:ext uri="{FF2B5EF4-FFF2-40B4-BE49-F238E27FC236}">
                <a16:creationId xmlns:a16="http://schemas.microsoft.com/office/drawing/2014/main" id="{62B320F9-DC0C-9D1B-2209-B859A4E1D020}"/>
              </a:ext>
            </a:extLst>
          </p:cNvPr>
          <p:cNvSpPr/>
          <p:nvPr/>
        </p:nvSpPr>
        <p:spPr>
          <a:xfrm>
            <a:off x="286682" y="2334432"/>
            <a:ext cx="57607" cy="126943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DAF92DAC-699E-E3A7-3405-7478FE8BE922}"/>
              </a:ext>
            </a:extLst>
          </p:cNvPr>
          <p:cNvGrpSpPr/>
          <p:nvPr/>
        </p:nvGrpSpPr>
        <p:grpSpPr>
          <a:xfrm>
            <a:off x="496994" y="2485811"/>
            <a:ext cx="6721754" cy="909089"/>
            <a:chOff x="972007" y="1340510"/>
            <a:chExt cx="6721754" cy="909089"/>
          </a:xfrm>
        </p:grpSpPr>
        <p:sp>
          <p:nvSpPr>
            <p:cNvPr id="56" name="Shape 12">
              <a:extLst>
                <a:ext uri="{FF2B5EF4-FFF2-40B4-BE49-F238E27FC236}">
                  <a16:creationId xmlns:a16="http://schemas.microsoft.com/office/drawing/2014/main" id="{3CEAD125-0A79-7E3D-9E93-35A3D24DB55D}"/>
                </a:ext>
              </a:extLst>
            </p:cNvPr>
            <p:cNvSpPr/>
            <p:nvPr/>
          </p:nvSpPr>
          <p:spPr>
            <a:xfrm>
              <a:off x="972007" y="1340510"/>
              <a:ext cx="342900" cy="342900"/>
            </a:xfrm>
            <a:prstGeom prst="ellipse">
              <a:avLst/>
            </a:prstGeom>
            <a:solidFill>
              <a:srgbClr val="0A2540"/>
            </a:solidFill>
            <a:ln/>
          </p:spPr>
          <p:txBody>
            <a:bodyPr lIns="0" tIns="0" rIns="0" bIns="0" anchor="ctr" anchorCtr="0"/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endParaRPr lang="ko-KR" altLang="en-US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57" name="Text 22">
              <a:extLst>
                <a:ext uri="{FF2B5EF4-FFF2-40B4-BE49-F238E27FC236}">
                  <a16:creationId xmlns:a16="http://schemas.microsoft.com/office/drawing/2014/main" id="{836D75CC-84C3-8178-904B-89B388F9540E}"/>
                </a:ext>
              </a:extLst>
            </p:cNvPr>
            <p:cNvSpPr txBox="1"/>
            <p:nvPr/>
          </p:nvSpPr>
          <p:spPr>
            <a:xfrm>
              <a:off x="1447495" y="1345082"/>
              <a:ext cx="3877056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Network Structure Heterogeneity</a:t>
              </a:r>
              <a:endParaRPr lang="en-US" sz="1800" dirty="0"/>
            </a:p>
          </p:txBody>
        </p:sp>
        <p:sp>
          <p:nvSpPr>
            <p:cNvPr id="58" name="Text 27">
              <a:extLst>
                <a:ext uri="{FF2B5EF4-FFF2-40B4-BE49-F238E27FC236}">
                  <a16:creationId xmlns:a16="http://schemas.microsoft.com/office/drawing/2014/main" id="{58DC6CC8-7578-436E-43B0-133DA0F3B920}"/>
                </a:ext>
              </a:extLst>
            </p:cNvPr>
            <p:cNvSpPr txBox="1"/>
            <p:nvPr/>
          </p:nvSpPr>
          <p:spPr>
            <a:xfrm>
              <a:off x="1447495" y="1673528"/>
              <a:ext cx="6246266" cy="5760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11개 그룹에서 네트워크 구조가 다양하게 나타남 (Edges: 9-14개, Density: 0.136-0.212)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그룹별로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네트워크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복잡성과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패턴의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명확성에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차이가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있음</a:t>
              </a:r>
              <a:endParaRPr lang="en-US" altLang="ko-KR" sz="1200" dirty="0">
                <a:solidFill>
                  <a:srgbClr val="0A254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  <a:p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  <a:sym typeface="Wingdings" pitchFamily="2" charset="2"/>
                </a:rPr>
                <a:t>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그룹별로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식이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패턴이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상이하므로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맞춤형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접근이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필요함</a:t>
              </a:r>
              <a:endParaRPr lang="en-US" altLang="ko-KR" sz="1200" dirty="0"/>
            </a:p>
          </p:txBody>
        </p:sp>
      </p:grpSp>
      <p:sp>
        <p:nvSpPr>
          <p:cNvPr id="74" name="Shape 2">
            <a:extLst>
              <a:ext uri="{FF2B5EF4-FFF2-40B4-BE49-F238E27FC236}">
                <a16:creationId xmlns:a16="http://schemas.microsoft.com/office/drawing/2014/main" id="{9E90926E-3F53-E50B-E660-70D3D830E6BD}"/>
              </a:ext>
            </a:extLst>
          </p:cNvPr>
          <p:cNvSpPr/>
          <p:nvPr/>
        </p:nvSpPr>
        <p:spPr>
          <a:xfrm>
            <a:off x="286682" y="878774"/>
            <a:ext cx="11447908" cy="1269430"/>
          </a:xfrm>
          <a:prstGeom prst="roundRect">
            <a:avLst>
              <a:gd name="adj" fmla="val 185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3">
            <a:extLst>
              <a:ext uri="{FF2B5EF4-FFF2-40B4-BE49-F238E27FC236}">
                <a16:creationId xmlns:a16="http://schemas.microsoft.com/office/drawing/2014/main" id="{DD211E7A-F908-1859-FFFB-09574275FC80}"/>
              </a:ext>
            </a:extLst>
          </p:cNvPr>
          <p:cNvSpPr/>
          <p:nvPr/>
        </p:nvSpPr>
        <p:spPr>
          <a:xfrm>
            <a:off x="286682" y="878774"/>
            <a:ext cx="57607" cy="126943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6266E655-95D8-1695-0309-F9B50508D285}"/>
              </a:ext>
            </a:extLst>
          </p:cNvPr>
          <p:cNvGrpSpPr/>
          <p:nvPr/>
        </p:nvGrpSpPr>
        <p:grpSpPr>
          <a:xfrm>
            <a:off x="496994" y="1030153"/>
            <a:ext cx="6721754" cy="909089"/>
            <a:chOff x="972007" y="1340510"/>
            <a:chExt cx="6721754" cy="909089"/>
          </a:xfrm>
        </p:grpSpPr>
        <p:sp>
          <p:nvSpPr>
            <p:cNvPr id="71" name="Shape 12">
              <a:extLst>
                <a:ext uri="{FF2B5EF4-FFF2-40B4-BE49-F238E27FC236}">
                  <a16:creationId xmlns:a16="http://schemas.microsoft.com/office/drawing/2014/main" id="{5F581276-AE4C-0C02-F8EB-96A937C7E493}"/>
                </a:ext>
              </a:extLst>
            </p:cNvPr>
            <p:cNvSpPr/>
            <p:nvPr/>
          </p:nvSpPr>
          <p:spPr>
            <a:xfrm>
              <a:off x="972007" y="1340510"/>
              <a:ext cx="342900" cy="342900"/>
            </a:xfrm>
            <a:prstGeom prst="ellipse">
              <a:avLst/>
            </a:prstGeom>
            <a:solidFill>
              <a:srgbClr val="0A2540"/>
            </a:solidFill>
            <a:ln/>
          </p:spPr>
          <p:txBody>
            <a:bodyPr lIns="0" tIns="0" rIns="0" bIns="0" anchor="ctr" anchorCtr="0"/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endParaRPr lang="ko-KR" altLang="en-US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72" name="Text 22">
              <a:extLst>
                <a:ext uri="{FF2B5EF4-FFF2-40B4-BE49-F238E27FC236}">
                  <a16:creationId xmlns:a16="http://schemas.microsoft.com/office/drawing/2014/main" id="{960D4942-CBB7-F796-6D13-1BD4F5B0AD8D}"/>
                </a:ext>
              </a:extLst>
            </p:cNvPr>
            <p:cNvSpPr txBox="1"/>
            <p:nvPr/>
          </p:nvSpPr>
          <p:spPr>
            <a:xfrm>
              <a:off x="1447495" y="1345082"/>
              <a:ext cx="3877056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Universal Hub Foods</a:t>
              </a:r>
              <a:endParaRPr lang="en-US" altLang="ko-KR" dirty="0"/>
            </a:p>
          </p:txBody>
        </p:sp>
        <p:sp>
          <p:nvSpPr>
            <p:cNvPr id="73" name="Text 27">
              <a:extLst>
                <a:ext uri="{FF2B5EF4-FFF2-40B4-BE49-F238E27FC236}">
                  <a16:creationId xmlns:a16="http://schemas.microsoft.com/office/drawing/2014/main" id="{1305366C-BA81-AA58-5DE0-B7032A790E7B}"/>
                </a:ext>
              </a:extLst>
            </p:cNvPr>
            <p:cNvSpPr txBox="1"/>
            <p:nvPr/>
          </p:nvSpPr>
          <p:spPr>
            <a:xfrm>
              <a:off x="1447495" y="1673528"/>
              <a:ext cx="6246266" cy="5760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•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튀김류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(Fried Foods): 7/11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그룹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(64%)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에서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상위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허브</a:t>
              </a:r>
              <a:endParaRPr lang="en-US" altLang="ko-KR" sz="1200" dirty="0"/>
            </a:p>
            <a:p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•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가공식품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(Processed Foods): 9/11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그룹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(82%)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에서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1위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허브</a:t>
              </a:r>
              <a:endParaRPr lang="en-US" altLang="ko-KR" sz="1200" dirty="0">
                <a:solidFill>
                  <a:srgbClr val="0A254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  <a:p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  <a:sym typeface="Wingdings" pitchFamily="2" charset="2"/>
                </a:rPr>
                <a:t>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그룹별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차이에도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불구하고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,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가공식품과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튀김류는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공통적으로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식이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네트워크의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중심임</a:t>
              </a:r>
              <a:endParaRPr lang="en-US" altLang="ko-KR" sz="1200" dirty="0"/>
            </a:p>
          </p:txBody>
        </p:sp>
      </p:grpSp>
      <p:sp>
        <p:nvSpPr>
          <p:cNvPr id="82" name="Shape 2">
            <a:extLst>
              <a:ext uri="{FF2B5EF4-FFF2-40B4-BE49-F238E27FC236}">
                <a16:creationId xmlns:a16="http://schemas.microsoft.com/office/drawing/2014/main" id="{794C2029-CD77-02C1-F8D0-2E1EAD659F75}"/>
              </a:ext>
            </a:extLst>
          </p:cNvPr>
          <p:cNvSpPr/>
          <p:nvPr/>
        </p:nvSpPr>
        <p:spPr>
          <a:xfrm>
            <a:off x="286682" y="3790090"/>
            <a:ext cx="11408324" cy="1269430"/>
          </a:xfrm>
          <a:prstGeom prst="roundRect">
            <a:avLst>
              <a:gd name="adj" fmla="val 185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3">
            <a:extLst>
              <a:ext uri="{FF2B5EF4-FFF2-40B4-BE49-F238E27FC236}">
                <a16:creationId xmlns:a16="http://schemas.microsoft.com/office/drawing/2014/main" id="{5C829686-EAB4-EE2B-487B-014F4E3219FF}"/>
              </a:ext>
            </a:extLst>
          </p:cNvPr>
          <p:cNvSpPr/>
          <p:nvPr/>
        </p:nvSpPr>
        <p:spPr>
          <a:xfrm>
            <a:off x="286682" y="3790090"/>
            <a:ext cx="57607" cy="126943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44C535A3-34D3-BA2F-937F-09BB8811CEFB}"/>
              </a:ext>
            </a:extLst>
          </p:cNvPr>
          <p:cNvGrpSpPr/>
          <p:nvPr/>
        </p:nvGrpSpPr>
        <p:grpSpPr>
          <a:xfrm>
            <a:off x="496994" y="3941469"/>
            <a:ext cx="6721754" cy="909089"/>
            <a:chOff x="972007" y="1340510"/>
            <a:chExt cx="6721754" cy="909089"/>
          </a:xfrm>
        </p:grpSpPr>
        <p:sp>
          <p:nvSpPr>
            <p:cNvPr id="79" name="Shape 12">
              <a:extLst>
                <a:ext uri="{FF2B5EF4-FFF2-40B4-BE49-F238E27FC236}">
                  <a16:creationId xmlns:a16="http://schemas.microsoft.com/office/drawing/2014/main" id="{9EB36FF9-57DA-96F7-9F46-B754BBECD38D}"/>
                </a:ext>
              </a:extLst>
            </p:cNvPr>
            <p:cNvSpPr/>
            <p:nvPr/>
          </p:nvSpPr>
          <p:spPr>
            <a:xfrm>
              <a:off x="972007" y="1340510"/>
              <a:ext cx="342900" cy="342900"/>
            </a:xfrm>
            <a:prstGeom prst="ellipse">
              <a:avLst/>
            </a:prstGeom>
            <a:solidFill>
              <a:srgbClr val="0A2540"/>
            </a:solidFill>
            <a:ln/>
          </p:spPr>
          <p:txBody>
            <a:bodyPr lIns="0" tIns="0" rIns="0" bIns="0" anchor="ctr" anchorCtr="0"/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endParaRPr lang="ko-KR" altLang="en-US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80" name="Text 22">
              <a:extLst>
                <a:ext uri="{FF2B5EF4-FFF2-40B4-BE49-F238E27FC236}">
                  <a16:creationId xmlns:a16="http://schemas.microsoft.com/office/drawing/2014/main" id="{22FAB2B8-F379-5058-02DE-35A2CCDCD577}"/>
                </a:ext>
              </a:extLst>
            </p:cNvPr>
            <p:cNvSpPr txBox="1"/>
            <p:nvPr/>
          </p:nvSpPr>
          <p:spPr>
            <a:xfrm>
              <a:off x="1447495" y="1345082"/>
              <a:ext cx="3877056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Age-Related Hub Transitions</a:t>
              </a:r>
              <a:endParaRPr lang="en-US" altLang="ko-KR" dirty="0"/>
            </a:p>
          </p:txBody>
        </p:sp>
        <p:sp>
          <p:nvSpPr>
            <p:cNvPr id="81" name="Text 27">
              <a:extLst>
                <a:ext uri="{FF2B5EF4-FFF2-40B4-BE49-F238E27FC236}">
                  <a16:creationId xmlns:a16="http://schemas.microsoft.com/office/drawing/2014/main" id="{371CC4C4-06F0-CB15-B1EE-C0B23D144558}"/>
                </a:ext>
              </a:extLst>
            </p:cNvPr>
            <p:cNvSpPr txBox="1"/>
            <p:nvPr/>
          </p:nvSpPr>
          <p:spPr>
            <a:xfrm>
              <a:off x="1447495" y="1673528"/>
              <a:ext cx="6246266" cy="5760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연령 증가 시 곡물의 허브 지위가 상승함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튀김류는 연령 증가 시 감소하는 경향을 보임</a:t>
              </a:r>
            </a:p>
            <a:p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  <a:sym typeface="Wingdings" pitchFamily="2" charset="2"/>
                </a:rPr>
                <a:t>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연령대별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맞춤형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영양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중재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전략이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필요함</a:t>
              </a:r>
              <a:endParaRPr lang="en-US" altLang="ko-KR" sz="1200" dirty="0"/>
            </a:p>
          </p:txBody>
        </p:sp>
      </p:grpSp>
      <p:sp>
        <p:nvSpPr>
          <p:cNvPr id="90" name="Shape 2">
            <a:extLst>
              <a:ext uri="{FF2B5EF4-FFF2-40B4-BE49-F238E27FC236}">
                <a16:creationId xmlns:a16="http://schemas.microsoft.com/office/drawing/2014/main" id="{12936C80-7961-8C09-F326-E7DBF8274231}"/>
              </a:ext>
            </a:extLst>
          </p:cNvPr>
          <p:cNvSpPr/>
          <p:nvPr/>
        </p:nvSpPr>
        <p:spPr>
          <a:xfrm>
            <a:off x="286682" y="5245747"/>
            <a:ext cx="11408324" cy="1269430"/>
          </a:xfrm>
          <a:prstGeom prst="roundRect">
            <a:avLst>
              <a:gd name="adj" fmla="val 185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" name="Shape 3">
            <a:extLst>
              <a:ext uri="{FF2B5EF4-FFF2-40B4-BE49-F238E27FC236}">
                <a16:creationId xmlns:a16="http://schemas.microsoft.com/office/drawing/2014/main" id="{035B7480-8396-9241-BF4E-6141F3EF83DE}"/>
              </a:ext>
            </a:extLst>
          </p:cNvPr>
          <p:cNvSpPr/>
          <p:nvPr/>
        </p:nvSpPr>
        <p:spPr>
          <a:xfrm>
            <a:off x="286682" y="5245747"/>
            <a:ext cx="57607" cy="126943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F80A1764-9821-0344-08C1-991BA3CAAF33}"/>
              </a:ext>
            </a:extLst>
          </p:cNvPr>
          <p:cNvGrpSpPr/>
          <p:nvPr/>
        </p:nvGrpSpPr>
        <p:grpSpPr>
          <a:xfrm>
            <a:off x="496994" y="5397126"/>
            <a:ext cx="6721754" cy="909089"/>
            <a:chOff x="972007" y="1340510"/>
            <a:chExt cx="6721754" cy="909089"/>
          </a:xfrm>
        </p:grpSpPr>
        <p:sp>
          <p:nvSpPr>
            <p:cNvPr id="87" name="Shape 12">
              <a:extLst>
                <a:ext uri="{FF2B5EF4-FFF2-40B4-BE49-F238E27FC236}">
                  <a16:creationId xmlns:a16="http://schemas.microsoft.com/office/drawing/2014/main" id="{197FC285-BEE6-7470-4451-9E4F84943B41}"/>
                </a:ext>
              </a:extLst>
            </p:cNvPr>
            <p:cNvSpPr/>
            <p:nvPr/>
          </p:nvSpPr>
          <p:spPr>
            <a:xfrm>
              <a:off x="972007" y="1340510"/>
              <a:ext cx="342900" cy="342900"/>
            </a:xfrm>
            <a:prstGeom prst="ellipse">
              <a:avLst/>
            </a:prstGeom>
            <a:solidFill>
              <a:srgbClr val="0A2540"/>
            </a:solidFill>
            <a:ln/>
          </p:spPr>
          <p:txBody>
            <a:bodyPr lIns="0" tIns="0" rIns="0" bIns="0" anchor="ctr" anchorCtr="0"/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</a:t>
              </a:r>
              <a:endParaRPr lang="ko-KR" altLang="en-US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88" name="Text 22">
              <a:extLst>
                <a:ext uri="{FF2B5EF4-FFF2-40B4-BE49-F238E27FC236}">
                  <a16:creationId xmlns:a16="http://schemas.microsoft.com/office/drawing/2014/main" id="{F99442B2-6A4A-4D7B-28F7-3276553731A8}"/>
                </a:ext>
              </a:extLst>
            </p:cNvPr>
            <p:cNvSpPr txBox="1"/>
            <p:nvPr/>
          </p:nvSpPr>
          <p:spPr>
            <a:xfrm>
              <a:off x="1447495" y="1345082"/>
              <a:ext cx="3877056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MetS</a:t>
              </a:r>
              <a:r>
                <a:rPr lang="en-US" altLang="ko-KR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-Specific Dietary Patterns</a:t>
              </a:r>
              <a:endParaRPr lang="en-US" altLang="ko-KR" dirty="0"/>
            </a:p>
          </p:txBody>
        </p:sp>
        <p:sp>
          <p:nvSpPr>
            <p:cNvPr id="89" name="Text 27">
              <a:extLst>
                <a:ext uri="{FF2B5EF4-FFF2-40B4-BE49-F238E27FC236}">
                  <a16:creationId xmlns:a16="http://schemas.microsoft.com/office/drawing/2014/main" id="{F0ACCDB5-68FA-D763-AD2C-135B674D9993}"/>
                </a:ext>
              </a:extLst>
            </p:cNvPr>
            <p:cNvSpPr txBox="1"/>
            <p:nvPr/>
          </p:nvSpPr>
          <p:spPr>
            <a:xfrm>
              <a:off x="1447495" y="1673528"/>
              <a:ext cx="6246266" cy="5760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동일 성별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/</a:t>
              </a:r>
              <a:r>
                <a:rPr lang="ko-KR" altLang="en-US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연령대 내에서도 </a:t>
              </a:r>
              <a:r>
                <a:rPr lang="en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MetS</a:t>
              </a:r>
              <a:r>
                <a:rPr lang="en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ko-KR" altLang="en-US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유무에 따라 네트워크 구조 및 </a:t>
              </a:r>
              <a:r>
                <a:rPr lang="en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Hub </a:t>
              </a:r>
              <a:r>
                <a:rPr lang="ko-KR" altLang="en-US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식품이 다름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MetS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(-)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그룹이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MetS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(+)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그룹보다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더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복잡한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네트워크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구조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(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평균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더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많은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edges, </a:t>
              </a:r>
              <a:r>
                <a:rPr lang="en-US" altLang="ko-KR" sz="1200" dirty="0" err="1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높은</a:t>
              </a:r>
              <a:r>
                <a:rPr lang="en-US" altLang="ko-KR" sz="1200" dirty="0">
                  <a:solidFill>
                    <a:srgbClr val="0A2540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density)</a:t>
              </a:r>
              <a:endParaRPr lang="ko-KR" altLang="en-US" sz="1200" dirty="0">
                <a:solidFill>
                  <a:srgbClr val="0A254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  <a:p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  <a:sym typeface="Wingdings" pitchFamily="2" charset="2"/>
                </a:rPr>
                <a:t>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각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성별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/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연령대별로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MetS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상태에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따른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맞춤형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코칭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전략이</a:t>
              </a:r>
              <a:r>
                <a:rPr lang="en-US" altLang="ko-KR" sz="1200" dirty="0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rgbClr val="1A56DB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필요함</a:t>
              </a:r>
              <a:endParaRPr lang="en-US" altLang="ko-KR" sz="1200" dirty="0"/>
            </a:p>
          </p:txBody>
        </p:sp>
      </p:grpSp>
      <p:cxnSp>
        <p:nvCxnSpPr>
          <p:cNvPr id="92" name="직선 연결선 15">
            <a:extLst>
              <a:ext uri="{FF2B5EF4-FFF2-40B4-BE49-F238E27FC236}">
                <a16:creationId xmlns:a16="http://schemas.microsoft.com/office/drawing/2014/main" id="{03585029-48E5-FC56-588B-EA59EA4764E0}"/>
              </a:ext>
            </a:extLst>
          </p:cNvPr>
          <p:cNvCxnSpPr/>
          <p:nvPr/>
        </p:nvCxnSpPr>
        <p:spPr>
          <a:xfrm>
            <a:off x="0" y="647700"/>
            <a:ext cx="12192000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3F315BD2-9717-BB8D-499A-B401911A8504}"/>
              </a:ext>
            </a:extLst>
          </p:cNvPr>
          <p:cNvSpPr txBox="1"/>
          <p:nvPr/>
        </p:nvSpPr>
        <p:spPr>
          <a:xfrm>
            <a:off x="118865" y="128093"/>
            <a:ext cx="1285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Results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 txBox="1"/>
          <p:nvPr/>
        </p:nvSpPr>
        <p:spPr>
          <a:xfrm>
            <a:off x="301201" y="5778055"/>
            <a:ext cx="569946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Figure 1A.남성 6개 </a:t>
            </a:r>
            <a:r>
              <a:rPr lang="en-US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그룹</a:t>
            </a:r>
            <a:r>
              <a:rPr 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네트워크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.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각</a:t>
            </a:r>
            <a:r>
              <a:rPr 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노드는 12개 </a:t>
            </a:r>
            <a:r>
              <a:rPr lang="en-US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식품군을</a:t>
            </a:r>
            <a:r>
              <a:rPr 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나타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내고</a:t>
            </a:r>
            <a:r>
              <a:rPr 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간선은 |부분상관| &gt; 0.10의 직접 </a:t>
            </a:r>
            <a:r>
              <a:rPr lang="en-US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연관성을</a:t>
            </a:r>
            <a:r>
              <a:rPr 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의미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하며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</a:t>
            </a:r>
            <a:r>
              <a:rPr 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노드 색상은 degree centrality </a:t>
            </a:r>
            <a:r>
              <a:rPr lang="en-US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값을</a:t>
            </a:r>
            <a:r>
              <a:rPr 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반영함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.</a:t>
            </a:r>
            <a:r>
              <a:rPr 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남성</a:t>
            </a:r>
            <a:r>
              <a:rPr 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그룹에서는 청년층에서 장년층으로 갈수록 네트워크 밀도가 감소하는 경향이 뚜렷함.</a:t>
            </a:r>
            <a:endParaRPr lang="en-US" sz="1300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CE8DC32-D119-9578-5C8B-C63F077AD8DD}"/>
              </a:ext>
            </a:extLst>
          </p:cNvPr>
          <p:cNvGrpSpPr/>
          <p:nvPr/>
        </p:nvGrpSpPr>
        <p:grpSpPr>
          <a:xfrm>
            <a:off x="299522" y="1435415"/>
            <a:ext cx="5702824" cy="4065092"/>
            <a:chOff x="350878" y="1671783"/>
            <a:chExt cx="6026506" cy="4295819"/>
          </a:xfrm>
        </p:grpSpPr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E304F501-2D6E-2A2E-B344-D53AA49C6ED0}"/>
                </a:ext>
              </a:extLst>
            </p:cNvPr>
            <p:cNvGrpSpPr/>
            <p:nvPr/>
          </p:nvGrpSpPr>
          <p:grpSpPr>
            <a:xfrm>
              <a:off x="350878" y="5776492"/>
              <a:ext cx="6026506" cy="191110"/>
              <a:chOff x="761695" y="5776492"/>
              <a:chExt cx="6026506" cy="191110"/>
            </a:xfrm>
          </p:grpSpPr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730001CE-6C67-6691-03ED-4E32DCEADAA7}"/>
                  </a:ext>
                </a:extLst>
              </p:cNvPr>
              <p:cNvGrpSpPr/>
              <p:nvPr/>
            </p:nvGrpSpPr>
            <p:grpSpPr>
              <a:xfrm>
                <a:off x="761695" y="5776492"/>
                <a:ext cx="1811218" cy="191110"/>
                <a:chOff x="2933548" y="5776492"/>
                <a:chExt cx="1811218" cy="191110"/>
              </a:xfrm>
            </p:grpSpPr>
            <p:sp>
              <p:nvSpPr>
                <p:cNvPr id="7" name="Shape 4"/>
                <p:cNvSpPr/>
                <p:nvPr/>
              </p:nvSpPr>
              <p:spPr>
                <a:xfrm>
                  <a:off x="2933548" y="5819469"/>
                  <a:ext cx="114300" cy="114300"/>
                </a:xfrm>
                <a:prstGeom prst="ellipse">
                  <a:avLst/>
                </a:prstGeom>
                <a:solidFill>
                  <a:srgbClr val="FF5252"/>
                </a:solidFill>
                <a:ln/>
              </p:spPr>
              <p:txBody>
                <a:bodyPr/>
                <a:lstStyle/>
                <a:p>
                  <a:endParaRPr lang="ko-KR" altLang="en-US" sz="1600"/>
                </a:p>
              </p:txBody>
            </p:sp>
            <p:sp>
              <p:nvSpPr>
                <p:cNvPr id="8" name="Text 5"/>
                <p:cNvSpPr txBox="1"/>
                <p:nvPr/>
              </p:nvSpPr>
              <p:spPr>
                <a:xfrm>
                  <a:off x="3105455" y="5776492"/>
                  <a:ext cx="1639311" cy="19111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900" dirty="0">
                      <a:solidFill>
                        <a:srgbClr val="546E7A"/>
                      </a:solidFill>
                      <a:latin typeface="Pretendard Medium" panose="02000503000000020004" pitchFamily="2" charset="-127"/>
                      <a:ea typeface="Pretendard Medium" panose="02000503000000020004" pitchFamily="2" charset="-127"/>
                      <a:cs typeface="Pretendard Medium" panose="02000503000000020004" pitchFamily="2" charset="-127"/>
                    </a:rPr>
                    <a:t>높은 중심성 (High Centrality)</a:t>
                  </a:r>
                  <a:endParaRPr lang="en-US" sz="900" dirty="0"/>
                </a:p>
              </p:txBody>
            </p:sp>
          </p:grpSp>
          <p:grpSp>
            <p:nvGrpSpPr>
              <p:cNvPr id="22" name="그룹 21">
                <a:extLst>
                  <a:ext uri="{FF2B5EF4-FFF2-40B4-BE49-F238E27FC236}">
                    <a16:creationId xmlns:a16="http://schemas.microsoft.com/office/drawing/2014/main" id="{26B8DFD7-2396-DBC4-67C3-B3D7259D64BE}"/>
                  </a:ext>
                </a:extLst>
              </p:cNvPr>
              <p:cNvGrpSpPr/>
              <p:nvPr/>
            </p:nvGrpSpPr>
            <p:grpSpPr>
              <a:xfrm>
                <a:off x="2781853" y="5776492"/>
                <a:ext cx="1989735" cy="191110"/>
                <a:chOff x="5224120" y="5776492"/>
                <a:chExt cx="1989735" cy="191110"/>
              </a:xfrm>
            </p:grpSpPr>
            <p:sp>
              <p:nvSpPr>
                <p:cNvPr id="9" name="Text 6"/>
                <p:cNvSpPr txBox="1"/>
                <p:nvPr/>
              </p:nvSpPr>
              <p:spPr>
                <a:xfrm>
                  <a:off x="5396027" y="5776492"/>
                  <a:ext cx="1817828" cy="19111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900" dirty="0">
                      <a:solidFill>
                        <a:srgbClr val="546E7A"/>
                      </a:solidFill>
                      <a:latin typeface="Pretendard Medium" panose="02000503000000020004" pitchFamily="2" charset="-127"/>
                      <a:ea typeface="Pretendard Medium" panose="02000503000000020004" pitchFamily="2" charset="-127"/>
                      <a:cs typeface="Pretendard Medium" panose="02000503000000020004" pitchFamily="2" charset="-127"/>
                    </a:rPr>
                    <a:t>중간 중심성 (Medium Centrality)</a:t>
                  </a:r>
                  <a:endParaRPr lang="en-US" sz="900" dirty="0"/>
                </a:p>
              </p:txBody>
            </p:sp>
            <p:sp>
              <p:nvSpPr>
                <p:cNvPr id="11" name="Shape 8"/>
                <p:cNvSpPr/>
                <p:nvPr/>
              </p:nvSpPr>
              <p:spPr>
                <a:xfrm>
                  <a:off x="5224120" y="5819469"/>
                  <a:ext cx="114300" cy="114300"/>
                </a:xfrm>
                <a:prstGeom prst="ellipse">
                  <a:avLst/>
                </a:prstGeom>
                <a:solidFill>
                  <a:srgbClr val="FF9800"/>
                </a:solidFill>
                <a:ln/>
              </p:spPr>
              <p:txBody>
                <a:bodyPr/>
                <a:lstStyle/>
                <a:p>
                  <a:endParaRPr lang="ko-KR" altLang="en-US" sz="1600" dirty="0"/>
                </a:p>
              </p:txBody>
            </p:sp>
          </p:grpSp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F013139E-1200-629A-1F65-A6AE9BF7C507}"/>
                  </a:ext>
                </a:extLst>
              </p:cNvPr>
              <p:cNvGrpSpPr/>
              <p:nvPr/>
            </p:nvGrpSpPr>
            <p:grpSpPr>
              <a:xfrm>
                <a:off x="4976662" y="5776492"/>
                <a:ext cx="1811539" cy="191110"/>
                <a:chOff x="7295942" y="5776492"/>
                <a:chExt cx="1811539" cy="191110"/>
              </a:xfrm>
            </p:grpSpPr>
            <p:sp>
              <p:nvSpPr>
                <p:cNvPr id="10" name="Text 7"/>
                <p:cNvSpPr txBox="1"/>
                <p:nvPr/>
              </p:nvSpPr>
              <p:spPr>
                <a:xfrm>
                  <a:off x="7471715" y="5776492"/>
                  <a:ext cx="1635766" cy="19111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900" dirty="0">
                      <a:solidFill>
                        <a:srgbClr val="546E7A"/>
                      </a:solidFill>
                      <a:latin typeface="Pretendard Medium" panose="02000503000000020004" pitchFamily="2" charset="-127"/>
                      <a:ea typeface="Pretendard Medium" panose="02000503000000020004" pitchFamily="2" charset="-127"/>
                      <a:cs typeface="Pretendard Medium" panose="02000503000000020004" pitchFamily="2" charset="-127"/>
                    </a:rPr>
                    <a:t>낮은 중심성 (Low Centrality)</a:t>
                  </a:r>
                  <a:endParaRPr lang="en-US" sz="900" dirty="0"/>
                </a:p>
              </p:txBody>
            </p:sp>
            <p:sp>
              <p:nvSpPr>
                <p:cNvPr id="12" name="Shape 9"/>
                <p:cNvSpPr/>
                <p:nvPr/>
              </p:nvSpPr>
              <p:spPr>
                <a:xfrm>
                  <a:off x="7295942" y="5819469"/>
                  <a:ext cx="114300" cy="114300"/>
                </a:xfrm>
                <a:prstGeom prst="ellipse">
                  <a:avLst/>
                </a:prstGeom>
                <a:solidFill>
                  <a:srgbClr val="FFD600"/>
                </a:solidFill>
                <a:ln/>
              </p:spPr>
              <p:txBody>
                <a:bodyPr/>
                <a:lstStyle/>
                <a:p>
                  <a:endParaRPr lang="ko-KR" altLang="en-US" sz="1600"/>
                </a:p>
              </p:txBody>
            </p:sp>
          </p:grpSp>
        </p:grpSp>
        <p:pic>
          <p:nvPicPr>
            <p:cNvPr id="16" name="그림 15" descr="스크린샷, 천문학, 별, 밤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E021E0E2-3165-21E2-08BB-41D9BFB56C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0538"/>
            <a:stretch>
              <a:fillRect/>
            </a:stretch>
          </p:blipFill>
          <p:spPr>
            <a:xfrm>
              <a:off x="354422" y="1671783"/>
              <a:ext cx="6022962" cy="3975214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122C31B0-E9F2-FF40-9ADA-9ACEEDF306D2}"/>
              </a:ext>
            </a:extLst>
          </p:cNvPr>
          <p:cNvSpPr txBox="1"/>
          <p:nvPr/>
        </p:nvSpPr>
        <p:spPr>
          <a:xfrm>
            <a:off x="118865" y="820173"/>
            <a:ext cx="280891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algn="r">
              <a:buNone/>
              <a:defRPr sz="1400">
                <a:solidFill>
                  <a:schemeClr val="bg2">
                    <a:lumMod val="2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marL="285750" indent="-285750" algn="l">
              <a:buFont typeface="Wingdings" pitchFamily="2" charset="2"/>
              <a:buChar char="v"/>
            </a:pPr>
            <a:r>
              <a:rPr lang="ko-KR" altLang="en-US" sz="1600" b="1" dirty="0"/>
              <a:t>식이 네트워크 결과 </a:t>
            </a:r>
            <a:r>
              <a:rPr lang="en-US" altLang="ko-KR" sz="1600" b="1" dirty="0"/>
              <a:t>_</a:t>
            </a:r>
            <a:r>
              <a:rPr lang="ko-KR" altLang="en-US" sz="1600" b="1" dirty="0"/>
              <a:t> 남성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0A35D071-4B9F-2DEE-8649-CA74D84CE3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853668"/>
              </p:ext>
            </p:extLst>
          </p:nvPr>
        </p:nvGraphicFramePr>
        <p:xfrm>
          <a:off x="6189653" y="1435415"/>
          <a:ext cx="5699469" cy="4065091"/>
        </p:xfrm>
        <a:graphic>
          <a:graphicData uri="http://schemas.openxmlformats.org/drawingml/2006/table">
            <a:tbl>
              <a:tblPr/>
              <a:tblGrid>
                <a:gridCol w="507088">
                  <a:extLst>
                    <a:ext uri="{9D8B030D-6E8A-4147-A177-3AD203B41FA5}">
                      <a16:colId xmlns:a16="http://schemas.microsoft.com/office/drawing/2014/main" val="4146107751"/>
                    </a:ext>
                  </a:extLst>
                </a:gridCol>
                <a:gridCol w="558369">
                  <a:extLst>
                    <a:ext uri="{9D8B030D-6E8A-4147-A177-3AD203B41FA5}">
                      <a16:colId xmlns:a16="http://schemas.microsoft.com/office/drawing/2014/main" val="913081219"/>
                    </a:ext>
                  </a:extLst>
                </a:gridCol>
                <a:gridCol w="534380">
                  <a:extLst>
                    <a:ext uri="{9D8B030D-6E8A-4147-A177-3AD203B41FA5}">
                      <a16:colId xmlns:a16="http://schemas.microsoft.com/office/drawing/2014/main" val="3169436604"/>
                    </a:ext>
                  </a:extLst>
                </a:gridCol>
                <a:gridCol w="512454">
                  <a:extLst>
                    <a:ext uri="{9D8B030D-6E8A-4147-A177-3AD203B41FA5}">
                      <a16:colId xmlns:a16="http://schemas.microsoft.com/office/drawing/2014/main" val="965444893"/>
                    </a:ext>
                  </a:extLst>
                </a:gridCol>
                <a:gridCol w="512454">
                  <a:extLst>
                    <a:ext uri="{9D8B030D-6E8A-4147-A177-3AD203B41FA5}">
                      <a16:colId xmlns:a16="http://schemas.microsoft.com/office/drawing/2014/main" val="646113624"/>
                    </a:ext>
                  </a:extLst>
                </a:gridCol>
                <a:gridCol w="768681">
                  <a:extLst>
                    <a:ext uri="{9D8B030D-6E8A-4147-A177-3AD203B41FA5}">
                      <a16:colId xmlns:a16="http://schemas.microsoft.com/office/drawing/2014/main" val="931607278"/>
                    </a:ext>
                  </a:extLst>
                </a:gridCol>
                <a:gridCol w="768681">
                  <a:extLst>
                    <a:ext uri="{9D8B030D-6E8A-4147-A177-3AD203B41FA5}">
                      <a16:colId xmlns:a16="http://schemas.microsoft.com/office/drawing/2014/main" val="1439927991"/>
                    </a:ext>
                  </a:extLst>
                </a:gridCol>
                <a:gridCol w="768681">
                  <a:extLst>
                    <a:ext uri="{9D8B030D-6E8A-4147-A177-3AD203B41FA5}">
                      <a16:colId xmlns:a16="http://schemas.microsoft.com/office/drawing/2014/main" val="842031503"/>
                    </a:ext>
                  </a:extLst>
                </a:gridCol>
                <a:gridCol w="768681">
                  <a:extLst>
                    <a:ext uri="{9D8B030D-6E8A-4147-A177-3AD203B41FA5}">
                      <a16:colId xmlns:a16="http://schemas.microsoft.com/office/drawing/2014/main" val="2769671951"/>
                    </a:ext>
                  </a:extLst>
                </a:gridCol>
              </a:tblGrid>
              <a:tr h="701887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50" b="1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Group</a:t>
                      </a: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50" b="1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N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b="1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Nodes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b="1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Edges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b="1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Density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b="1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Clustering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b="1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Avg Degree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b="1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Modularity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306175"/>
                  </a:ext>
                </a:extLst>
              </a:tr>
              <a:tr h="560534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50" kern="1200" dirty="0" err="1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MetS</a:t>
                      </a:r>
                      <a:endParaRPr lang="en" sz="1050" kern="1200" dirty="0">
                        <a:solidFill>
                          <a:srgbClr val="0A2540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(+)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Young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516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12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13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0.197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0.222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2.17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0.539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755544"/>
                  </a:ext>
                </a:extLst>
              </a:tr>
              <a:tr h="560534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" sz="1050" kern="1200" dirty="0">
                        <a:solidFill>
                          <a:srgbClr val="0A2540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Middle</a:t>
                      </a:r>
                      <a:endParaRPr lang="en" sz="1050" kern="1200" dirty="0">
                        <a:solidFill>
                          <a:srgbClr val="0A2540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2938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12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14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0.212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0.306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2.33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0.51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733071"/>
                  </a:ext>
                </a:extLst>
              </a:tr>
              <a:tr h="560534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" sz="1050" kern="1200" dirty="0">
                        <a:solidFill>
                          <a:srgbClr val="0A2540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Older</a:t>
                      </a:r>
                      <a:endParaRPr lang="en" sz="1050" kern="1200" dirty="0">
                        <a:solidFill>
                          <a:srgbClr val="0A2540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971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12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15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0.227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0.194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2.5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0.498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565880"/>
                  </a:ext>
                </a:extLst>
              </a:tr>
              <a:tr h="560534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50" kern="1200" dirty="0" err="1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MetS</a:t>
                      </a:r>
                      <a:endParaRPr lang="en" sz="1050" kern="1200" dirty="0">
                        <a:solidFill>
                          <a:srgbClr val="0A2540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(-)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Young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4737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12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14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0.212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0.556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2.33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0.55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907058"/>
                  </a:ext>
                </a:extLst>
              </a:tr>
              <a:tr h="560534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" sz="1050" kern="1200" dirty="0">
                        <a:solidFill>
                          <a:srgbClr val="0A2540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Middle</a:t>
                      </a:r>
                      <a:endParaRPr lang="en" sz="1050" kern="1200" dirty="0">
                        <a:solidFill>
                          <a:srgbClr val="0A2540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1963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12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10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0.152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0.194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1.67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0.618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108763"/>
                  </a:ext>
                </a:extLst>
              </a:tr>
              <a:tr h="560534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" sz="1050" kern="1200" dirty="0">
                        <a:solidFill>
                          <a:srgbClr val="0A2540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Older</a:t>
                      </a:r>
                      <a:endParaRPr lang="en" sz="1050" kern="1200" dirty="0">
                        <a:solidFill>
                          <a:srgbClr val="0A2540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1169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12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14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0.212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0.625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2.33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0.529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519589"/>
                  </a:ext>
                </a:extLst>
              </a:tr>
            </a:tbl>
          </a:graphicData>
        </a:graphic>
      </p:graphicFrame>
      <p:cxnSp>
        <p:nvCxnSpPr>
          <p:cNvPr id="29" name="직선 연결선 15">
            <a:extLst>
              <a:ext uri="{FF2B5EF4-FFF2-40B4-BE49-F238E27FC236}">
                <a16:creationId xmlns:a16="http://schemas.microsoft.com/office/drawing/2014/main" id="{700A516E-8DA8-C7CE-C611-7CA054C91D94}"/>
              </a:ext>
            </a:extLst>
          </p:cNvPr>
          <p:cNvCxnSpPr/>
          <p:nvPr/>
        </p:nvCxnSpPr>
        <p:spPr>
          <a:xfrm>
            <a:off x="0" y="647700"/>
            <a:ext cx="12192000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56F31B0-2F80-A9C5-AC90-1942BC2B6588}"/>
              </a:ext>
            </a:extLst>
          </p:cNvPr>
          <p:cNvSpPr txBox="1"/>
          <p:nvPr/>
        </p:nvSpPr>
        <p:spPr>
          <a:xfrm>
            <a:off x="118865" y="128093"/>
            <a:ext cx="5616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Results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|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①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네트워크 구조의 전체적 특성</a:t>
            </a:r>
            <a:endParaRPr lang="en-US" altLang="ko-KR" sz="2400" b="1" dirty="0">
              <a:solidFill>
                <a:srgbClr val="0A2540"/>
              </a:solidFill>
              <a:latin typeface="Pretendard ExtraBold" panose="02000503000000020004" pitchFamily="2" charset="-127"/>
              <a:ea typeface="Pretendard ExtraBold" panose="02000503000000020004" pitchFamily="2" charset="-127"/>
              <a:cs typeface="Pretendard ExtraBold" panose="02000503000000020004" pitchFamily="2" charset="-127"/>
            </a:endParaRPr>
          </a:p>
        </p:txBody>
      </p:sp>
      <p:cxnSp>
        <p:nvCxnSpPr>
          <p:cNvPr id="31" name="직선 연결선[R] 30">
            <a:extLst>
              <a:ext uri="{FF2B5EF4-FFF2-40B4-BE49-F238E27FC236}">
                <a16:creationId xmlns:a16="http://schemas.microsoft.com/office/drawing/2014/main" id="{29906D9F-FF6B-3CB8-00AA-8F29D259E5E5}"/>
              </a:ext>
            </a:extLst>
          </p:cNvPr>
          <p:cNvCxnSpPr>
            <a:cxnSpLocks/>
          </p:cNvCxnSpPr>
          <p:nvPr/>
        </p:nvCxnSpPr>
        <p:spPr>
          <a:xfrm>
            <a:off x="6096000" y="1294410"/>
            <a:ext cx="0" cy="5403273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3">
            <a:extLst>
              <a:ext uri="{FF2B5EF4-FFF2-40B4-BE49-F238E27FC236}">
                <a16:creationId xmlns:a16="http://schemas.microsoft.com/office/drawing/2014/main" id="{7A9A1BFA-D444-EF4D-5511-83F2B509EB20}"/>
              </a:ext>
            </a:extLst>
          </p:cNvPr>
          <p:cNvSpPr txBox="1"/>
          <p:nvPr/>
        </p:nvSpPr>
        <p:spPr>
          <a:xfrm>
            <a:off x="6189653" y="5778055"/>
            <a:ext cx="569946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Table 1A.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32328-95D1-D4CC-2FE3-5AA121C21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78D2594-B678-DC3C-BA1C-7E63FD8F16BE}"/>
              </a:ext>
            </a:extLst>
          </p:cNvPr>
          <p:cNvSpPr txBox="1"/>
          <p:nvPr/>
        </p:nvSpPr>
        <p:spPr>
          <a:xfrm>
            <a:off x="301201" y="5778055"/>
            <a:ext cx="569946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Figure 1B.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여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성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5개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그룹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네트워크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.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각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노드는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12개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식품군을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나타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내고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간선은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|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부분상관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| &gt; 0.10의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직접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연관성을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의미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하며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노드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색상은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degree centrality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값을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반영함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.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여성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그룹에서는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남성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그룹에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비해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전반적으로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네트워크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밀도가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낮고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장년층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MetS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(-)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에서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가장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단순한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네트워크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구조를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보임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.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채소와 곡물류가 남성 그룹보다 더 자주 허브로 등장함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.</a:t>
            </a:r>
            <a:endParaRPr lang="en-US" altLang="ko-KR" sz="1300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693639F-7ABA-81A5-C5C3-D53E650B8968}"/>
              </a:ext>
            </a:extLst>
          </p:cNvPr>
          <p:cNvGrpSpPr/>
          <p:nvPr/>
        </p:nvGrpSpPr>
        <p:grpSpPr>
          <a:xfrm>
            <a:off x="299522" y="5319661"/>
            <a:ext cx="5702824" cy="180846"/>
            <a:chOff x="761695" y="5776492"/>
            <a:chExt cx="6026506" cy="191110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07AC8BF5-9B8D-89F8-2C6E-0135B7C5B076}"/>
                </a:ext>
              </a:extLst>
            </p:cNvPr>
            <p:cNvGrpSpPr/>
            <p:nvPr/>
          </p:nvGrpSpPr>
          <p:grpSpPr>
            <a:xfrm>
              <a:off x="761695" y="5776492"/>
              <a:ext cx="1811218" cy="191110"/>
              <a:chOff x="2933548" y="5776492"/>
              <a:chExt cx="1811218" cy="191110"/>
            </a:xfrm>
          </p:grpSpPr>
          <p:sp>
            <p:nvSpPr>
              <p:cNvPr id="7" name="Shape 4">
                <a:extLst>
                  <a:ext uri="{FF2B5EF4-FFF2-40B4-BE49-F238E27FC236}">
                    <a16:creationId xmlns:a16="http://schemas.microsoft.com/office/drawing/2014/main" id="{4FE5F38C-19B5-66EA-91F0-A182CDBA7A3B}"/>
                  </a:ext>
                </a:extLst>
              </p:cNvPr>
              <p:cNvSpPr/>
              <p:nvPr/>
            </p:nvSpPr>
            <p:spPr>
              <a:xfrm>
                <a:off x="2933548" y="5819469"/>
                <a:ext cx="114300" cy="114300"/>
              </a:xfrm>
              <a:prstGeom prst="ellipse">
                <a:avLst/>
              </a:prstGeom>
              <a:solidFill>
                <a:srgbClr val="FF5252"/>
              </a:solidFill>
              <a:ln/>
            </p:spPr>
            <p:txBody>
              <a:bodyPr/>
              <a:lstStyle/>
              <a:p>
                <a:endParaRPr lang="ko-KR" altLang="en-US" sz="1600"/>
              </a:p>
            </p:txBody>
          </p:sp>
          <p:sp>
            <p:nvSpPr>
              <p:cNvPr id="8" name="Text 5">
                <a:extLst>
                  <a:ext uri="{FF2B5EF4-FFF2-40B4-BE49-F238E27FC236}">
                    <a16:creationId xmlns:a16="http://schemas.microsoft.com/office/drawing/2014/main" id="{B861A7F2-7657-4CEA-FF94-BA2F0A469781}"/>
                  </a:ext>
                </a:extLst>
              </p:cNvPr>
              <p:cNvSpPr txBox="1"/>
              <p:nvPr/>
            </p:nvSpPr>
            <p:spPr>
              <a:xfrm>
                <a:off x="3105455" y="5776492"/>
                <a:ext cx="1639311" cy="1911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900" dirty="0">
                    <a:solidFill>
                      <a:srgbClr val="546E7A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높은 중심성 (High Centrality)</a:t>
                </a:r>
                <a:endParaRPr lang="en-US" sz="900" dirty="0"/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B9636059-6B4C-BF18-D8EC-8B193B3A1B42}"/>
                </a:ext>
              </a:extLst>
            </p:cNvPr>
            <p:cNvGrpSpPr/>
            <p:nvPr/>
          </p:nvGrpSpPr>
          <p:grpSpPr>
            <a:xfrm>
              <a:off x="2781853" y="5776492"/>
              <a:ext cx="1989735" cy="191110"/>
              <a:chOff x="5224120" y="5776492"/>
              <a:chExt cx="1989735" cy="191110"/>
            </a:xfrm>
          </p:grpSpPr>
          <p:sp>
            <p:nvSpPr>
              <p:cNvPr id="9" name="Text 6">
                <a:extLst>
                  <a:ext uri="{FF2B5EF4-FFF2-40B4-BE49-F238E27FC236}">
                    <a16:creationId xmlns:a16="http://schemas.microsoft.com/office/drawing/2014/main" id="{FCCB2626-EC29-855C-A36B-34B162D592AD}"/>
                  </a:ext>
                </a:extLst>
              </p:cNvPr>
              <p:cNvSpPr txBox="1"/>
              <p:nvPr/>
            </p:nvSpPr>
            <p:spPr>
              <a:xfrm>
                <a:off x="5396027" y="5776492"/>
                <a:ext cx="1817828" cy="1911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900" dirty="0">
                    <a:solidFill>
                      <a:srgbClr val="546E7A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중간 중심성 (Medium Centrality)</a:t>
                </a:r>
                <a:endParaRPr lang="en-US" sz="900" dirty="0"/>
              </a:p>
            </p:txBody>
          </p:sp>
          <p:sp>
            <p:nvSpPr>
              <p:cNvPr id="11" name="Shape 8">
                <a:extLst>
                  <a:ext uri="{FF2B5EF4-FFF2-40B4-BE49-F238E27FC236}">
                    <a16:creationId xmlns:a16="http://schemas.microsoft.com/office/drawing/2014/main" id="{5909F629-B740-A294-961C-733870CA8858}"/>
                  </a:ext>
                </a:extLst>
              </p:cNvPr>
              <p:cNvSpPr/>
              <p:nvPr/>
            </p:nvSpPr>
            <p:spPr>
              <a:xfrm>
                <a:off x="5224120" y="5819469"/>
                <a:ext cx="114300" cy="114300"/>
              </a:xfrm>
              <a:prstGeom prst="ellipse">
                <a:avLst/>
              </a:prstGeom>
              <a:solidFill>
                <a:srgbClr val="FF9800"/>
              </a:solidFill>
              <a:ln/>
            </p:spPr>
            <p:txBody>
              <a:bodyPr/>
              <a:lstStyle/>
              <a:p>
                <a:endParaRPr lang="ko-KR" altLang="en-US" sz="1600" dirty="0"/>
              </a:p>
            </p:txBody>
          </p: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8422E5B7-8A73-7157-1EC5-6D59086DDBBF}"/>
                </a:ext>
              </a:extLst>
            </p:cNvPr>
            <p:cNvGrpSpPr/>
            <p:nvPr/>
          </p:nvGrpSpPr>
          <p:grpSpPr>
            <a:xfrm>
              <a:off x="4976662" y="5776492"/>
              <a:ext cx="1811539" cy="191110"/>
              <a:chOff x="7295942" y="5776492"/>
              <a:chExt cx="1811539" cy="191110"/>
            </a:xfrm>
          </p:grpSpPr>
          <p:sp>
            <p:nvSpPr>
              <p:cNvPr id="10" name="Text 7">
                <a:extLst>
                  <a:ext uri="{FF2B5EF4-FFF2-40B4-BE49-F238E27FC236}">
                    <a16:creationId xmlns:a16="http://schemas.microsoft.com/office/drawing/2014/main" id="{4876614A-C1FB-674B-163A-BF4DCCA3377B}"/>
                  </a:ext>
                </a:extLst>
              </p:cNvPr>
              <p:cNvSpPr txBox="1"/>
              <p:nvPr/>
            </p:nvSpPr>
            <p:spPr>
              <a:xfrm>
                <a:off x="7471715" y="5776492"/>
                <a:ext cx="1635766" cy="1911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900" dirty="0">
                    <a:solidFill>
                      <a:srgbClr val="546E7A"/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낮은 중심성 (Low Centrality)</a:t>
                </a:r>
                <a:endParaRPr lang="en-US" sz="900" dirty="0"/>
              </a:p>
            </p:txBody>
          </p:sp>
          <p:sp>
            <p:nvSpPr>
              <p:cNvPr id="12" name="Shape 9">
                <a:extLst>
                  <a:ext uri="{FF2B5EF4-FFF2-40B4-BE49-F238E27FC236}">
                    <a16:creationId xmlns:a16="http://schemas.microsoft.com/office/drawing/2014/main" id="{F78D9A75-DEAC-CE17-5CA0-1A44904B7E4A}"/>
                  </a:ext>
                </a:extLst>
              </p:cNvPr>
              <p:cNvSpPr/>
              <p:nvPr/>
            </p:nvSpPr>
            <p:spPr>
              <a:xfrm>
                <a:off x="7295942" y="5819469"/>
                <a:ext cx="114300" cy="114300"/>
              </a:xfrm>
              <a:prstGeom prst="ellipse">
                <a:avLst/>
              </a:prstGeom>
              <a:solidFill>
                <a:srgbClr val="FFD600"/>
              </a:solidFill>
              <a:ln/>
            </p:spPr>
            <p:txBody>
              <a:bodyPr/>
              <a:lstStyle/>
              <a:p>
                <a:endParaRPr lang="ko-KR" altLang="en-US" sz="1600"/>
              </a:p>
            </p:txBody>
          </p:sp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70D9837-93C9-526F-DE6D-AAD1F4B8211C}"/>
              </a:ext>
            </a:extLst>
          </p:cNvPr>
          <p:cNvSpPr txBox="1"/>
          <p:nvPr/>
        </p:nvSpPr>
        <p:spPr>
          <a:xfrm>
            <a:off x="118865" y="820173"/>
            <a:ext cx="280891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algn="r">
              <a:buNone/>
              <a:defRPr sz="1400">
                <a:solidFill>
                  <a:schemeClr val="bg2">
                    <a:lumMod val="2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marL="285750" indent="-285750" algn="l">
              <a:buFont typeface="Wingdings" pitchFamily="2" charset="2"/>
              <a:buChar char="v"/>
            </a:pPr>
            <a:r>
              <a:rPr lang="ko-KR" altLang="en-US" sz="1600" b="1" dirty="0"/>
              <a:t>식이 네트워크 결과 </a:t>
            </a:r>
            <a:r>
              <a:rPr lang="en-US" altLang="ko-KR" sz="1600" b="1" dirty="0"/>
              <a:t>_</a:t>
            </a:r>
            <a:r>
              <a:rPr lang="ko-KR" altLang="en-US" sz="1600" b="1" dirty="0"/>
              <a:t> 여성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729DE44D-BAD4-2E33-C42C-125A315EDC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15502"/>
              </p:ext>
            </p:extLst>
          </p:nvPr>
        </p:nvGraphicFramePr>
        <p:xfrm>
          <a:off x="6189653" y="1435415"/>
          <a:ext cx="5699469" cy="4033074"/>
        </p:xfrm>
        <a:graphic>
          <a:graphicData uri="http://schemas.openxmlformats.org/drawingml/2006/table">
            <a:tbl>
              <a:tblPr/>
              <a:tblGrid>
                <a:gridCol w="507088">
                  <a:extLst>
                    <a:ext uri="{9D8B030D-6E8A-4147-A177-3AD203B41FA5}">
                      <a16:colId xmlns:a16="http://schemas.microsoft.com/office/drawing/2014/main" val="4146107751"/>
                    </a:ext>
                  </a:extLst>
                </a:gridCol>
                <a:gridCol w="558369">
                  <a:extLst>
                    <a:ext uri="{9D8B030D-6E8A-4147-A177-3AD203B41FA5}">
                      <a16:colId xmlns:a16="http://schemas.microsoft.com/office/drawing/2014/main" val="913081219"/>
                    </a:ext>
                  </a:extLst>
                </a:gridCol>
                <a:gridCol w="534380">
                  <a:extLst>
                    <a:ext uri="{9D8B030D-6E8A-4147-A177-3AD203B41FA5}">
                      <a16:colId xmlns:a16="http://schemas.microsoft.com/office/drawing/2014/main" val="3169436604"/>
                    </a:ext>
                  </a:extLst>
                </a:gridCol>
                <a:gridCol w="512454">
                  <a:extLst>
                    <a:ext uri="{9D8B030D-6E8A-4147-A177-3AD203B41FA5}">
                      <a16:colId xmlns:a16="http://schemas.microsoft.com/office/drawing/2014/main" val="965444893"/>
                    </a:ext>
                  </a:extLst>
                </a:gridCol>
                <a:gridCol w="512454">
                  <a:extLst>
                    <a:ext uri="{9D8B030D-6E8A-4147-A177-3AD203B41FA5}">
                      <a16:colId xmlns:a16="http://schemas.microsoft.com/office/drawing/2014/main" val="646113624"/>
                    </a:ext>
                  </a:extLst>
                </a:gridCol>
                <a:gridCol w="768681">
                  <a:extLst>
                    <a:ext uri="{9D8B030D-6E8A-4147-A177-3AD203B41FA5}">
                      <a16:colId xmlns:a16="http://schemas.microsoft.com/office/drawing/2014/main" val="931607278"/>
                    </a:ext>
                  </a:extLst>
                </a:gridCol>
                <a:gridCol w="768681">
                  <a:extLst>
                    <a:ext uri="{9D8B030D-6E8A-4147-A177-3AD203B41FA5}">
                      <a16:colId xmlns:a16="http://schemas.microsoft.com/office/drawing/2014/main" val="1439927991"/>
                    </a:ext>
                  </a:extLst>
                </a:gridCol>
                <a:gridCol w="768681">
                  <a:extLst>
                    <a:ext uri="{9D8B030D-6E8A-4147-A177-3AD203B41FA5}">
                      <a16:colId xmlns:a16="http://schemas.microsoft.com/office/drawing/2014/main" val="842031503"/>
                    </a:ext>
                  </a:extLst>
                </a:gridCol>
                <a:gridCol w="768681">
                  <a:extLst>
                    <a:ext uri="{9D8B030D-6E8A-4147-A177-3AD203B41FA5}">
                      <a16:colId xmlns:a16="http://schemas.microsoft.com/office/drawing/2014/main" val="2769671951"/>
                    </a:ext>
                  </a:extLst>
                </a:gridCol>
              </a:tblGrid>
              <a:tr h="799949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50" b="1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Group</a:t>
                      </a: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50" b="1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N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b="1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Nodes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b="1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Edges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b="1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Density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b="1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Clustering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b="1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Avg Degree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b="1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Modularity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306175"/>
                  </a:ext>
                </a:extLst>
              </a:tr>
              <a:tr h="64662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50" kern="1200" dirty="0" err="1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MetS</a:t>
                      </a:r>
                      <a:endParaRPr lang="en" sz="1050" kern="1200" dirty="0">
                        <a:solidFill>
                          <a:srgbClr val="0A2540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(+)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Middle</a:t>
                      </a:r>
                      <a:endParaRPr lang="en" sz="1050" kern="1200" dirty="0">
                        <a:solidFill>
                          <a:srgbClr val="0A2540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758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12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14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0.212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0.333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2.33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0.477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755544"/>
                  </a:ext>
                </a:extLst>
              </a:tr>
              <a:tr h="646625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" sz="1050" kern="1200" dirty="0">
                        <a:solidFill>
                          <a:srgbClr val="0A2540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Older</a:t>
                      </a:r>
                      <a:endParaRPr lang="en" sz="1050" kern="1200" dirty="0">
                        <a:solidFill>
                          <a:srgbClr val="0A2540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680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12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16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0.242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0.556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2.67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0.48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565880"/>
                  </a:ext>
                </a:extLst>
              </a:tr>
              <a:tr h="646625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50" kern="1200" dirty="0" err="1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MetS</a:t>
                      </a:r>
                      <a:endParaRPr lang="en" sz="1050" kern="1200" dirty="0">
                        <a:solidFill>
                          <a:srgbClr val="0A2540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(-)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Young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2519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12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12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0.182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0.125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0.567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907058"/>
                  </a:ext>
                </a:extLst>
              </a:tr>
              <a:tr h="646625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" sz="1050" kern="1200" dirty="0">
                        <a:solidFill>
                          <a:srgbClr val="0A2540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Middle</a:t>
                      </a:r>
                      <a:endParaRPr lang="en" sz="1050" kern="1200" dirty="0">
                        <a:solidFill>
                          <a:srgbClr val="0A2540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5629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12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17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0.258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0.322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2.83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0.432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108763"/>
                  </a:ext>
                </a:extLst>
              </a:tr>
              <a:tr h="646625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" sz="1050" kern="1200" dirty="0">
                        <a:solidFill>
                          <a:srgbClr val="0A2540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Older</a:t>
                      </a:r>
                      <a:endParaRPr lang="en" sz="1050" kern="1200" dirty="0">
                        <a:solidFill>
                          <a:srgbClr val="0A2540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1084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12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18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0.273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0.328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5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0.411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519589"/>
                  </a:ext>
                </a:extLst>
              </a:tr>
            </a:tbl>
          </a:graphicData>
        </a:graphic>
      </p:graphicFrame>
      <p:cxnSp>
        <p:nvCxnSpPr>
          <p:cNvPr id="29" name="직선 연결선 15">
            <a:extLst>
              <a:ext uri="{FF2B5EF4-FFF2-40B4-BE49-F238E27FC236}">
                <a16:creationId xmlns:a16="http://schemas.microsoft.com/office/drawing/2014/main" id="{1153A9CF-7D4B-317A-49B3-086334BE2AC7}"/>
              </a:ext>
            </a:extLst>
          </p:cNvPr>
          <p:cNvCxnSpPr/>
          <p:nvPr/>
        </p:nvCxnSpPr>
        <p:spPr>
          <a:xfrm>
            <a:off x="0" y="647700"/>
            <a:ext cx="12192000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28A30C5-0A18-31A8-7584-9512768AF9A7}"/>
              </a:ext>
            </a:extLst>
          </p:cNvPr>
          <p:cNvSpPr txBox="1"/>
          <p:nvPr/>
        </p:nvSpPr>
        <p:spPr>
          <a:xfrm>
            <a:off x="118865" y="128093"/>
            <a:ext cx="5616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Results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|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①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네트워크 구조의 전체적 특성</a:t>
            </a:r>
            <a:endParaRPr lang="en-US" altLang="ko-KR" sz="2400" b="1" dirty="0">
              <a:solidFill>
                <a:srgbClr val="0A2540"/>
              </a:solidFill>
              <a:latin typeface="Pretendard ExtraBold" panose="02000503000000020004" pitchFamily="2" charset="-127"/>
              <a:ea typeface="Pretendard ExtraBold" panose="02000503000000020004" pitchFamily="2" charset="-127"/>
              <a:cs typeface="Pretendard ExtraBold" panose="02000503000000020004" pitchFamily="2" charset="-127"/>
            </a:endParaRPr>
          </a:p>
        </p:txBody>
      </p:sp>
      <p:cxnSp>
        <p:nvCxnSpPr>
          <p:cNvPr id="31" name="직선 연결선[R] 30">
            <a:extLst>
              <a:ext uri="{FF2B5EF4-FFF2-40B4-BE49-F238E27FC236}">
                <a16:creationId xmlns:a16="http://schemas.microsoft.com/office/drawing/2014/main" id="{DAB07814-F663-489F-E180-EEE291BF32C7}"/>
              </a:ext>
            </a:extLst>
          </p:cNvPr>
          <p:cNvCxnSpPr>
            <a:cxnSpLocks/>
          </p:cNvCxnSpPr>
          <p:nvPr/>
        </p:nvCxnSpPr>
        <p:spPr>
          <a:xfrm>
            <a:off x="6096000" y="1294410"/>
            <a:ext cx="0" cy="5403273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3">
            <a:extLst>
              <a:ext uri="{FF2B5EF4-FFF2-40B4-BE49-F238E27FC236}">
                <a16:creationId xmlns:a16="http://schemas.microsoft.com/office/drawing/2014/main" id="{B4480534-10F4-927A-A677-A9EB2BD26BFE}"/>
              </a:ext>
            </a:extLst>
          </p:cNvPr>
          <p:cNvSpPr txBox="1"/>
          <p:nvPr/>
        </p:nvSpPr>
        <p:spPr>
          <a:xfrm>
            <a:off x="6189653" y="5778055"/>
            <a:ext cx="569946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Table 1B.</a:t>
            </a:r>
            <a:endParaRPr lang="en-US" sz="1300" dirty="0"/>
          </a:p>
        </p:txBody>
      </p:sp>
      <p:pic>
        <p:nvPicPr>
          <p:cNvPr id="3" name="그림 2" descr="스크린샷, 천문학, 별, 밤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B0E785-A00C-7324-0885-570526F84F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732" b="-125"/>
          <a:stretch>
            <a:fillRect/>
          </a:stretch>
        </p:blipFill>
        <p:spPr>
          <a:xfrm>
            <a:off x="353872" y="1435414"/>
            <a:ext cx="5594123" cy="376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799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D7693-9CAF-1255-CDE4-40FDC4451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E3B29F1B-7F8A-E4F7-8003-82E07E3A89AB}"/>
              </a:ext>
            </a:extLst>
          </p:cNvPr>
          <p:cNvSpPr txBox="1"/>
          <p:nvPr/>
        </p:nvSpPr>
        <p:spPr>
          <a:xfrm>
            <a:off x="301201" y="5778055"/>
            <a:ext cx="115895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Figure S1.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3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개 커뮤니티 구조 일관됨 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건강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/</a:t>
            </a:r>
            <a:r>
              <a:rPr lang="ko-KR" altLang="en-US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불건강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/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염분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</a:t>
            </a:r>
          </a:p>
          <a:p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Louvain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알고리즘을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사용한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커뮤니티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탐지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결과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모든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그룹에서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뚜렷한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커뮤니티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구조가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발견됨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(Modularity Q=0.47-0.61,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평균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0.54).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네트워크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내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식품들이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3가지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주요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식이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패턴으로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군집화됨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.</a:t>
            </a:r>
            <a:endParaRPr lang="en-US" altLang="ko-KR" sz="13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3DC581-4A29-B417-4A28-4DC4CB111B8E}"/>
              </a:ext>
            </a:extLst>
          </p:cNvPr>
          <p:cNvSpPr txBox="1"/>
          <p:nvPr/>
        </p:nvSpPr>
        <p:spPr>
          <a:xfrm>
            <a:off x="118865" y="820173"/>
            <a:ext cx="5284408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algn="r">
              <a:buNone/>
              <a:defRPr sz="1400">
                <a:solidFill>
                  <a:schemeClr val="bg2">
                    <a:lumMod val="2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marL="285750" indent="-285750" algn="l">
              <a:buFont typeface="Wingdings" pitchFamily="2" charset="2"/>
              <a:buChar char="v"/>
            </a:pPr>
            <a:r>
              <a:rPr lang="en-US" altLang="ko-KR" sz="1600" b="1" dirty="0"/>
              <a:t>Supple. Community Structure</a:t>
            </a:r>
            <a:endParaRPr lang="ko-KR" altLang="en-US" sz="1600" b="1" dirty="0"/>
          </a:p>
        </p:txBody>
      </p:sp>
      <p:cxnSp>
        <p:nvCxnSpPr>
          <p:cNvPr id="29" name="직선 연결선 15">
            <a:extLst>
              <a:ext uri="{FF2B5EF4-FFF2-40B4-BE49-F238E27FC236}">
                <a16:creationId xmlns:a16="http://schemas.microsoft.com/office/drawing/2014/main" id="{7BF14762-ADA4-ABF7-27DE-E87FEEA583DD}"/>
              </a:ext>
            </a:extLst>
          </p:cNvPr>
          <p:cNvCxnSpPr/>
          <p:nvPr/>
        </p:nvCxnSpPr>
        <p:spPr>
          <a:xfrm>
            <a:off x="0" y="647700"/>
            <a:ext cx="12192000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286A1CA-5F15-46E6-2DAF-1E8B3F7ACAA7}"/>
              </a:ext>
            </a:extLst>
          </p:cNvPr>
          <p:cNvSpPr txBox="1"/>
          <p:nvPr/>
        </p:nvSpPr>
        <p:spPr>
          <a:xfrm>
            <a:off x="118865" y="128093"/>
            <a:ext cx="5616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Results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|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①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네트워크 구조의 전체적 특성</a:t>
            </a:r>
            <a:endParaRPr lang="en-US" altLang="ko-KR" sz="2400" b="1" dirty="0">
              <a:solidFill>
                <a:srgbClr val="0A2540"/>
              </a:solidFill>
              <a:latin typeface="Pretendard ExtraBold" panose="02000503000000020004" pitchFamily="2" charset="-127"/>
              <a:ea typeface="Pretendard ExtraBold" panose="02000503000000020004" pitchFamily="2" charset="-127"/>
              <a:cs typeface="Pretendard ExtraBold" panose="02000503000000020004" pitchFamily="2" charset="-127"/>
            </a:endParaRPr>
          </a:p>
        </p:txBody>
      </p:sp>
      <p:cxnSp>
        <p:nvCxnSpPr>
          <p:cNvPr id="31" name="직선 연결선[R] 30">
            <a:extLst>
              <a:ext uri="{FF2B5EF4-FFF2-40B4-BE49-F238E27FC236}">
                <a16:creationId xmlns:a16="http://schemas.microsoft.com/office/drawing/2014/main" id="{96B9EA1A-798E-E784-D0FA-BEDF4048DA33}"/>
              </a:ext>
            </a:extLst>
          </p:cNvPr>
          <p:cNvCxnSpPr>
            <a:cxnSpLocks/>
          </p:cNvCxnSpPr>
          <p:nvPr/>
        </p:nvCxnSpPr>
        <p:spPr>
          <a:xfrm>
            <a:off x="6096000" y="1294410"/>
            <a:ext cx="0" cy="3942608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 descr="도표, 패턴, 종이접기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6572EDC-023C-66C3-7C52-0B64DE1C91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4286"/>
          <a:stretch>
            <a:fillRect/>
          </a:stretch>
        </p:blipFill>
        <p:spPr>
          <a:xfrm>
            <a:off x="301201" y="1294410"/>
            <a:ext cx="5699466" cy="3554090"/>
          </a:xfrm>
          <a:prstGeom prst="rect">
            <a:avLst/>
          </a:prstGeom>
        </p:spPr>
      </p:pic>
      <p:pic>
        <p:nvPicPr>
          <p:cNvPr id="5" name="그림 4" descr="도표, 패턴, 종이접기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0DE58B5-2C4E-C27A-F5FE-466A68C9CA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8" t="50884" r="-208" b="3402"/>
          <a:stretch>
            <a:fillRect/>
          </a:stretch>
        </p:blipFill>
        <p:spPr>
          <a:xfrm>
            <a:off x="6191333" y="1294410"/>
            <a:ext cx="5699466" cy="355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142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7623963" y="275204"/>
            <a:ext cx="444917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※ Hub: 각 그룹에서 degree centrality 기준 상위 3개 </a:t>
            </a:r>
            <a:r>
              <a:rPr lang="en-US" sz="1400" dirty="0" err="1">
                <a:solidFill>
                  <a:schemeClr val="bg2">
                    <a:lumMod val="2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식품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19" name="직선 연결선 15">
            <a:extLst>
              <a:ext uri="{FF2B5EF4-FFF2-40B4-BE49-F238E27FC236}">
                <a16:creationId xmlns:a16="http://schemas.microsoft.com/office/drawing/2014/main" id="{749CC5A7-E454-A766-4415-5D527B55B291}"/>
              </a:ext>
            </a:extLst>
          </p:cNvPr>
          <p:cNvCxnSpPr/>
          <p:nvPr/>
        </p:nvCxnSpPr>
        <p:spPr>
          <a:xfrm>
            <a:off x="0" y="647700"/>
            <a:ext cx="12192000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EB1CB49-2B02-62C7-BAF1-CC9FAD5419BE}"/>
              </a:ext>
            </a:extLst>
          </p:cNvPr>
          <p:cNvSpPr txBox="1"/>
          <p:nvPr/>
        </p:nvSpPr>
        <p:spPr>
          <a:xfrm>
            <a:off x="118865" y="128093"/>
            <a:ext cx="5616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Results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|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①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네트워크 구조의 전체적 특성</a:t>
            </a:r>
            <a:endParaRPr lang="en-US" altLang="ko-KR" sz="2400" b="1" dirty="0">
              <a:solidFill>
                <a:srgbClr val="0A2540"/>
              </a:solidFill>
              <a:latin typeface="Pretendard ExtraBold" panose="02000503000000020004" pitchFamily="2" charset="-127"/>
              <a:ea typeface="Pretendard ExtraBold" panose="02000503000000020004" pitchFamily="2" charset="-127"/>
              <a:cs typeface="Pretendard ExtraBold" panose="02000503000000020004" pitchFamily="2" charset="-127"/>
            </a:endParaRPr>
          </a:p>
        </p:txBody>
      </p:sp>
      <p:pic>
        <p:nvPicPr>
          <p:cNvPr id="22" name="그림 21" descr="스크린샷, 사각형, 직사각형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01B9AE-D47E-3A6D-42C7-02AE3DF40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11" y="983614"/>
            <a:ext cx="7772400" cy="4184571"/>
          </a:xfrm>
          <a:prstGeom prst="rect">
            <a:avLst/>
          </a:prstGeom>
        </p:spPr>
      </p:pic>
      <p:sp>
        <p:nvSpPr>
          <p:cNvPr id="23" name="Text 3">
            <a:extLst>
              <a:ext uri="{FF2B5EF4-FFF2-40B4-BE49-F238E27FC236}">
                <a16:creationId xmlns:a16="http://schemas.microsoft.com/office/drawing/2014/main" id="{8AE5BFDC-8526-7583-72C9-BD21322DD645}"/>
              </a:ext>
            </a:extLst>
          </p:cNvPr>
          <p:cNvSpPr txBox="1"/>
          <p:nvPr/>
        </p:nvSpPr>
        <p:spPr>
          <a:xfrm>
            <a:off x="301201" y="5778055"/>
            <a:ext cx="115895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Figure 2.</a:t>
            </a:r>
            <a:r>
              <a:rPr lang="ko-KR" altLang="en-US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허브 식품 강도 </a:t>
            </a:r>
            <a:r>
              <a:rPr lang="ko-KR" altLang="en-US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히트맵</a:t>
            </a:r>
            <a:endParaRPr lang="en-US" altLang="ko-KR" sz="1300" dirty="0">
              <a:solidFill>
                <a:srgbClr val="546E7A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Universal Hub Foods: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가공식품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9/11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그룹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(82%)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에서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가장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빈번한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허브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/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튀긴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음식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7/11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그룹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(64%)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에서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허브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/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고지방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육류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6/11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그룹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(55%)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에서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허브임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가공식품과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튀김류가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전통적으로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권장되는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건강식품보다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실제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한국인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식이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네트워크에서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중심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허브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위치를</a:t>
            </a:r>
            <a:r>
              <a:rPr lang="en-US" altLang="ko-KR" sz="1300" dirty="0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546E7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차지함</a:t>
            </a:r>
            <a:endParaRPr lang="en-US" altLang="ko-KR" sz="1300" dirty="0">
              <a:solidFill>
                <a:srgbClr val="546E7A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81DCA0F9-989B-F5E2-6314-F8344F3822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702629"/>
              </p:ext>
            </p:extLst>
          </p:nvPr>
        </p:nvGraphicFramePr>
        <p:xfrm>
          <a:off x="8141414" y="983592"/>
          <a:ext cx="3749378" cy="4184572"/>
        </p:xfrm>
        <a:graphic>
          <a:graphicData uri="http://schemas.openxmlformats.org/drawingml/2006/table">
            <a:tbl>
              <a:tblPr/>
              <a:tblGrid>
                <a:gridCol w="197336">
                  <a:extLst>
                    <a:ext uri="{9D8B030D-6E8A-4147-A177-3AD203B41FA5}">
                      <a16:colId xmlns:a16="http://schemas.microsoft.com/office/drawing/2014/main" val="4146107751"/>
                    </a:ext>
                  </a:extLst>
                </a:gridCol>
                <a:gridCol w="197336">
                  <a:extLst>
                    <a:ext uri="{9D8B030D-6E8A-4147-A177-3AD203B41FA5}">
                      <a16:colId xmlns:a16="http://schemas.microsoft.com/office/drawing/2014/main" val="913081219"/>
                    </a:ext>
                  </a:extLst>
                </a:gridCol>
                <a:gridCol w="1677353">
                  <a:extLst>
                    <a:ext uri="{9D8B030D-6E8A-4147-A177-3AD203B41FA5}">
                      <a16:colId xmlns:a16="http://schemas.microsoft.com/office/drawing/2014/main" val="646113624"/>
                    </a:ext>
                  </a:extLst>
                </a:gridCol>
                <a:gridCol w="1677353">
                  <a:extLst>
                    <a:ext uri="{9D8B030D-6E8A-4147-A177-3AD203B41FA5}">
                      <a16:colId xmlns:a16="http://schemas.microsoft.com/office/drawing/2014/main" val="2769671951"/>
                    </a:ext>
                  </a:extLst>
                </a:gridCol>
              </a:tblGrid>
              <a:tr h="597796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800" b="1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Group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b="1" kern="1200" dirty="0" err="1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MetS</a:t>
                      </a:r>
                      <a:r>
                        <a:rPr lang="en" altLang="ko-KR" sz="800" b="1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 (+) </a:t>
                      </a:r>
                      <a:r>
                        <a:rPr lang="en-US" altLang="ko-KR" sz="800" b="1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Tob Hubs</a:t>
                      </a:r>
                      <a:endParaRPr lang="en" altLang="ko-KR" sz="800" b="1" kern="1200" dirty="0">
                        <a:solidFill>
                          <a:srgbClr val="0A2540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b="1" kern="1200" dirty="0" err="1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MetS</a:t>
                      </a:r>
                      <a:r>
                        <a:rPr lang="en" altLang="ko-KR" sz="800" b="1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 (-) </a:t>
                      </a:r>
                      <a:r>
                        <a:rPr lang="en-US" altLang="ko-KR" sz="800" b="1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Tob Hubs</a:t>
                      </a:r>
                      <a:endParaRPr lang="en" altLang="ko-KR" sz="800" b="1" kern="1200" dirty="0">
                        <a:solidFill>
                          <a:srgbClr val="0A2540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306175"/>
                  </a:ext>
                </a:extLst>
              </a:tr>
              <a:tr h="597796">
                <a:tc rowSpan="3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800" b="1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Male</a:t>
                      </a:r>
                    </a:p>
                  </a:txBody>
                  <a:tcPr marL="45720" marR="45720" vert="vert270" anchor="ctr">
                    <a:lnL>
                      <a:noFill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b="1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Young</a:t>
                      </a:r>
                    </a:p>
                  </a:txBody>
                  <a:tcPr marL="45720" marR="45720" vert="vert27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Grain Products (0.273)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Protein Foods (0.273)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Fried Foods (0.273)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Fried Foods (0.364)</a:t>
                      </a:r>
                    </a:p>
                    <a:p>
                      <a:pPr algn="l" fontAlgn="ctr">
                        <a:buNone/>
                      </a:pPr>
                      <a:r>
                        <a:rPr lang="en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Processed Foods (0.364)</a:t>
                      </a:r>
                    </a:p>
                    <a:p>
                      <a:pPr algn="l" fontAlgn="ctr">
                        <a:buNone/>
                      </a:pPr>
                      <a:r>
                        <a:rPr lang="en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Vegetables (0.273)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755544"/>
                  </a:ext>
                </a:extLst>
              </a:tr>
              <a:tr h="597796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" sz="1050" kern="1200" dirty="0">
                        <a:solidFill>
                          <a:srgbClr val="0A2540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altLang="ko-KR" sz="800" b="1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Middle</a:t>
                      </a:r>
                      <a:endParaRPr lang="en" sz="800" b="1" kern="1200" dirty="0">
                        <a:solidFill>
                          <a:srgbClr val="0A2540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marL="45720" marR="45720" vert="vert27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Fried Foods (0.364)</a:t>
                      </a:r>
                    </a:p>
                    <a:p>
                      <a:pPr algn="l" fontAlgn="ctr">
                        <a:buNone/>
                      </a:pPr>
                      <a:r>
                        <a:rPr lang="en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Processed Foods (0.364)</a:t>
                      </a:r>
                    </a:p>
                    <a:p>
                      <a:pPr algn="l" fontAlgn="ctr">
                        <a:buNone/>
                      </a:pPr>
                      <a:r>
                        <a:rPr lang="en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Protein Foods (0.273)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Processed Foods (0.273)</a:t>
                      </a:r>
                    </a:p>
                    <a:p>
                      <a:pPr algn="l" fontAlgn="ctr">
                        <a:buNone/>
                      </a:pPr>
                      <a:r>
                        <a:rPr lang="en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Protein Foods (0.182)</a:t>
                      </a:r>
                    </a:p>
                    <a:p>
                      <a:pPr algn="l" fontAlgn="ctr">
                        <a:buNone/>
                      </a:pPr>
                      <a:r>
                        <a:rPr lang="en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Vegetables (0.182)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733071"/>
                  </a:ext>
                </a:extLst>
              </a:tr>
              <a:tr h="597796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" sz="1050" kern="1200" dirty="0">
                        <a:solidFill>
                          <a:srgbClr val="0A2540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altLang="ko-KR" sz="800" b="1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Older</a:t>
                      </a:r>
                      <a:endParaRPr lang="en" sz="800" b="1" kern="1200" dirty="0">
                        <a:solidFill>
                          <a:srgbClr val="0A2540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marL="45720" marR="45720" vert="vert27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Processed Foods (0.364)</a:t>
                      </a:r>
                    </a:p>
                    <a:p>
                      <a:pPr algn="l" fontAlgn="ctr">
                        <a:buNone/>
                      </a:pPr>
                      <a:r>
                        <a:rPr lang="en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Protein Foods (0.273)</a:t>
                      </a:r>
                    </a:p>
                    <a:p>
                      <a:pPr algn="l" fontAlgn="ctr">
                        <a:buNone/>
                      </a:pPr>
                      <a:r>
                        <a:rPr lang="en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Fruits (0.273)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High Fat Meat (0.364)</a:t>
                      </a:r>
                    </a:p>
                    <a:p>
                      <a:pPr algn="l" fontAlgn="ctr">
                        <a:buNone/>
                      </a:pPr>
                      <a:r>
                        <a:rPr lang="en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Processed Foods (0.364)</a:t>
                      </a:r>
                    </a:p>
                    <a:p>
                      <a:pPr algn="l" fontAlgn="ctr">
                        <a:buNone/>
                      </a:pPr>
                      <a:r>
                        <a:rPr lang="en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Protein Foods (0.273)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565880"/>
                  </a:ext>
                </a:extLst>
              </a:tr>
              <a:tr h="597796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800" b="1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Female</a:t>
                      </a:r>
                    </a:p>
                  </a:txBody>
                  <a:tcPr marL="45720" marR="45720" vert="vert270" anchor="ctr">
                    <a:lnL>
                      <a:noFill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b="1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Young</a:t>
                      </a:r>
                    </a:p>
                  </a:txBody>
                  <a:tcPr marL="45720" marR="45720" vert="vert27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-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Fried Foods (0.364)</a:t>
                      </a:r>
                    </a:p>
                    <a:p>
                      <a:pPr algn="l" fontAlgn="ctr">
                        <a:buNone/>
                      </a:pPr>
                      <a:r>
                        <a:rPr lang="en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SSB (0.273)</a:t>
                      </a:r>
                    </a:p>
                    <a:p>
                      <a:pPr algn="l" fontAlgn="ctr">
                        <a:buNone/>
                      </a:pPr>
                      <a:r>
                        <a:rPr lang="en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Grain Products (0.182)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907058"/>
                  </a:ext>
                </a:extLst>
              </a:tr>
              <a:tr h="597796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" sz="1050" kern="1200" dirty="0">
                        <a:solidFill>
                          <a:srgbClr val="0A2540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altLang="ko-KR" sz="800" b="1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Middle</a:t>
                      </a:r>
                      <a:endParaRPr lang="en" sz="800" b="1" kern="1200" dirty="0">
                        <a:solidFill>
                          <a:srgbClr val="0A2540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marL="45720" marR="45720" vert="vert27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Fried Foods (0.455)</a:t>
                      </a:r>
                    </a:p>
                    <a:p>
                      <a:pPr algn="l" fontAlgn="ctr">
                        <a:buNone/>
                      </a:pPr>
                      <a:r>
                        <a:rPr lang="en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High Fat Meat (0.364)</a:t>
                      </a:r>
                    </a:p>
                    <a:p>
                      <a:pPr algn="l" fontAlgn="ctr">
                        <a:buNone/>
                      </a:pPr>
                      <a:r>
                        <a:rPr lang="en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Processed Foods (0.273)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Processed Foods (0.455)</a:t>
                      </a:r>
                    </a:p>
                    <a:p>
                      <a:pPr algn="l" fontAlgn="ctr">
                        <a:buNone/>
                      </a:pPr>
                      <a:r>
                        <a:rPr lang="en" altLang="ko-KR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SSB </a:t>
                      </a:r>
                      <a:r>
                        <a:rPr lang="en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(0.455)</a:t>
                      </a:r>
                    </a:p>
                    <a:p>
                      <a:pPr algn="l" fontAlgn="ctr">
                        <a:buNone/>
                      </a:pPr>
                      <a:r>
                        <a:rPr lang="en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Fried Foods (0.364)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108763"/>
                  </a:ext>
                </a:extLst>
              </a:tr>
              <a:tr h="597796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" sz="1050" kern="1200" dirty="0">
                        <a:solidFill>
                          <a:srgbClr val="0A2540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altLang="ko-KR" sz="800" b="1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Older</a:t>
                      </a:r>
                      <a:endParaRPr lang="en" sz="800" b="1" kern="1200" dirty="0">
                        <a:solidFill>
                          <a:srgbClr val="0A2540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marL="45720" marR="45720" vert="vert27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Protein Foods (0.364)</a:t>
                      </a:r>
                    </a:p>
                    <a:p>
                      <a:pPr algn="l" fontAlgn="ctr">
                        <a:buNone/>
                      </a:pPr>
                      <a:r>
                        <a:rPr lang="en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Processed Foods (0.364)</a:t>
                      </a:r>
                    </a:p>
                    <a:p>
                      <a:pPr algn="l" fontAlgn="ctr">
                        <a:buNone/>
                      </a:pPr>
                      <a:r>
                        <a:rPr lang="en" altLang="ko-KR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SSB </a:t>
                      </a:r>
                      <a:r>
                        <a:rPr lang="en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(0.364)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Fried Foods (0.455)</a:t>
                      </a:r>
                    </a:p>
                    <a:p>
                      <a:pPr algn="l" fontAlgn="ctr">
                        <a:buNone/>
                      </a:pPr>
                      <a:r>
                        <a:rPr lang="en" altLang="ko-KR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SSB </a:t>
                      </a:r>
                      <a:r>
                        <a:rPr lang="en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(0.455)</a:t>
                      </a:r>
                    </a:p>
                    <a:p>
                      <a:pPr algn="l" fontAlgn="ctr">
                        <a:buNone/>
                      </a:pPr>
                      <a:r>
                        <a:rPr lang="en" sz="800" kern="1200" dirty="0">
                          <a:solidFill>
                            <a:srgbClr val="0A2540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High Fat Meat (0.364)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51958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360EF-DFBB-BBFB-7C11-A560B8DA5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직선 연결선 15">
            <a:extLst>
              <a:ext uri="{FF2B5EF4-FFF2-40B4-BE49-F238E27FC236}">
                <a16:creationId xmlns:a16="http://schemas.microsoft.com/office/drawing/2014/main" id="{E1FE1BD8-6933-EC40-6E90-B591B3B919C2}"/>
              </a:ext>
            </a:extLst>
          </p:cNvPr>
          <p:cNvCxnSpPr/>
          <p:nvPr/>
        </p:nvCxnSpPr>
        <p:spPr>
          <a:xfrm>
            <a:off x="0" y="647700"/>
            <a:ext cx="12192000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21E644C-5529-4C22-81D4-833872A4E3B3}"/>
              </a:ext>
            </a:extLst>
          </p:cNvPr>
          <p:cNvSpPr txBox="1"/>
          <p:nvPr/>
        </p:nvSpPr>
        <p:spPr>
          <a:xfrm>
            <a:off x="118865" y="128093"/>
            <a:ext cx="10295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Results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|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②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성별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-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연령별 </a:t>
            </a:r>
            <a:r>
              <a:rPr lang="en" altLang="ko-KR" sz="2400" b="1" dirty="0" err="1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MetS</a:t>
            </a:r>
            <a:r>
              <a:rPr lang="en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(+) vs </a:t>
            </a:r>
            <a:r>
              <a:rPr lang="en" altLang="ko-KR" sz="2400" b="1" dirty="0" err="1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MetS</a:t>
            </a:r>
            <a:r>
              <a:rPr lang="en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(-) 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네트워크 비교</a:t>
            </a:r>
            <a:endParaRPr lang="en-US" altLang="ko-KR" sz="2400" b="1" dirty="0">
              <a:solidFill>
                <a:srgbClr val="0A2540"/>
              </a:solidFill>
              <a:latin typeface="Pretendard ExtraBold" panose="02000503000000020004" pitchFamily="2" charset="-127"/>
              <a:ea typeface="Pretendard ExtraBold" panose="02000503000000020004" pitchFamily="2" charset="-127"/>
              <a:cs typeface="Pretendard ExtraBold" panose="020005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ED1FD7-BA96-ACFA-E0DB-B385495F2E1E}"/>
              </a:ext>
            </a:extLst>
          </p:cNvPr>
          <p:cNvSpPr txBox="1"/>
          <p:nvPr/>
        </p:nvSpPr>
        <p:spPr>
          <a:xfrm>
            <a:off x="344384" y="5948690"/>
            <a:ext cx="115309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A254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Table 3. ※ </a:t>
            </a:r>
            <a:r>
              <a:rPr lang="ko-KR" altLang="en-US" sz="1400" dirty="0">
                <a:solidFill>
                  <a:srgbClr val="0A254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허브 식품군은 많이 섭취한다는 의미가 아니라</a:t>
            </a:r>
            <a:r>
              <a:rPr lang="en-US" altLang="ko-KR" sz="1400" dirty="0">
                <a:solidFill>
                  <a:srgbClr val="0A254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ko-KR" altLang="en-US" sz="1400" dirty="0">
                <a:solidFill>
                  <a:srgbClr val="0A254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해당 식습관을 주도하는 매개 식품임</a:t>
            </a:r>
            <a:r>
              <a:rPr lang="en-US" altLang="ko-KR" sz="1400" dirty="0">
                <a:solidFill>
                  <a:srgbClr val="0A254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.</a:t>
            </a:r>
            <a:endParaRPr lang="ko-KR" altLang="en-US" sz="1400" dirty="0">
              <a:solidFill>
                <a:srgbClr val="0A2540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32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직선 연결선 15">
            <a:extLst>
              <a:ext uri="{FF2B5EF4-FFF2-40B4-BE49-F238E27FC236}">
                <a16:creationId xmlns:a16="http://schemas.microsoft.com/office/drawing/2014/main" id="{8C08DEE6-3596-C7DC-D163-D1A85F90169F}"/>
              </a:ext>
            </a:extLst>
          </p:cNvPr>
          <p:cNvCxnSpPr/>
          <p:nvPr/>
        </p:nvCxnSpPr>
        <p:spPr>
          <a:xfrm>
            <a:off x="0" y="647700"/>
            <a:ext cx="12192000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8C1A4DA3-5527-A193-4882-2FAF230EDF96}"/>
              </a:ext>
            </a:extLst>
          </p:cNvPr>
          <p:cNvSpPr txBox="1"/>
          <p:nvPr/>
        </p:nvSpPr>
        <p:spPr>
          <a:xfrm>
            <a:off x="118865" y="128093"/>
            <a:ext cx="10295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Results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|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③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 성별</a:t>
            </a:r>
            <a:r>
              <a:rPr lang="en-US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-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연령별 </a:t>
            </a:r>
            <a:r>
              <a:rPr lang="en" altLang="ko-KR" sz="2400" b="1" dirty="0" err="1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MetS</a:t>
            </a:r>
            <a:r>
              <a:rPr lang="en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(+) vs </a:t>
            </a:r>
            <a:r>
              <a:rPr lang="en" altLang="ko-KR" sz="2400" b="1" dirty="0" err="1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MetS</a:t>
            </a:r>
            <a:r>
              <a:rPr lang="en" altLang="ko-KR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(-) </a:t>
            </a:r>
            <a:r>
              <a:rPr lang="ko-KR" altLang="en-US" sz="2400" b="1" dirty="0">
                <a:solidFill>
                  <a:srgbClr val="0A2540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네트워크 비교</a:t>
            </a:r>
            <a:endParaRPr lang="en-US" altLang="ko-KR" sz="2400" b="1" dirty="0">
              <a:solidFill>
                <a:srgbClr val="0A2540"/>
              </a:solidFill>
              <a:latin typeface="Pretendard ExtraBold" panose="02000503000000020004" pitchFamily="2" charset="-127"/>
              <a:ea typeface="Pretendard ExtraBold" panose="02000503000000020004" pitchFamily="2" charset="-127"/>
              <a:cs typeface="Pretendard ExtraBold" panose="02000503000000020004" pitchFamily="2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482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761695" y="580644"/>
            <a:ext cx="5662879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dirty="0">
                <a:solidFill>
                  <a:srgbClr val="0A254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Conclusions &amp; Implications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714500"/>
            <a:ext cx="12573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0A254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연구 요약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3781044"/>
            <a:ext cx="12573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0A254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연구 의의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5533949"/>
            <a:ext cx="21433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0A254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한계 및 향후 연구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2257654"/>
            <a:ext cx="1082558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A254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• 4-step GGM 파이프라인을 통한 식이 네트워크를 구축함. → SKEPTIC → Graphical Lasso → CV → Partial Correlations임.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61695" y="3019349"/>
            <a:ext cx="829177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A254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• 핵심 발견: 희소하고 일관된 네트워크 구조를 보임. 9/11 그룹에서 가공식품이 허브로 식별됨.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61695" y="4324198"/>
            <a:ext cx="851123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A254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• 맞춤형 영양 코칭을 위한 과학적 근거를 제공함. → 가공식품 중심의 식습관 개선 전략이 필요함.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61695" y="4772254"/>
            <a:ext cx="583478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A254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• 공중보건 개입 타깃 설정을 위한 실증적 네트워크 모델을 제시함.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61695" y="6077102"/>
            <a:ext cx="709208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A254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• 한계: 관찰 자료에 기반함. 반모수 변환을 가정함. 튜닝 파라미터(λ)에 의존적임.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61695" y="6524244"/>
            <a:ext cx="793973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A254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• 향후 연구: 종단/개입 연구로 확장함. 비선형 관계를 모델링함. 다중층 네트워크를 분석함.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1633</TotalTime>
  <Words>1165</Words>
  <Application>Microsoft Macintosh PowerPoint</Application>
  <PresentationFormat>와이드스크린</PresentationFormat>
  <Paragraphs>248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Pretendard</vt:lpstr>
      <vt:lpstr>Pretendard ExtraBold</vt:lpstr>
      <vt:lpstr>Pretendard Medium</vt:lpstr>
      <vt:lpstr>Pretendard SemiBold</vt:lpstr>
      <vt:lpstr>Arial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희정 황</cp:lastModifiedBy>
  <cp:revision>2</cp:revision>
  <dcterms:created xsi:type="dcterms:W3CDTF">2025-11-21T11:42:12Z</dcterms:created>
  <dcterms:modified xsi:type="dcterms:W3CDTF">2025-11-22T15:52:05Z</dcterms:modified>
</cp:coreProperties>
</file>