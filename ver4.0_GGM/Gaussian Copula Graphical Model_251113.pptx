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4" r:id="rId3"/>
    <p:sldId id="259" r:id="rId4"/>
    <p:sldId id="327" r:id="rId5"/>
    <p:sldId id="261" r:id="rId6"/>
    <p:sldId id="272" r:id="rId7"/>
    <p:sldId id="264" r:id="rId8"/>
    <p:sldId id="266" r:id="rId9"/>
    <p:sldId id="265" r:id="rId10"/>
    <p:sldId id="270" r:id="rId11"/>
    <p:sldId id="311" r:id="rId12"/>
    <p:sldId id="312" r:id="rId13"/>
    <p:sldId id="314" r:id="rId14"/>
    <p:sldId id="287" r:id="rId15"/>
    <p:sldId id="286" r:id="rId16"/>
    <p:sldId id="298" r:id="rId17"/>
    <p:sldId id="30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418"/>
    <a:srgbClr val="FF6B6B"/>
    <a:srgbClr val="EA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94843"/>
  </p:normalViewPr>
  <p:slideViewPr>
    <p:cSldViewPr snapToGrid="0" snapToObjects="1">
      <p:cViewPr varScale="1">
        <p:scale>
          <a:sx n="103" d="100"/>
          <a:sy n="103" d="100"/>
        </p:scale>
        <p:origin x="1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69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90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9632-6036-45E9-F319-05EC032A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E3644-68DB-D619-F54B-A55C0B92E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68EB8-9101-ADB5-73B5-CF6486AA6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B3901-0FA0-F9A4-654C-4DAF481ED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5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39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2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34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66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행렬식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Determinant)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행렬의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볼륨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나타내는 하나의 숫자</a:t>
            </a:r>
            <a:endParaRPr lang="en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2667305"/>
            <a:ext cx="1904695" cy="75895"/>
          </a:xfrm>
          <a:prstGeom prst="rect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52805" y="2222906"/>
            <a:ext cx="78492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Semiparametric Gaussian Copula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2771546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Graphical Model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0172700" y="6229807"/>
            <a:ext cx="1196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[2025.11.25]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 l="-133" r="-133"/>
          <a:stretch/>
        </p:blipFill>
        <p:spPr>
          <a:xfrm>
            <a:off x="9305849" y="2572207"/>
            <a:ext cx="1933956" cy="1714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048A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048A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8A58428-C0B5-2198-347B-644D02D25CD1}"/>
              </a:ext>
            </a:extLst>
          </p:cNvPr>
          <p:cNvSpPr txBox="1"/>
          <p:nvPr/>
        </p:nvSpPr>
        <p:spPr>
          <a:xfrm>
            <a:off x="952805" y="5495544"/>
            <a:ext cx="13962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황희정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2C9327B-E9BD-448D-B251-608061A86064}"/>
              </a:ext>
            </a:extLst>
          </p:cNvPr>
          <p:cNvSpPr txBox="1"/>
          <p:nvPr/>
        </p:nvSpPr>
        <p:spPr>
          <a:xfrm>
            <a:off x="952805" y="5848502"/>
            <a:ext cx="359742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서울대학교</a:t>
            </a:r>
            <a:r>
              <a:rPr lang="en-US" sz="13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정밀식의학연구실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5909608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63157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Gaussian Graphical Model(GGM)</a:t>
            </a:r>
            <a:endParaRPr lang="en-US" sz="30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1CC5033-DBDD-0042-08F0-C768F4C4325E}"/>
              </a:ext>
            </a:extLst>
          </p:cNvPr>
          <p:cNvGrpSpPr/>
          <p:nvPr/>
        </p:nvGrpSpPr>
        <p:grpSpPr>
          <a:xfrm>
            <a:off x="952805" y="2537883"/>
            <a:ext cx="10287000" cy="1163781"/>
            <a:chOff x="952805" y="7265324"/>
            <a:chExt cx="10287000" cy="1163781"/>
          </a:xfrm>
        </p:grpSpPr>
        <p:sp>
          <p:nvSpPr>
            <p:cNvPr id="28" name="Shape 23"/>
            <p:cNvSpPr/>
            <p:nvPr/>
          </p:nvSpPr>
          <p:spPr>
            <a:xfrm>
              <a:off x="952805" y="7265324"/>
              <a:ext cx="10287000" cy="1163781"/>
            </a:xfrm>
            <a:prstGeom prst="roundRect">
              <a:avLst>
                <a:gd name="adj" fmla="val 4761"/>
              </a:avLst>
            </a:prstGeom>
            <a:solidFill>
              <a:srgbClr val="FFFFFF">
                <a:alpha val="90000"/>
              </a:srgbClr>
            </a:solidFill>
            <a:ln w="12700">
              <a:solidFill>
                <a:srgbClr val="2E4057">
                  <a:alpha val="10000"/>
                </a:srgbClr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4"/>
            <p:cNvSpPr/>
            <p:nvPr/>
          </p:nvSpPr>
          <p:spPr>
            <a:xfrm>
              <a:off x="1152144" y="7372807"/>
              <a:ext cx="342900" cy="342900"/>
            </a:xfrm>
            <a:prstGeom prst="ellipse">
              <a:avLst/>
            </a:prstGeom>
            <a:solidFill>
              <a:srgbClr val="F2641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252728" y="7448702"/>
              <a:ext cx="142646" cy="190195"/>
            </a:xfrm>
            <a:prstGeom prst="rect">
              <a:avLst/>
            </a:prstGeom>
          </p:spPr>
        </p:pic>
        <p:sp>
          <p:nvSpPr>
            <p:cNvPr id="31" name="Text 25"/>
            <p:cNvSpPr txBox="1"/>
            <p:nvPr/>
          </p:nvSpPr>
          <p:spPr>
            <a:xfrm>
              <a:off x="1638605" y="7391095"/>
              <a:ext cx="137708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핵심 아이디어</a:t>
              </a:r>
              <a:endParaRPr lang="en-US" sz="16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1638605" y="7810805"/>
              <a:ext cx="9415577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 행렬(Σ)은 모든 관계(직접 + 간접)를 포함하지만, 정밀도 행렬(Θ)은 직접적인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관계만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나타냄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.</a:t>
              </a:r>
            </a:p>
            <a:p>
              <a:pPr marL="0" indent="0" algn="l">
                <a:buNone/>
              </a:pP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정밀도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행렬만을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이용한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그래프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모델이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Gaussian Graphical Model (GGM)</a:t>
              </a:r>
              <a:endParaRPr lang="en-US" sz="1300" dirty="0"/>
            </a:p>
          </p:txBody>
        </p:sp>
      </p:grpSp>
      <p:sp>
        <p:nvSpPr>
          <p:cNvPr id="33" name="Text 14">
            <a:extLst>
              <a:ext uri="{FF2B5EF4-FFF2-40B4-BE49-F238E27FC236}">
                <a16:creationId xmlns:a16="http://schemas.microsoft.com/office/drawing/2014/main" id="{F012DA4F-1E61-EDED-F94E-2001F64F69D6}"/>
              </a:ext>
            </a:extLst>
          </p:cNvPr>
          <p:cNvSpPr txBox="1"/>
          <p:nvPr/>
        </p:nvSpPr>
        <p:spPr>
          <a:xfrm>
            <a:off x="905256" y="1143914"/>
            <a:ext cx="6010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목표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직접 관계만 식별하여 진정한 구조 파악</a:t>
            </a:r>
            <a:endParaRPr lang="en-US" sz="18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66DA9B71-1FC1-0220-7E02-AB9EB25C335C}"/>
              </a:ext>
            </a:extLst>
          </p:cNvPr>
          <p:cNvSpPr/>
          <p:nvPr/>
        </p:nvSpPr>
        <p:spPr>
          <a:xfrm>
            <a:off x="951891" y="1591969"/>
            <a:ext cx="10287914" cy="850505"/>
          </a:xfrm>
          <a:prstGeom prst="roundRect">
            <a:avLst>
              <a:gd name="adj" fmla="val 8545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algn="ctr"/>
            <a:r>
              <a:rPr lang="en-US" altLang="ko-KR" sz="3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 ~ N(</a:t>
            </a:r>
            <a:r>
              <a:rPr lang="en-US" altLang="ko-KR" sz="3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</a:t>
            </a:r>
            <a:r>
              <a:rPr lang="en-US" altLang="ko-KR" sz="3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3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</a:t>
            </a:r>
            <a:r>
              <a:rPr lang="en-US" altLang="ko-KR" sz="3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→ </a:t>
            </a:r>
            <a:r>
              <a:rPr lang="en-US" altLang="ko-KR" sz="3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</a:t>
            </a:r>
            <a:r>
              <a:rPr lang="en-US" altLang="ko-KR" sz="3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= Σ⁻¹</a:t>
            </a:r>
            <a:endParaRPr lang="en-US" altLang="ko-KR" sz="36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70D2868-154A-7FD2-E5F4-5337A88FFDDB}"/>
              </a:ext>
            </a:extLst>
          </p:cNvPr>
          <p:cNvGrpSpPr/>
          <p:nvPr/>
        </p:nvGrpSpPr>
        <p:grpSpPr>
          <a:xfrm>
            <a:off x="951892" y="5554150"/>
            <a:ext cx="10473537" cy="800100"/>
            <a:chOff x="761696" y="6239190"/>
            <a:chExt cx="10473537" cy="800100"/>
          </a:xfrm>
        </p:grpSpPr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C10023A2-BAA6-7588-A59F-FB0E42CDD74F}"/>
                </a:ext>
              </a:extLst>
            </p:cNvPr>
            <p:cNvSpPr/>
            <p:nvPr/>
          </p:nvSpPr>
          <p:spPr>
            <a:xfrm>
              <a:off x="761696" y="6239190"/>
              <a:ext cx="10287000" cy="800100"/>
            </a:xfrm>
            <a:prstGeom prst="roundRect">
              <a:avLst>
                <a:gd name="adj" fmla="val 13605"/>
              </a:avLst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0" descr="preencoded.png">
              <a:extLst>
                <a:ext uri="{FF2B5EF4-FFF2-40B4-BE49-F238E27FC236}">
                  <a16:creationId xmlns:a16="http://schemas.microsoft.com/office/drawing/2014/main" id="{1E15000C-466C-C51C-43C8-D11B75C4A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52805" y="6496137"/>
              <a:ext cx="286207" cy="286207"/>
            </a:xfrm>
            <a:prstGeom prst="rect">
              <a:avLst/>
            </a:prstGeom>
          </p:spPr>
        </p:pic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BCD84B80-B028-D8E5-C297-49E5A47974C1}"/>
                </a:ext>
              </a:extLst>
            </p:cNvPr>
            <p:cNvSpPr txBox="1"/>
            <p:nvPr/>
          </p:nvSpPr>
          <p:spPr>
            <a:xfrm>
              <a:off x="1380744" y="6386409"/>
              <a:ext cx="9854489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n &lt; p 고차원 문제에서는 Σ̂이 특이행렬(singular)이 되어 역행렬이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존재하지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않음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.</a:t>
              </a:r>
            </a:p>
            <a:p>
              <a:pPr marL="0" indent="0" algn="l">
                <a:buNone/>
              </a:pP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이런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경우 Graphical Lasso와 같은 정규화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방법이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</a:t>
              </a:r>
              <a:endParaRPr lang="en-US" sz="13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0F38EB31-250C-BE33-56E7-D70B8B189E81}"/>
              </a:ext>
            </a:extLst>
          </p:cNvPr>
          <p:cNvGrpSpPr/>
          <p:nvPr/>
        </p:nvGrpSpPr>
        <p:grpSpPr>
          <a:xfrm>
            <a:off x="2080716" y="3913888"/>
            <a:ext cx="8030261" cy="1458468"/>
            <a:chOff x="961949" y="4272316"/>
            <a:chExt cx="8030261" cy="1458468"/>
          </a:xfrm>
        </p:grpSpPr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DFB2873A-A706-6B12-B00D-C443C2233EB8}"/>
                </a:ext>
              </a:extLst>
            </p:cNvPr>
            <p:cNvSpPr txBox="1"/>
            <p:nvPr/>
          </p:nvSpPr>
          <p:spPr>
            <a:xfrm>
              <a:off x="1194206" y="5244323"/>
              <a:ext cx="6053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Σ̂ 계산</a:t>
              </a:r>
              <a:endParaRPr lang="en-US" sz="13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A5EF2E4F-A353-72F3-0CFB-7EADED8D17BF}"/>
                </a:ext>
              </a:extLst>
            </p:cNvPr>
            <p:cNvSpPr txBox="1"/>
            <p:nvPr/>
          </p:nvSpPr>
          <p:spPr>
            <a:xfrm>
              <a:off x="3418942" y="5244323"/>
              <a:ext cx="7287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Θ̂ = Σ̂-1</a:t>
              </a:r>
              <a:endParaRPr lang="en-US" sz="13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BF5F430C-9060-3B3B-B790-87900738418F}"/>
                </a:ext>
              </a:extLst>
            </p:cNvPr>
            <p:cNvSpPr txBox="1"/>
            <p:nvPr/>
          </p:nvSpPr>
          <p:spPr>
            <a:xfrm>
              <a:off x="5424221" y="5244323"/>
              <a:ext cx="12819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임계치로 희소화</a:t>
              </a:r>
              <a:endParaRPr lang="en-US" sz="13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3932423A-7B5D-6602-C4D3-71056E4A4C61}"/>
                </a:ext>
              </a:extLst>
            </p:cNvPr>
            <p:cNvSpPr txBox="1"/>
            <p:nvPr/>
          </p:nvSpPr>
          <p:spPr>
            <a:xfrm>
              <a:off x="7710221" y="5244323"/>
              <a:ext cx="12819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 시각화</a:t>
              </a:r>
              <a:endParaRPr lang="en-US" sz="13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51261C16-E6E9-CE31-9F81-5F0C83904BC8}"/>
                </a:ext>
              </a:extLst>
            </p:cNvPr>
            <p:cNvSpPr txBox="1"/>
            <p:nvPr/>
          </p:nvSpPr>
          <p:spPr>
            <a:xfrm>
              <a:off x="961949" y="5539674"/>
              <a:ext cx="10341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샘플 공분산 행렬</a:t>
              </a:r>
              <a:endParaRPr lang="en-US" sz="10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E0D2B053-7BBA-766B-A66C-DD78CF789090}"/>
                </a:ext>
              </a:extLst>
            </p:cNvPr>
            <p:cNvSpPr txBox="1"/>
            <p:nvPr/>
          </p:nvSpPr>
          <p:spPr>
            <a:xfrm>
              <a:off x="3141878" y="5539674"/>
              <a:ext cx="12527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정밀도 행렬 (역행렬)</a:t>
              </a:r>
              <a:endParaRPr lang="en-US" sz="1000" dirty="0"/>
            </a:p>
          </p:txBody>
        </p:sp>
        <p:sp>
          <p:nvSpPr>
            <p:cNvPr id="44" name="Text 13">
              <a:extLst>
                <a:ext uri="{FF2B5EF4-FFF2-40B4-BE49-F238E27FC236}">
                  <a16:creationId xmlns:a16="http://schemas.microsoft.com/office/drawing/2014/main" id="{788FB275-4DB2-6AE2-FF40-6F3251B837FE}"/>
                </a:ext>
              </a:extLst>
            </p:cNvPr>
            <p:cNvSpPr txBox="1"/>
            <p:nvPr/>
          </p:nvSpPr>
          <p:spPr>
            <a:xfrm>
              <a:off x="5533949" y="5539674"/>
              <a:ext cx="10341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작은 값 → 0으로</a:t>
              </a:r>
              <a:endParaRPr lang="en-US" sz="1000" dirty="0"/>
            </a:p>
          </p:txBody>
        </p:sp>
        <p:sp>
          <p:nvSpPr>
            <p:cNvPr id="45" name="Text 14">
              <a:extLst>
                <a:ext uri="{FF2B5EF4-FFF2-40B4-BE49-F238E27FC236}">
                  <a16:creationId xmlns:a16="http://schemas.microsoft.com/office/drawing/2014/main" id="{24302362-BBDE-4835-4482-74FE46CAFF19}"/>
                </a:ext>
              </a:extLst>
            </p:cNvPr>
            <p:cNvSpPr txBox="1"/>
            <p:nvPr/>
          </p:nvSpPr>
          <p:spPr>
            <a:xfrm>
              <a:off x="7819949" y="5539674"/>
              <a:ext cx="10341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그래프 구조 복원</a:t>
              </a:r>
              <a:endParaRPr lang="en-US" sz="1000" dirty="0"/>
            </a:p>
          </p:txBody>
        </p:sp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E9B0AC4B-758C-C49C-C201-F5A17041518F}"/>
                </a:ext>
              </a:extLst>
            </p:cNvPr>
            <p:cNvSpPr/>
            <p:nvPr/>
          </p:nvSpPr>
          <p:spPr>
            <a:xfrm>
              <a:off x="2095805" y="4686996"/>
              <a:ext cx="952805" cy="28346"/>
            </a:xfrm>
            <a:prstGeom prst="rect">
              <a:avLst/>
            </a:prstGeom>
            <a:solidFill>
              <a:srgbClr val="2E40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16">
              <a:extLst>
                <a:ext uri="{FF2B5EF4-FFF2-40B4-BE49-F238E27FC236}">
                  <a16:creationId xmlns:a16="http://schemas.microsoft.com/office/drawing/2014/main" id="{842194C6-5EFD-6582-DF5C-346ED9CA55F2}"/>
                </a:ext>
              </a:extLst>
            </p:cNvPr>
            <p:cNvSpPr/>
            <p:nvPr/>
          </p:nvSpPr>
          <p:spPr>
            <a:xfrm>
              <a:off x="4381805" y="4686996"/>
              <a:ext cx="952805" cy="28346"/>
            </a:xfrm>
            <a:prstGeom prst="rect">
              <a:avLst/>
            </a:prstGeom>
            <a:solidFill>
              <a:srgbClr val="2E40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17">
              <a:extLst>
                <a:ext uri="{FF2B5EF4-FFF2-40B4-BE49-F238E27FC236}">
                  <a16:creationId xmlns:a16="http://schemas.microsoft.com/office/drawing/2014/main" id="{382D64EA-4ED8-3E57-4360-D740DAF8A4F1}"/>
                </a:ext>
              </a:extLst>
            </p:cNvPr>
            <p:cNvSpPr/>
            <p:nvPr/>
          </p:nvSpPr>
          <p:spPr>
            <a:xfrm>
              <a:off x="6667805" y="4686996"/>
              <a:ext cx="952805" cy="28346"/>
            </a:xfrm>
            <a:prstGeom prst="rect">
              <a:avLst/>
            </a:prstGeom>
            <a:solidFill>
              <a:srgbClr val="2E40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20">
              <a:extLst>
                <a:ext uri="{FF2B5EF4-FFF2-40B4-BE49-F238E27FC236}">
                  <a16:creationId xmlns:a16="http://schemas.microsoft.com/office/drawing/2014/main" id="{4B69E6AA-62AF-1351-3E59-1295C7F09D08}"/>
                </a:ext>
              </a:extLst>
            </p:cNvPr>
            <p:cNvSpPr/>
            <p:nvPr/>
          </p:nvSpPr>
          <p:spPr>
            <a:xfrm>
              <a:off x="1000354" y="4272316"/>
              <a:ext cx="857707" cy="857707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3" name="Image 1" descr="preencoded.png">
              <a:extLst>
                <a:ext uri="{FF2B5EF4-FFF2-40B4-BE49-F238E27FC236}">
                  <a16:creationId xmlns:a16="http://schemas.microsoft.com/office/drawing/2014/main" id="{7F698179-2EC0-F8BE-0FFC-94D8C464D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295705" y="4567667"/>
              <a:ext cx="267005" cy="267005"/>
            </a:xfrm>
            <a:prstGeom prst="rect">
              <a:avLst/>
            </a:prstGeom>
          </p:spPr>
        </p:pic>
        <p:sp>
          <p:nvSpPr>
            <p:cNvPr id="54" name="Shape 21">
              <a:extLst>
                <a:ext uri="{FF2B5EF4-FFF2-40B4-BE49-F238E27FC236}">
                  <a16:creationId xmlns:a16="http://schemas.microsoft.com/office/drawing/2014/main" id="{D81976BC-5721-D590-96FC-6C82366A57C1}"/>
                </a:ext>
              </a:extLst>
            </p:cNvPr>
            <p:cNvSpPr/>
            <p:nvPr/>
          </p:nvSpPr>
          <p:spPr>
            <a:xfrm>
              <a:off x="3286354" y="4272316"/>
              <a:ext cx="857707" cy="857707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Shape 22">
              <a:extLst>
                <a:ext uri="{FF2B5EF4-FFF2-40B4-BE49-F238E27FC236}">
                  <a16:creationId xmlns:a16="http://schemas.microsoft.com/office/drawing/2014/main" id="{5FA4F684-9881-5A18-28A6-824008E0630C}"/>
                </a:ext>
              </a:extLst>
            </p:cNvPr>
            <p:cNvSpPr/>
            <p:nvPr/>
          </p:nvSpPr>
          <p:spPr>
            <a:xfrm>
              <a:off x="5572354" y="4272316"/>
              <a:ext cx="857707" cy="857707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BA0CB9DC-91F9-22A0-19E4-37240C613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614623" y="4567667"/>
              <a:ext cx="200254" cy="267005"/>
            </a:xfrm>
            <a:prstGeom prst="rect">
              <a:avLst/>
            </a:prstGeom>
          </p:spPr>
        </p:pic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199765FB-1803-2C87-9557-0B4D9B670807}"/>
                </a:ext>
              </a:extLst>
            </p:cNvPr>
            <p:cNvSpPr/>
            <p:nvPr/>
          </p:nvSpPr>
          <p:spPr>
            <a:xfrm>
              <a:off x="7858354" y="4272316"/>
              <a:ext cx="857707" cy="857707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3" name="Image 3" descr="preencoded.png">
              <a:extLst>
                <a:ext uri="{FF2B5EF4-FFF2-40B4-BE49-F238E27FC236}">
                  <a16:creationId xmlns:a16="http://schemas.microsoft.com/office/drawing/2014/main" id="{B377F2F5-AA8E-CCC7-1AAD-F8E5C3DE1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7705" y="4567667"/>
              <a:ext cx="267005" cy="267005"/>
            </a:xfrm>
            <a:prstGeom prst="rect">
              <a:avLst/>
            </a:prstGeom>
          </p:spPr>
        </p:pic>
        <p:pic>
          <p:nvPicPr>
            <p:cNvPr id="65" name="Image 4" descr="preencoded.png">
              <a:extLst>
                <a:ext uri="{FF2B5EF4-FFF2-40B4-BE49-F238E27FC236}">
                  <a16:creationId xmlns:a16="http://schemas.microsoft.com/office/drawing/2014/main" id="{5576BD5C-4044-879E-4103-58145404B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8119872" y="4567667"/>
              <a:ext cx="333756" cy="267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54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77195" y="5143500"/>
            <a:ext cx="2857500" cy="2857500"/>
          </a:xfrm>
          <a:prstGeom prst="ellipse">
            <a:avLst/>
          </a:prstGeom>
          <a:solidFill>
            <a:srgbClr val="048A81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761695"/>
            <a:ext cx="1904695" cy="1904695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57349"/>
            <a:ext cx="266730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그래프</a:t>
            </a:r>
            <a:r>
              <a:rPr lang="en-US" sz="31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구축</a:t>
            </a:r>
            <a:r>
              <a:rPr lang="en-US" sz="31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과정</a:t>
            </a:r>
            <a:endParaRPr lang="en-US" sz="31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0AB340A0-56EE-D7A9-134E-7751268250AD}"/>
              </a:ext>
            </a:extLst>
          </p:cNvPr>
          <p:cNvGrpSpPr/>
          <p:nvPr/>
        </p:nvGrpSpPr>
        <p:grpSpPr>
          <a:xfrm>
            <a:off x="3363803" y="329947"/>
            <a:ext cx="8177008" cy="6198106"/>
            <a:chOff x="3333902" y="457349"/>
            <a:chExt cx="8177008" cy="6198106"/>
          </a:xfrm>
        </p:grpSpPr>
        <p:sp>
          <p:nvSpPr>
            <p:cNvPr id="54" name="Shape 37">
              <a:extLst>
                <a:ext uri="{FF2B5EF4-FFF2-40B4-BE49-F238E27FC236}">
                  <a16:creationId xmlns:a16="http://schemas.microsoft.com/office/drawing/2014/main" id="{1111CF89-46E2-ECBA-B59D-7A18E30FE61E}"/>
                </a:ext>
              </a:extLst>
            </p:cNvPr>
            <p:cNvSpPr/>
            <p:nvPr/>
          </p:nvSpPr>
          <p:spPr>
            <a:xfrm>
              <a:off x="9252887" y="1598393"/>
              <a:ext cx="2258023" cy="858740"/>
            </a:xfrm>
            <a:prstGeom prst="rect">
              <a:avLst/>
            </a:prstGeom>
            <a:solidFill>
              <a:schemeClr val="bg1"/>
            </a:solidFill>
            <a:ln/>
            <a:effectLst/>
          </p:spPr>
          <p:txBody>
            <a:bodyPr lIns="72000" tIns="0" rIns="0" bIns="0" anchor="ctr" anchorCtr="0"/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Nonparanormal SKEPTIC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Rank Transformation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Empirical CDF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Quantile Transform</a:t>
              </a: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55739A7-EE0B-64EF-9363-7C9BDEA0AB09}"/>
                </a:ext>
              </a:extLst>
            </p:cNvPr>
            <p:cNvSpPr/>
            <p:nvPr/>
          </p:nvSpPr>
          <p:spPr>
            <a:xfrm>
              <a:off x="4762195" y="457349"/>
              <a:ext cx="2667306" cy="657680"/>
            </a:xfrm>
            <a:prstGeom prst="diamond">
              <a:avLst/>
            </a:prstGeom>
            <a:solidFill>
              <a:schemeClr val="tx2">
                <a:lumMod val="50000"/>
              </a:schemeClr>
            </a:solidFill>
            <a:ln/>
            <a:effectLst>
              <a:outerShdw blurRad="50800" dist="25400" dir="5400000" algn="bl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 anchorCtr="0"/>
            <a:lstStyle/>
            <a:p>
              <a:pPr algn="ctr"/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데이터</a:t>
              </a:r>
              <a:endParaRPr lang="en-US" altLang="ko-KR" sz="14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  <a:p>
              <a:pPr algn="ctr"/>
              <a:r>
                <a:rPr lang="en-US" altLang="ko-KR" sz="1400" b="1" dirty="0" err="1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분포</a:t>
              </a:r>
              <a:r>
                <a:rPr lang="en-US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en-US" altLang="ko-KR" sz="1400" b="1" dirty="0" err="1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확인</a:t>
              </a:r>
              <a:endParaRPr lang="en-US" altLang="ko-KR" sz="14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6A961C56-3785-47D3-1A5C-2F3454B0B3BD}"/>
                </a:ext>
              </a:extLst>
            </p:cNvPr>
            <p:cNvGrpSpPr/>
            <p:nvPr/>
          </p:nvGrpSpPr>
          <p:grpSpPr>
            <a:xfrm>
              <a:off x="3333902" y="1375024"/>
              <a:ext cx="5408676" cy="335051"/>
              <a:chOff x="3333902" y="1649051"/>
              <a:chExt cx="5408676" cy="335051"/>
            </a:xfrm>
          </p:grpSpPr>
          <p:sp>
            <p:nvSpPr>
              <p:cNvPr id="44" name="Shape 29">
                <a:extLst>
                  <a:ext uri="{FF2B5EF4-FFF2-40B4-BE49-F238E27FC236}">
                    <a16:creationId xmlns:a16="http://schemas.microsoft.com/office/drawing/2014/main" id="{CA31556A-05E0-34BE-29BB-6D97C2DFE2A2}"/>
                  </a:ext>
                </a:extLst>
              </p:cNvPr>
              <p:cNvSpPr/>
              <p:nvPr/>
            </p:nvSpPr>
            <p:spPr>
              <a:xfrm>
                <a:off x="3333902" y="1649051"/>
                <a:ext cx="2095805" cy="335051"/>
              </a:xfrm>
              <a:prstGeom prst="roundRect">
                <a:avLst>
                  <a:gd name="adj" fmla="val 39698"/>
                </a:avLst>
              </a:prstGeom>
              <a:solidFill>
                <a:schemeClr val="accent1">
                  <a:lumMod val="50000"/>
                </a:schemeClr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정규</a:t>
                </a:r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 </a:t>
                </a:r>
                <a:r>
                  <a:rPr lang="en-US" altLang="ko-KR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분포</a:t>
                </a:r>
                <a:endParaRPr lang="en-US" altLang="ko-KR" sz="1400" b="1" dirty="0"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45" name="Shape 30">
                <a:extLst>
                  <a:ext uri="{FF2B5EF4-FFF2-40B4-BE49-F238E27FC236}">
                    <a16:creationId xmlns:a16="http://schemas.microsoft.com/office/drawing/2014/main" id="{EE747154-CA0E-5AFB-4DBC-CB05C22590A7}"/>
                  </a:ext>
                </a:extLst>
              </p:cNvPr>
              <p:cNvSpPr/>
              <p:nvPr/>
            </p:nvSpPr>
            <p:spPr>
              <a:xfrm>
                <a:off x="6646773" y="1649051"/>
                <a:ext cx="2095805" cy="335051"/>
              </a:xfrm>
              <a:prstGeom prst="roundRect">
                <a:avLst>
                  <a:gd name="adj" fmla="val 39698"/>
                </a:avLst>
              </a:prstGeom>
              <a:solidFill>
                <a:schemeClr val="accent1">
                  <a:lumMod val="50000"/>
                </a:schemeClr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비정규</a:t>
                </a:r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 </a:t>
                </a:r>
                <a:r>
                  <a:rPr lang="en-US" altLang="ko-KR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분포</a:t>
                </a:r>
                <a:endParaRPr lang="en-US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9496E116-9615-9622-322D-ECBE2453C686}"/>
                </a:ext>
              </a:extLst>
            </p:cNvPr>
            <p:cNvGrpSpPr/>
            <p:nvPr/>
          </p:nvGrpSpPr>
          <p:grpSpPr>
            <a:xfrm>
              <a:off x="3333902" y="1860238"/>
              <a:ext cx="5408676" cy="335051"/>
              <a:chOff x="3333902" y="2123614"/>
              <a:chExt cx="5408676" cy="335051"/>
            </a:xfrm>
          </p:grpSpPr>
          <p:sp>
            <p:nvSpPr>
              <p:cNvPr id="46" name="Shape 31">
                <a:extLst>
                  <a:ext uri="{FF2B5EF4-FFF2-40B4-BE49-F238E27FC236}">
                    <a16:creationId xmlns:a16="http://schemas.microsoft.com/office/drawing/2014/main" id="{CD06ABBF-0410-93AD-CAF8-FF4E0222626D}"/>
                  </a:ext>
                </a:extLst>
              </p:cNvPr>
              <p:cNvSpPr/>
              <p:nvPr/>
            </p:nvSpPr>
            <p:spPr>
              <a:xfrm>
                <a:off x="3333902" y="2123614"/>
                <a:ext cx="2095805" cy="335051"/>
              </a:xfrm>
              <a:prstGeom prst="roundRect">
                <a:avLst>
                  <a:gd name="adj" fmla="val 39698"/>
                </a:avLst>
              </a:prstGeom>
              <a:solidFill>
                <a:srgbClr val="6C9BCF"/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전통적</a:t>
                </a:r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 GGM</a:t>
                </a:r>
              </a:p>
            </p:txBody>
          </p:sp>
          <p:sp>
            <p:nvSpPr>
              <p:cNvPr id="50" name="Shape 34">
                <a:extLst>
                  <a:ext uri="{FF2B5EF4-FFF2-40B4-BE49-F238E27FC236}">
                    <a16:creationId xmlns:a16="http://schemas.microsoft.com/office/drawing/2014/main" id="{C5A876C7-BF8E-5D6F-9375-6B3735B64E19}"/>
                  </a:ext>
                </a:extLst>
              </p:cNvPr>
              <p:cNvSpPr/>
              <p:nvPr/>
            </p:nvSpPr>
            <p:spPr>
              <a:xfrm>
                <a:off x="6646773" y="2123614"/>
                <a:ext cx="2095805" cy="335051"/>
              </a:xfrm>
              <a:prstGeom prst="roundRect">
                <a:avLst>
                  <a:gd name="adj" fmla="val 39698"/>
                </a:avLst>
              </a:prstGeom>
              <a:solidFill>
                <a:srgbClr val="6C9BCF"/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Gaussian Copula</a:t>
                </a:r>
              </a:p>
            </p:txBody>
          </p:sp>
        </p:grpSp>
        <p:cxnSp>
          <p:nvCxnSpPr>
            <p:cNvPr id="86" name="꺾인 연결선[E] 85">
              <a:extLst>
                <a:ext uri="{FF2B5EF4-FFF2-40B4-BE49-F238E27FC236}">
                  <a16:creationId xmlns:a16="http://schemas.microsoft.com/office/drawing/2014/main" id="{422DB64B-CCE3-F4DE-A029-4331BCF8044B}"/>
                </a:ext>
              </a:extLst>
            </p:cNvPr>
            <p:cNvCxnSpPr>
              <a:cxnSpLocks/>
              <a:stCxn id="7" idx="2"/>
              <a:endCxn id="44" idx="0"/>
            </p:cNvCxnSpPr>
            <p:nvPr/>
          </p:nvCxnSpPr>
          <p:spPr>
            <a:xfrm rot="5400000">
              <a:off x="5108830" y="388005"/>
              <a:ext cx="259995" cy="171404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꺾인 연결선[E] 87">
              <a:extLst>
                <a:ext uri="{FF2B5EF4-FFF2-40B4-BE49-F238E27FC236}">
                  <a16:creationId xmlns:a16="http://schemas.microsoft.com/office/drawing/2014/main" id="{9D8B2853-22DA-D66A-DE2F-ED5EC78BB5E0}"/>
                </a:ext>
              </a:extLst>
            </p:cNvPr>
            <p:cNvCxnSpPr>
              <a:cxnSpLocks/>
              <a:stCxn id="7" idx="2"/>
              <a:endCxn id="45" idx="0"/>
            </p:cNvCxnSpPr>
            <p:nvPr/>
          </p:nvCxnSpPr>
          <p:spPr>
            <a:xfrm rot="16200000" flipH="1">
              <a:off x="6765265" y="445612"/>
              <a:ext cx="259995" cy="159882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[E] 91">
              <a:extLst>
                <a:ext uri="{FF2B5EF4-FFF2-40B4-BE49-F238E27FC236}">
                  <a16:creationId xmlns:a16="http://schemas.microsoft.com/office/drawing/2014/main" id="{C00B5BC0-941E-2EC4-96BF-ECA1D02E1BE2}"/>
                </a:ext>
              </a:extLst>
            </p:cNvPr>
            <p:cNvCxnSpPr>
              <a:cxnSpLocks/>
              <a:stCxn id="44" idx="2"/>
              <a:endCxn id="46" idx="0"/>
            </p:cNvCxnSpPr>
            <p:nvPr/>
          </p:nvCxnSpPr>
          <p:spPr>
            <a:xfrm>
              <a:off x="4381805" y="1710075"/>
              <a:ext cx="0" cy="150163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[E] 91">
              <a:extLst>
                <a:ext uri="{FF2B5EF4-FFF2-40B4-BE49-F238E27FC236}">
                  <a16:creationId xmlns:a16="http://schemas.microsoft.com/office/drawing/2014/main" id="{F1611691-8F27-0C97-1C43-9EFF9EA3AC3B}"/>
                </a:ext>
              </a:extLst>
            </p:cNvPr>
            <p:cNvCxnSpPr>
              <a:cxnSpLocks/>
              <a:stCxn id="45" idx="2"/>
              <a:endCxn id="50" idx="0"/>
            </p:cNvCxnSpPr>
            <p:nvPr/>
          </p:nvCxnSpPr>
          <p:spPr>
            <a:xfrm>
              <a:off x="7694676" y="1710075"/>
              <a:ext cx="0" cy="150163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Shape 5">
              <a:extLst>
                <a:ext uri="{FF2B5EF4-FFF2-40B4-BE49-F238E27FC236}">
                  <a16:creationId xmlns:a16="http://schemas.microsoft.com/office/drawing/2014/main" id="{A71A172C-AC99-6BA5-9780-3C6E92EC8D08}"/>
                </a:ext>
              </a:extLst>
            </p:cNvPr>
            <p:cNvSpPr/>
            <p:nvPr/>
          </p:nvSpPr>
          <p:spPr>
            <a:xfrm>
              <a:off x="4762195" y="2898891"/>
              <a:ext cx="2667306" cy="657680"/>
            </a:xfrm>
            <a:prstGeom prst="diamond">
              <a:avLst/>
            </a:prstGeom>
            <a:solidFill>
              <a:schemeClr val="tx2">
                <a:lumMod val="50000"/>
              </a:schemeClr>
            </a:solidFill>
            <a:ln/>
            <a:effectLst>
              <a:outerShdw blurRad="50800" dist="25400" dir="5400000" algn="bl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 anchorCtr="0"/>
            <a:lstStyle/>
            <a:p>
              <a:pPr algn="ctr"/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데이터</a:t>
              </a:r>
              <a:endParaRPr lang="en-US" altLang="ko-KR" sz="14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  <a:p>
              <a:pPr algn="ctr"/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차원</a:t>
              </a:r>
              <a:r>
                <a:rPr lang="en-US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en-US" altLang="ko-KR" sz="1400" b="1" dirty="0" err="1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확인</a:t>
              </a:r>
              <a:endParaRPr lang="en-US" altLang="ko-KR" sz="14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101" name="꺾인 연결선[E] 100">
              <a:extLst>
                <a:ext uri="{FF2B5EF4-FFF2-40B4-BE49-F238E27FC236}">
                  <a16:creationId xmlns:a16="http://schemas.microsoft.com/office/drawing/2014/main" id="{AC70882D-0005-C0C4-087A-76771202D07D}"/>
                </a:ext>
              </a:extLst>
            </p:cNvPr>
            <p:cNvCxnSpPr>
              <a:cxnSpLocks/>
              <a:stCxn id="46" idx="2"/>
              <a:endCxn id="148" idx="1"/>
            </p:cNvCxnSpPr>
            <p:nvPr/>
          </p:nvCxnSpPr>
          <p:spPr>
            <a:xfrm rot="16200000" flipH="1">
              <a:off x="4408642" y="2168452"/>
              <a:ext cx="326716" cy="380390"/>
            </a:xfrm>
            <a:prstGeom prst="bentConnector2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꺾인 연결선[E] 103">
              <a:extLst>
                <a:ext uri="{FF2B5EF4-FFF2-40B4-BE49-F238E27FC236}">
                  <a16:creationId xmlns:a16="http://schemas.microsoft.com/office/drawing/2014/main" id="{DDB7946C-005B-69A2-AD41-712195E9D41B}"/>
                </a:ext>
              </a:extLst>
            </p:cNvPr>
            <p:cNvCxnSpPr>
              <a:cxnSpLocks/>
              <a:stCxn id="50" idx="2"/>
              <a:endCxn id="148" idx="3"/>
            </p:cNvCxnSpPr>
            <p:nvPr/>
          </p:nvCxnSpPr>
          <p:spPr>
            <a:xfrm rot="5400000">
              <a:off x="7398731" y="2226060"/>
              <a:ext cx="326716" cy="265175"/>
            </a:xfrm>
            <a:prstGeom prst="bentConnector2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02679E35-E727-1B7E-8852-0368CCA5A57B}"/>
                </a:ext>
              </a:extLst>
            </p:cNvPr>
            <p:cNvGrpSpPr/>
            <p:nvPr/>
          </p:nvGrpSpPr>
          <p:grpSpPr>
            <a:xfrm>
              <a:off x="3333902" y="3845292"/>
              <a:ext cx="5408676" cy="512884"/>
              <a:chOff x="3333902" y="4378004"/>
              <a:chExt cx="5408676" cy="512884"/>
            </a:xfrm>
          </p:grpSpPr>
          <p:sp>
            <p:nvSpPr>
              <p:cNvPr id="113" name="Shape 29">
                <a:extLst>
                  <a:ext uri="{FF2B5EF4-FFF2-40B4-BE49-F238E27FC236}">
                    <a16:creationId xmlns:a16="http://schemas.microsoft.com/office/drawing/2014/main" id="{9DA7E272-6A30-3160-3E04-F945D7FEEAF4}"/>
                  </a:ext>
                </a:extLst>
              </p:cNvPr>
              <p:cNvSpPr/>
              <p:nvPr/>
            </p:nvSpPr>
            <p:spPr>
              <a:xfrm>
                <a:off x="3333902" y="4378004"/>
                <a:ext cx="2095805" cy="512884"/>
              </a:xfrm>
              <a:prstGeom prst="roundRect">
                <a:avLst>
                  <a:gd name="adj" fmla="val 39698"/>
                </a:avLst>
              </a:prstGeom>
              <a:solidFill>
                <a:schemeClr val="accent1">
                  <a:lumMod val="50000"/>
                </a:schemeClr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n &gt; p</a:t>
                </a:r>
              </a:p>
              <a:p>
                <a:pPr algn="ctr"/>
                <a:r>
                  <a:rPr lang="ko-KR" altLang="en-US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샘플 충분</a:t>
                </a:r>
                <a:endParaRPr lang="en-US" altLang="ko-KR" sz="1400" b="1" dirty="0"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114" name="Shape 30">
                <a:extLst>
                  <a:ext uri="{FF2B5EF4-FFF2-40B4-BE49-F238E27FC236}">
                    <a16:creationId xmlns:a16="http://schemas.microsoft.com/office/drawing/2014/main" id="{7BF2FBA1-D78C-A995-1C9D-4FC97303B885}"/>
                  </a:ext>
                </a:extLst>
              </p:cNvPr>
              <p:cNvSpPr/>
              <p:nvPr/>
            </p:nvSpPr>
            <p:spPr>
              <a:xfrm>
                <a:off x="6646773" y="4378004"/>
                <a:ext cx="2095805" cy="512884"/>
              </a:xfrm>
              <a:prstGeom prst="roundRect">
                <a:avLst>
                  <a:gd name="adj" fmla="val 39698"/>
                </a:avLst>
              </a:prstGeom>
              <a:solidFill>
                <a:schemeClr val="accent1">
                  <a:lumMod val="50000"/>
                </a:schemeClr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p ≥ n</a:t>
                </a:r>
              </a:p>
              <a:p>
                <a:pPr algn="ctr"/>
                <a:r>
                  <a:rPr lang="ko-KR" altLang="en-US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고차원 문제</a:t>
                </a:r>
                <a:endParaRPr lang="en-US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</p:grpSp>
        <p:cxnSp>
          <p:nvCxnSpPr>
            <p:cNvPr id="115" name="꺾인 연결선[E] 114">
              <a:extLst>
                <a:ext uri="{FF2B5EF4-FFF2-40B4-BE49-F238E27FC236}">
                  <a16:creationId xmlns:a16="http://schemas.microsoft.com/office/drawing/2014/main" id="{9EA97165-9B85-13D2-3F5F-4CB8AE99A469}"/>
                </a:ext>
              </a:extLst>
            </p:cNvPr>
            <p:cNvCxnSpPr>
              <a:cxnSpLocks/>
              <a:stCxn id="100" idx="2"/>
              <a:endCxn id="113" idx="0"/>
            </p:cNvCxnSpPr>
            <p:nvPr/>
          </p:nvCxnSpPr>
          <p:spPr>
            <a:xfrm rot="5400000">
              <a:off x="5094467" y="2843910"/>
              <a:ext cx="288721" cy="171404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꺾인 연결선[E] 115">
              <a:extLst>
                <a:ext uri="{FF2B5EF4-FFF2-40B4-BE49-F238E27FC236}">
                  <a16:creationId xmlns:a16="http://schemas.microsoft.com/office/drawing/2014/main" id="{2756B789-B337-A35A-0791-F33AE5F96511}"/>
                </a:ext>
              </a:extLst>
            </p:cNvPr>
            <p:cNvCxnSpPr>
              <a:cxnSpLocks/>
              <a:stCxn id="100" idx="2"/>
              <a:endCxn id="114" idx="0"/>
            </p:cNvCxnSpPr>
            <p:nvPr/>
          </p:nvCxnSpPr>
          <p:spPr>
            <a:xfrm rot="16200000" flipH="1">
              <a:off x="6750902" y="2901517"/>
              <a:ext cx="288721" cy="159882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795F7EDC-2A41-D727-61BA-9A738C6B8E05}"/>
                </a:ext>
              </a:extLst>
            </p:cNvPr>
            <p:cNvGrpSpPr/>
            <p:nvPr/>
          </p:nvGrpSpPr>
          <p:grpSpPr>
            <a:xfrm>
              <a:off x="3333902" y="4500697"/>
              <a:ext cx="5408676" cy="512884"/>
              <a:chOff x="3333902" y="5145423"/>
              <a:chExt cx="5408676" cy="512884"/>
            </a:xfrm>
          </p:grpSpPr>
          <p:sp>
            <p:nvSpPr>
              <p:cNvPr id="137" name="Shape 29">
                <a:extLst>
                  <a:ext uri="{FF2B5EF4-FFF2-40B4-BE49-F238E27FC236}">
                    <a16:creationId xmlns:a16="http://schemas.microsoft.com/office/drawing/2014/main" id="{5F1D896B-99D3-5401-FAE1-F0BCFD6985FD}"/>
                  </a:ext>
                </a:extLst>
              </p:cNvPr>
              <p:cNvSpPr/>
              <p:nvPr/>
            </p:nvSpPr>
            <p:spPr>
              <a:xfrm>
                <a:off x="3333902" y="5145423"/>
                <a:ext cx="2095805" cy="512884"/>
              </a:xfrm>
              <a:prstGeom prst="roundRect">
                <a:avLst>
                  <a:gd name="adj" fmla="val 39698"/>
                </a:avLst>
              </a:prstGeom>
              <a:solidFill>
                <a:srgbClr val="6C9BCF"/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ko-KR" altLang="en-US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직접 </a:t>
                </a:r>
                <a:r>
                  <a:rPr lang="ko-KR" altLang="en-US" sz="1400" b="1" dirty="0" err="1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역행렬</a:t>
                </a:r>
                <a:endParaRPr lang="en-US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  <a:p>
                <a:pPr algn="ctr"/>
                <a:r>
                  <a:rPr lang="el-GR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Θ = Σ⁻¹</a:t>
                </a:r>
              </a:p>
            </p:txBody>
          </p:sp>
          <p:sp>
            <p:nvSpPr>
              <p:cNvPr id="138" name="Shape 30">
                <a:extLst>
                  <a:ext uri="{FF2B5EF4-FFF2-40B4-BE49-F238E27FC236}">
                    <a16:creationId xmlns:a16="http://schemas.microsoft.com/office/drawing/2014/main" id="{A47A72E1-312E-2CD8-74B3-D45C26F2E9B2}"/>
                  </a:ext>
                </a:extLst>
              </p:cNvPr>
              <p:cNvSpPr/>
              <p:nvPr/>
            </p:nvSpPr>
            <p:spPr>
              <a:xfrm>
                <a:off x="6646773" y="5145423"/>
                <a:ext cx="2095805" cy="512884"/>
              </a:xfrm>
              <a:prstGeom prst="roundRect">
                <a:avLst>
                  <a:gd name="adj" fmla="val 39698"/>
                </a:avLst>
              </a:prstGeom>
              <a:solidFill>
                <a:srgbClr val="6C9BCF"/>
              </a:solidFill>
              <a:ln/>
              <a:effectLst>
                <a:outerShdw blurRad="50800" dist="25400" dir="5400000" algn="bl" rotWithShape="0">
                  <a:srgbClr val="000000">
                    <a:alpha val="20000"/>
                  </a:srgbClr>
                </a:outerShdw>
              </a:effectLst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Graphical Lasso</a:t>
                </a:r>
              </a:p>
              <a:p>
                <a:pPr algn="ctr"/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(L1 </a:t>
                </a:r>
                <a:r>
                  <a:rPr lang="ko-KR" altLang="en-US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정규화</a:t>
                </a:r>
                <a:r>
                  <a:rPr lang="en-US" altLang="ko-KR" sz="1400" b="1" dirty="0">
                    <a:solidFill>
                      <a:srgbClr val="FFFFFF"/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)</a:t>
                </a:r>
              </a:p>
            </p:txBody>
          </p:sp>
        </p:grpSp>
        <p:cxnSp>
          <p:nvCxnSpPr>
            <p:cNvPr id="139" name="꺾인 연결선[E] 91">
              <a:extLst>
                <a:ext uri="{FF2B5EF4-FFF2-40B4-BE49-F238E27FC236}">
                  <a16:creationId xmlns:a16="http://schemas.microsoft.com/office/drawing/2014/main" id="{E02C3790-35FC-15DF-5EBE-1EA1BE6AEEC6}"/>
                </a:ext>
              </a:extLst>
            </p:cNvPr>
            <p:cNvCxnSpPr>
              <a:cxnSpLocks/>
              <a:stCxn id="113" idx="2"/>
              <a:endCxn id="137" idx="0"/>
            </p:cNvCxnSpPr>
            <p:nvPr/>
          </p:nvCxnSpPr>
          <p:spPr>
            <a:xfrm>
              <a:off x="4381805" y="4358176"/>
              <a:ext cx="0" cy="142521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꺾인 연결선[E] 91">
              <a:extLst>
                <a:ext uri="{FF2B5EF4-FFF2-40B4-BE49-F238E27FC236}">
                  <a16:creationId xmlns:a16="http://schemas.microsoft.com/office/drawing/2014/main" id="{A9425CF9-A828-011C-4DC7-F66AC1A700E0}"/>
                </a:ext>
              </a:extLst>
            </p:cNvPr>
            <p:cNvCxnSpPr>
              <a:cxnSpLocks/>
              <a:stCxn id="114" idx="2"/>
              <a:endCxn id="138" idx="0"/>
            </p:cNvCxnSpPr>
            <p:nvPr/>
          </p:nvCxnSpPr>
          <p:spPr>
            <a:xfrm>
              <a:off x="7694676" y="4358176"/>
              <a:ext cx="0" cy="142521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Shape 5">
              <a:extLst>
                <a:ext uri="{FF2B5EF4-FFF2-40B4-BE49-F238E27FC236}">
                  <a16:creationId xmlns:a16="http://schemas.microsoft.com/office/drawing/2014/main" id="{39195B82-E9B6-278B-CF34-45B2B70E6A45}"/>
                </a:ext>
              </a:extLst>
            </p:cNvPr>
            <p:cNvSpPr/>
            <p:nvPr/>
          </p:nvSpPr>
          <p:spPr>
            <a:xfrm>
              <a:off x="4762195" y="2333462"/>
              <a:ext cx="2667306" cy="377086"/>
            </a:xfrm>
            <a:prstGeom prst="rect">
              <a:avLst/>
            </a:prstGeom>
            <a:solidFill>
              <a:srgbClr val="F26418"/>
            </a:solidFill>
            <a:ln/>
            <a:effectLst>
              <a:outerShdw blurRad="50800" dist="25400" dir="5400000" algn="bl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 anchorCtr="0"/>
            <a:lstStyle/>
            <a:p>
              <a:pPr algn="ctr"/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공분산 행렬 </a:t>
              </a:r>
              <a:r>
                <a:rPr lang="el-GR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Σ 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획득</a:t>
              </a:r>
            </a:p>
          </p:txBody>
        </p:sp>
        <p:cxnSp>
          <p:nvCxnSpPr>
            <p:cNvPr id="149" name="꺾인 연결선[E] 148">
              <a:extLst>
                <a:ext uri="{FF2B5EF4-FFF2-40B4-BE49-F238E27FC236}">
                  <a16:creationId xmlns:a16="http://schemas.microsoft.com/office/drawing/2014/main" id="{8043F2B7-0FE2-915C-D340-D353640A7991}"/>
                </a:ext>
              </a:extLst>
            </p:cNvPr>
            <p:cNvCxnSpPr>
              <a:cxnSpLocks/>
              <a:stCxn id="137" idx="2"/>
              <a:endCxn id="172" idx="1"/>
            </p:cNvCxnSpPr>
            <p:nvPr/>
          </p:nvCxnSpPr>
          <p:spPr>
            <a:xfrm rot="16200000" flipH="1">
              <a:off x="4406468" y="4988918"/>
              <a:ext cx="331064" cy="380390"/>
            </a:xfrm>
            <a:prstGeom prst="bentConnector2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꺾인 연결선[E] 149">
              <a:extLst>
                <a:ext uri="{FF2B5EF4-FFF2-40B4-BE49-F238E27FC236}">
                  <a16:creationId xmlns:a16="http://schemas.microsoft.com/office/drawing/2014/main" id="{9EC6ADFF-2B66-F0A3-155B-2266F6E33545}"/>
                </a:ext>
              </a:extLst>
            </p:cNvPr>
            <p:cNvCxnSpPr>
              <a:cxnSpLocks/>
              <a:stCxn id="138" idx="2"/>
              <a:endCxn id="172" idx="3"/>
            </p:cNvCxnSpPr>
            <p:nvPr/>
          </p:nvCxnSpPr>
          <p:spPr>
            <a:xfrm rot="5400000">
              <a:off x="7396557" y="5046526"/>
              <a:ext cx="331064" cy="265175"/>
            </a:xfrm>
            <a:prstGeom prst="bentConnector2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꺾인 연결선[E] 91">
              <a:extLst>
                <a:ext uri="{FF2B5EF4-FFF2-40B4-BE49-F238E27FC236}">
                  <a16:creationId xmlns:a16="http://schemas.microsoft.com/office/drawing/2014/main" id="{79358ECD-5C37-BEFB-A7DE-45541D3C9DB4}"/>
                </a:ext>
              </a:extLst>
            </p:cNvPr>
            <p:cNvCxnSpPr>
              <a:cxnSpLocks/>
              <a:stCxn id="148" idx="2"/>
              <a:endCxn id="100" idx="0"/>
            </p:cNvCxnSpPr>
            <p:nvPr/>
          </p:nvCxnSpPr>
          <p:spPr>
            <a:xfrm>
              <a:off x="6095848" y="2710548"/>
              <a:ext cx="0" cy="188343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Shape 5">
              <a:extLst>
                <a:ext uri="{FF2B5EF4-FFF2-40B4-BE49-F238E27FC236}">
                  <a16:creationId xmlns:a16="http://schemas.microsoft.com/office/drawing/2014/main" id="{A6305144-0638-2200-4341-FE3072DFB943}"/>
                </a:ext>
              </a:extLst>
            </p:cNvPr>
            <p:cNvSpPr/>
            <p:nvPr/>
          </p:nvSpPr>
          <p:spPr>
            <a:xfrm>
              <a:off x="4762195" y="5156102"/>
              <a:ext cx="2667306" cy="377086"/>
            </a:xfrm>
            <a:prstGeom prst="rect">
              <a:avLst/>
            </a:prstGeom>
            <a:solidFill>
              <a:srgbClr val="F26418"/>
            </a:solidFill>
            <a:ln/>
            <a:effectLst>
              <a:outerShdw blurRad="50800" dist="25400" dir="5400000" algn="bl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 anchorCtr="0"/>
            <a:lstStyle/>
            <a:p>
              <a:pPr algn="ctr"/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정밀도 행렬 </a:t>
              </a:r>
              <a:r>
                <a:rPr lang="el-GR" altLang="ko-KR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Θ 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획득</a:t>
              </a:r>
            </a:p>
          </p:txBody>
        </p:sp>
        <p:sp>
          <p:nvSpPr>
            <p:cNvPr id="202" name="Shape 61">
              <a:extLst>
                <a:ext uri="{FF2B5EF4-FFF2-40B4-BE49-F238E27FC236}">
                  <a16:creationId xmlns:a16="http://schemas.microsoft.com/office/drawing/2014/main" id="{4543DAEE-6A28-D602-8809-F2DCDC93520F}"/>
                </a:ext>
              </a:extLst>
            </p:cNvPr>
            <p:cNvSpPr/>
            <p:nvPr/>
          </p:nvSpPr>
          <p:spPr>
            <a:xfrm>
              <a:off x="4762195" y="6278369"/>
              <a:ext cx="2668220" cy="377086"/>
            </a:xfrm>
            <a:prstGeom prst="roundRect">
              <a:avLst>
                <a:gd name="adj" fmla="val 99246"/>
              </a:avLst>
            </a:prstGeom>
            <a:solidFill>
              <a:srgbClr val="FF6B6B"/>
            </a:solidFill>
            <a:ln/>
            <a:effectLst>
              <a:outerShdw blurRad="50800" dist="25400" dir="5400000" algn="bl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600" b="1" dirty="0" err="1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네트워크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구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축</a:t>
              </a:r>
              <a:endParaRPr lang="en-US" altLang="ko-KR" sz="16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203" name="꺾인 연결선[E] 91">
              <a:extLst>
                <a:ext uri="{FF2B5EF4-FFF2-40B4-BE49-F238E27FC236}">
                  <a16:creationId xmlns:a16="http://schemas.microsoft.com/office/drawing/2014/main" id="{E5ED4DDA-4497-7E3B-43A3-49BD79F06774}"/>
                </a:ext>
              </a:extLst>
            </p:cNvPr>
            <p:cNvCxnSpPr>
              <a:cxnSpLocks/>
              <a:stCxn id="172" idx="2"/>
              <a:endCxn id="202" idx="0"/>
            </p:cNvCxnSpPr>
            <p:nvPr/>
          </p:nvCxnSpPr>
          <p:spPr>
            <a:xfrm>
              <a:off x="6095848" y="5533188"/>
              <a:ext cx="457" cy="745181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Shape 5">
              <a:extLst>
                <a:ext uri="{FF2B5EF4-FFF2-40B4-BE49-F238E27FC236}">
                  <a16:creationId xmlns:a16="http://schemas.microsoft.com/office/drawing/2014/main" id="{F5850F3B-3F28-05EB-2959-58C413452656}"/>
                </a:ext>
              </a:extLst>
            </p:cNvPr>
            <p:cNvSpPr/>
            <p:nvPr/>
          </p:nvSpPr>
          <p:spPr>
            <a:xfrm>
              <a:off x="4762195" y="5635012"/>
              <a:ext cx="2667306" cy="445978"/>
            </a:xfrm>
            <a:prstGeom prst="rect">
              <a:avLst/>
            </a:prstGeom>
            <a:solidFill>
              <a:schemeClr val="bg1"/>
            </a:solidFill>
            <a:ln/>
            <a:effectLst/>
          </p:spPr>
          <p:txBody>
            <a:bodyPr lIns="0" tIns="0" rIns="0" bIns="0" anchor="ctr" anchorCtr="0"/>
            <a:lstStyle/>
            <a:p>
              <a:pPr algn="ctr"/>
              <a:r>
                <a:rPr lang="el-G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• Θ</a:t>
              </a:r>
              <a:r>
                <a:rPr lang="e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ᵢⱼ ≠ 0 →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직접 연결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l-G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• Θ</a:t>
              </a:r>
              <a:r>
                <a:rPr lang="e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ᵢⱼ = 0 →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조건부 독립</a:t>
              </a:r>
            </a:p>
          </p:txBody>
        </p:sp>
        <p:cxnSp>
          <p:nvCxnSpPr>
            <p:cNvPr id="207" name="꺾인 연결선[E] 91">
              <a:extLst>
                <a:ext uri="{FF2B5EF4-FFF2-40B4-BE49-F238E27FC236}">
                  <a16:creationId xmlns:a16="http://schemas.microsoft.com/office/drawing/2014/main" id="{0616DF7A-FC2B-F4DE-AA91-825C75A64094}"/>
                </a:ext>
              </a:extLst>
            </p:cNvPr>
            <p:cNvCxnSpPr>
              <a:cxnSpLocks/>
              <a:stCxn id="50" idx="3"/>
              <a:endCxn id="54" idx="1"/>
            </p:cNvCxnSpPr>
            <p:nvPr/>
          </p:nvCxnSpPr>
          <p:spPr>
            <a:xfrm flipV="1">
              <a:off x="8742578" y="2027763"/>
              <a:ext cx="510309" cy="1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FC31A59D-9A66-6F7E-2363-7F7F756CB244}"/>
              </a:ext>
            </a:extLst>
          </p:cNvPr>
          <p:cNvSpPr txBox="1"/>
          <p:nvPr/>
        </p:nvSpPr>
        <p:spPr>
          <a:xfrm>
            <a:off x="190652" y="6514103"/>
            <a:ext cx="1739748" cy="343897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lIns="0" tIns="0" rIns="0" bIns="0" anchor="ctr" anchorCtr="0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algn="l"/>
            <a:r>
              <a:rPr lang="ko-KR" altLang="en-US" dirty="0"/>
              <a:t>샘플 수</a:t>
            </a:r>
            <a:r>
              <a:rPr lang="en-US" altLang="ko-KR" dirty="0"/>
              <a:t>(</a:t>
            </a:r>
            <a:r>
              <a:rPr lang="en" altLang="ko-KR" dirty="0"/>
              <a:t>n)</a:t>
            </a:r>
            <a:r>
              <a:rPr lang="en-US" altLang="ko-KR" dirty="0"/>
              <a:t>,</a:t>
            </a:r>
            <a:r>
              <a:rPr lang="ko-KR" altLang="en-US" dirty="0"/>
              <a:t> 변수 개수</a:t>
            </a:r>
            <a:r>
              <a:rPr lang="en-US" altLang="ko-KR" dirty="0"/>
              <a:t>(</a:t>
            </a:r>
            <a:r>
              <a:rPr lang="en" altLang="ko-KR" dirty="0"/>
              <a:t>p)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1CEA-0BFE-2A0A-ABFB-60389DDF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317DDD0-0957-C37E-35FA-F5DCDF971BBF}"/>
              </a:ext>
            </a:extLst>
          </p:cNvPr>
          <p:cNvSpPr/>
          <p:nvPr/>
        </p:nvSpPr>
        <p:spPr>
          <a:xfrm>
            <a:off x="10477195" y="5143500"/>
            <a:ext cx="2857500" cy="2857500"/>
          </a:xfrm>
          <a:prstGeom prst="ellipse">
            <a:avLst/>
          </a:prstGeom>
          <a:solidFill>
            <a:srgbClr val="048A81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58F100-C1A5-0864-AEF0-842F12A68B54}"/>
              </a:ext>
            </a:extLst>
          </p:cNvPr>
          <p:cNvSpPr/>
          <p:nvPr/>
        </p:nvSpPr>
        <p:spPr>
          <a:xfrm>
            <a:off x="-761695" y="-761695"/>
            <a:ext cx="1904695" cy="1904695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FDBC25-7A68-46D6-342C-C31E079F729D}"/>
              </a:ext>
            </a:extLst>
          </p:cNvPr>
          <p:cNvSpPr txBox="1"/>
          <p:nvPr/>
        </p:nvSpPr>
        <p:spPr>
          <a:xfrm>
            <a:off x="761695" y="457349"/>
            <a:ext cx="23481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정규분포란?</a:t>
            </a:r>
            <a:endParaRPr lang="en-US" sz="3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B54A96-ED57-7971-64A5-B5CCF053FAAB}"/>
              </a:ext>
            </a:extLst>
          </p:cNvPr>
          <p:cNvSpPr txBox="1"/>
          <p:nvPr/>
        </p:nvSpPr>
        <p:spPr>
          <a:xfrm>
            <a:off x="496210" y="1410005"/>
            <a:ext cx="5131008" cy="1296125"/>
          </a:xfrm>
          <a:prstGeom prst="roundRect">
            <a:avLst>
              <a:gd name="adj" fmla="val 15203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10800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종 모양(Bell curve)의 연속 </a:t>
            </a:r>
            <a:r>
              <a:rPr lang="en-US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확률</a:t>
            </a:r>
            <a:r>
              <a:rPr 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</a:t>
            </a:r>
            <a:endParaRPr lang="en-US" sz="14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주변에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데이터가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밀집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좌우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대칭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자연현상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측정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오차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생체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지표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등에서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빈번하게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표기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X ~ N(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σ²) (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σ²: </a:t>
            </a:r>
            <a:r>
              <a:rPr lang="en-US" altLang="ko-KR" sz="14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분산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altLang="ko-KR" sz="1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0F3C123-183D-C187-7958-61C03F031CD0}"/>
              </a:ext>
            </a:extLst>
          </p:cNvPr>
          <p:cNvSpPr txBox="1"/>
          <p:nvPr/>
        </p:nvSpPr>
        <p:spPr>
          <a:xfrm>
            <a:off x="496210" y="3077228"/>
            <a:ext cx="5131008" cy="320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 μ (Mean)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위치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중심으로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좌우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대칭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표준편차</a:t>
            </a:r>
            <a:r>
              <a:rPr lang="en-US" altLang="ko-KR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</a:t>
            </a:r>
            <a:r>
              <a:rPr lang="en-US" altLang="ko-KR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(Standard Deviation)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데이터가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평균으로부터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퍼진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정도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작을수록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좁고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뾰족한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형태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클수록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넓고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완만한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형태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정규분포에서</a:t>
            </a:r>
            <a:r>
              <a:rPr lang="en-US" altLang="ko-KR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데이터의</a:t>
            </a:r>
            <a:r>
              <a:rPr lang="en-US" altLang="ko-KR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</a:t>
            </a:r>
            <a:r>
              <a:rPr lang="en-US" altLang="ko-KR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범위</a:t>
            </a:r>
            <a:endParaRPr lang="en-US" altLang="ko-KR" sz="1600" dirty="0">
              <a:solidFill>
                <a:srgbClr val="048A8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μ±1σ: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약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68%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포함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μ±2σ: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약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95%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포함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μ±3σ: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약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99.7%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포함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F254108-68DF-444A-CA7F-324E34E39C0A}"/>
              </a:ext>
            </a:extLst>
          </p:cNvPr>
          <p:cNvGrpSpPr/>
          <p:nvPr/>
        </p:nvGrpSpPr>
        <p:grpSpPr>
          <a:xfrm>
            <a:off x="6735901" y="1776679"/>
            <a:ext cx="4762195" cy="4144061"/>
            <a:chOff x="6574536" y="1776679"/>
            <a:chExt cx="4762195" cy="4144061"/>
          </a:xfrm>
        </p:grpSpPr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69DD3C26-82A4-B348-B98A-8CC9CC597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7" b="-7"/>
            <a:stretch/>
          </p:blipFill>
          <p:spPr>
            <a:xfrm>
              <a:off x="6574536" y="1776679"/>
              <a:ext cx="4762195" cy="3810305"/>
            </a:xfrm>
            <a:prstGeom prst="rect">
              <a:avLst/>
            </a:prstGeom>
          </p:spPr>
        </p:pic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EBE715D9-B044-24AD-4399-B2D964173F54}"/>
                </a:ext>
              </a:extLst>
            </p:cNvPr>
            <p:cNvSpPr/>
            <p:nvPr/>
          </p:nvSpPr>
          <p:spPr>
            <a:xfrm>
              <a:off x="6736385" y="5747918"/>
              <a:ext cx="152705" cy="152705"/>
            </a:xfrm>
            <a:prstGeom prst="roundRect">
              <a:avLst>
                <a:gd name="adj" fmla="val 74850"/>
              </a:avLst>
            </a:prstGeom>
            <a:solidFill>
              <a:srgbClr val="2E40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88989BB4-8256-47DE-B9BE-DE32FAFB95EA}"/>
                </a:ext>
              </a:extLst>
            </p:cNvPr>
            <p:cNvSpPr/>
            <p:nvPr/>
          </p:nvSpPr>
          <p:spPr>
            <a:xfrm>
              <a:off x="8197596" y="5747918"/>
              <a:ext cx="152705" cy="152705"/>
            </a:xfrm>
            <a:prstGeom prst="roundRect">
              <a:avLst>
                <a:gd name="adj" fmla="val 74850"/>
              </a:avLst>
            </a:prstGeom>
            <a:solidFill>
              <a:srgbClr val="048A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3A9EFA9C-4F6D-7401-A8C4-2BE6848BCCAA}"/>
                </a:ext>
              </a:extLst>
            </p:cNvPr>
            <p:cNvSpPr/>
            <p:nvPr/>
          </p:nvSpPr>
          <p:spPr>
            <a:xfrm>
              <a:off x="9904781" y="5747918"/>
              <a:ext cx="152705" cy="152705"/>
            </a:xfrm>
            <a:prstGeom prst="roundRect">
              <a:avLst>
                <a:gd name="adj" fmla="val 74850"/>
              </a:avLst>
            </a:prstGeom>
            <a:solidFill>
              <a:srgbClr val="F2641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9">
              <a:extLst>
                <a:ext uri="{FF2B5EF4-FFF2-40B4-BE49-F238E27FC236}">
                  <a16:creationId xmlns:a16="http://schemas.microsoft.com/office/drawing/2014/main" id="{2D488396-C643-C797-00E0-898E0E41459A}"/>
                </a:ext>
              </a:extLst>
            </p:cNvPr>
            <p:cNvSpPr txBox="1"/>
            <p:nvPr/>
          </p:nvSpPr>
          <p:spPr>
            <a:xfrm>
              <a:off x="6936638" y="5729630"/>
              <a:ext cx="11768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 = 0.5 (좁고 뾰족)</a:t>
              </a:r>
              <a:endParaRPr lang="en-US" sz="1000" dirty="0"/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E885501D-D0BD-D375-EEBC-B91EF55D1B9D}"/>
                </a:ext>
              </a:extLst>
            </p:cNvPr>
            <p:cNvSpPr txBox="1"/>
            <p:nvPr/>
          </p:nvSpPr>
          <p:spPr>
            <a:xfrm>
              <a:off x="8397850" y="5729630"/>
              <a:ext cx="14246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 = 1.0 (표준 정규분포)</a:t>
              </a:r>
              <a:endParaRPr lang="en-US" sz="1000" dirty="0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225343A9-CF7A-11F9-38FD-14FB8099E6B6}"/>
                </a:ext>
              </a:extLst>
            </p:cNvPr>
            <p:cNvSpPr txBox="1"/>
            <p:nvPr/>
          </p:nvSpPr>
          <p:spPr>
            <a:xfrm>
              <a:off x="10104120" y="5729630"/>
              <a:ext cx="11768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 = 2.0 (넓고 완만)</a:t>
              </a:r>
              <a:endParaRPr lang="en-US" sz="1000" dirty="0"/>
            </a:p>
          </p:txBody>
        </p:sp>
      </p:grpSp>
      <p:sp>
        <p:nvSpPr>
          <p:cNvPr id="20" name="Shape 4">
            <a:extLst>
              <a:ext uri="{FF2B5EF4-FFF2-40B4-BE49-F238E27FC236}">
                <a16:creationId xmlns:a16="http://schemas.microsoft.com/office/drawing/2014/main" id="{8EBD3212-BF89-24C0-FF45-D3B00A9E18E2}"/>
              </a:ext>
            </a:extLst>
          </p:cNvPr>
          <p:cNvSpPr/>
          <p:nvPr/>
        </p:nvSpPr>
        <p:spPr>
          <a:xfrm>
            <a:off x="6091428" y="1410005"/>
            <a:ext cx="9144" cy="4876495"/>
          </a:xfrm>
          <a:prstGeom prst="rect">
            <a:avLst/>
          </a:prstGeom>
          <a:solidFill>
            <a:srgbClr val="2E40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436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297769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253881"/>
            <a:ext cx="10286086" cy="846554"/>
          </a:xfrm>
          <a:prstGeom prst="roundRect">
            <a:avLst>
              <a:gd name="adj" fmla="val 5952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 ~ N(</a:t>
            </a:r>
            <a:r>
              <a:rPr kumimoji="0" lang="en-US" altLang="ko-KR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σ²)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805" y="2211316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2211316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375482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86500" y="375482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52144" y="2411569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</a:t>
            </a:r>
            <a:endParaRPr lang="ko-KR" altLang="en-US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86754" y="2411569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~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52144" y="3954162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N</a:t>
            </a:r>
            <a:endParaRPr lang="ko-KR" altLang="en-US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6754" y="3954162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r>
              <a:rPr lang="en-US" altLang="ko-KR" sz="10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μ,σ²</a:t>
            </a:r>
            <a:endParaRPr lang="en-US" altLang="ko-K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638605" y="2430772"/>
            <a:ext cx="28913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확률변수 (Random Variable)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72300" y="2430772"/>
            <a:ext cx="255757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"분포를 따른다" (follows)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38605" y="3973365"/>
            <a:ext cx="31866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 (Normal Distribution)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72300" y="3973365"/>
            <a:ext cx="19193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모수 (Parameters)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38605" y="2849567"/>
            <a:ext cx="41961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측정하고자 하는 데이터를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나타내는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예시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키, 몸무게, 혈압 등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72300" y="2849567"/>
            <a:ext cx="38340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확률변수 X가 특정 확률분포를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따른다는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"~"은 "분포를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따른다"라고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해석할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있음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38605" y="4393074"/>
            <a:ext cx="39675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종류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정규분포를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다른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;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Exp(지수), Bin(이항), U(균등) 등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72300" y="4393074"/>
            <a:ext cx="40626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뮤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):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σ²(시그마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제곱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2805" y="5392513"/>
            <a:ext cx="10287000" cy="1095451"/>
          </a:xfrm>
          <a:prstGeom prst="roundRect">
            <a:avLst>
              <a:gd name="adj" fmla="val 7258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108000" tIns="0" rIns="0" bIns="0" rtlCol="0" anchor="ctr"/>
          <a:lstStyle/>
          <a:p>
            <a:pPr algn="ctr"/>
            <a:endParaRPr lang="ko-KR" altLang="en-US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52144" y="5592767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2728" y="5668662"/>
            <a:ext cx="142646" cy="1901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638605" y="5611969"/>
            <a:ext cx="5477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예시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638605" y="6030765"/>
            <a:ext cx="5843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키 ~ N(170, 100) → 키는 평균 170cm, 표준편차 10cm인 정규분포를 따릅니다.</a:t>
            </a:r>
            <a:endParaRPr lang="en-US" sz="13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B3CB50FA-FE95-4349-E1B5-0DA35721A988}"/>
              </a:ext>
            </a:extLst>
          </p:cNvPr>
          <p:cNvSpPr txBox="1"/>
          <p:nvPr/>
        </p:nvSpPr>
        <p:spPr>
          <a:xfrm>
            <a:off x="761695" y="457349"/>
            <a:ext cx="23481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</a:t>
            </a:r>
            <a:r>
              <a:rPr lang="en-US" sz="31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기호</a:t>
            </a:r>
            <a:endParaRPr lang="en-US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77195" y="5143500"/>
            <a:ext cx="2857500" cy="2857500"/>
          </a:xfrm>
          <a:prstGeom prst="ellipse">
            <a:avLst/>
          </a:prstGeom>
          <a:solidFill>
            <a:srgbClr val="048A81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761695"/>
            <a:ext cx="1904695" cy="1904695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61695" y="1253791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여러 변수가 동시에 정규분포를 따르는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확률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모형</a:t>
            </a:r>
            <a:endParaRPr lang="en-US" sz="18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각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변수는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서로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상관관계를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가지며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함께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변동</a:t>
            </a:r>
            <a:r>
              <a:rPr lang="ko-KR" altLang="en-US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함</a:t>
            </a:r>
            <a:endParaRPr lang="en-US" altLang="ko-KR" dirty="0"/>
          </a:p>
        </p:txBody>
      </p:sp>
      <p:sp>
        <p:nvSpPr>
          <p:cNvPr id="10" name="Text 8"/>
          <p:cNvSpPr txBox="1"/>
          <p:nvPr/>
        </p:nvSpPr>
        <p:spPr>
          <a:xfrm>
            <a:off x="3372307" y="2362044"/>
            <a:ext cx="30436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p개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변수로 구성된 확률 벡터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50527" y="2362044"/>
            <a:ext cx="3381587" cy="343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벡터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각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변수의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평균값</a:t>
            </a:r>
            <a:r>
              <a:rPr lang="en-US" altLang="ko-KR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p차원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16915" y="3970756"/>
            <a:ext cx="46488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행렬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간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관계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</a:t>
            </a:r>
            <a:r>
              <a:rPr lang="en-US" sz="18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×p</a:t>
            </a:r>
            <a:r>
              <a:rPr lang="en-US" sz="18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행렬)</a:t>
            </a:r>
            <a:endParaRPr lang="en-US" sz="18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948C827-B720-3FDB-4BD1-E4DA4C6DBCF3}"/>
              </a:ext>
            </a:extLst>
          </p:cNvPr>
          <p:cNvSpPr/>
          <p:nvPr/>
        </p:nvSpPr>
        <p:spPr>
          <a:xfrm>
            <a:off x="831422" y="2919163"/>
            <a:ext cx="10529157" cy="846554"/>
          </a:xfrm>
          <a:prstGeom prst="roundRect">
            <a:avLst>
              <a:gd name="adj" fmla="val 5952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 = (X₁, X₂, ..., Xₚ) ~ N(</a:t>
            </a:r>
            <a:r>
              <a:rPr kumimoji="0" lang="el-GR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μ, Σ)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E78BCD3-AB88-A531-87D0-E3D6F9039C9A}"/>
              </a:ext>
            </a:extLst>
          </p:cNvPr>
          <p:cNvSpPr txBox="1"/>
          <p:nvPr/>
        </p:nvSpPr>
        <p:spPr>
          <a:xfrm>
            <a:off x="761695" y="457349"/>
            <a:ext cx="332985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다변량</a:t>
            </a:r>
            <a:r>
              <a:rPr lang="en-US" sz="31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31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</a:t>
            </a:r>
            <a:endParaRPr lang="en-US" sz="3100" dirty="0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FAB59876-396C-143D-7E33-9834028FD801}"/>
              </a:ext>
            </a:extLst>
          </p:cNvPr>
          <p:cNvCxnSpPr/>
          <p:nvPr/>
        </p:nvCxnSpPr>
        <p:spPr>
          <a:xfrm>
            <a:off x="4359564" y="3091613"/>
            <a:ext cx="2401454" cy="0"/>
          </a:xfrm>
          <a:prstGeom prst="line">
            <a:avLst/>
          </a:prstGeom>
          <a:ln w="28575">
            <a:solidFill>
              <a:srgbClr val="F264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47ED033-14AC-49C0-A4FA-3DF67B7CD241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4894133" y="2695800"/>
            <a:ext cx="630672" cy="395813"/>
          </a:xfrm>
          <a:prstGeom prst="straightConnector1">
            <a:avLst/>
          </a:prstGeom>
          <a:ln w="28575">
            <a:solidFill>
              <a:srgbClr val="F26418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A5BB823C-5E2B-D512-19C5-EBDFFF732E5A}"/>
              </a:ext>
            </a:extLst>
          </p:cNvPr>
          <p:cNvSpPr/>
          <p:nvPr/>
        </p:nvSpPr>
        <p:spPr>
          <a:xfrm>
            <a:off x="7652575" y="3187868"/>
            <a:ext cx="364560" cy="364560"/>
          </a:xfrm>
          <a:prstGeom prst="ellipse">
            <a:avLst/>
          </a:prstGeom>
          <a:solidFill>
            <a:schemeClr val="accent2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FCA6206-6EF1-19CB-9984-960B844152D2}"/>
              </a:ext>
            </a:extLst>
          </p:cNvPr>
          <p:cNvCxnSpPr>
            <a:cxnSpLocks/>
          </p:cNvCxnSpPr>
          <p:nvPr/>
        </p:nvCxnSpPr>
        <p:spPr>
          <a:xfrm>
            <a:off x="8283891" y="3552428"/>
            <a:ext cx="0" cy="418328"/>
          </a:xfrm>
          <a:prstGeom prst="straightConnector1">
            <a:avLst/>
          </a:prstGeom>
          <a:ln w="28575">
            <a:solidFill>
              <a:srgbClr val="F26418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50C8FDF4-28EC-9840-BDEB-691B95A17053}"/>
              </a:ext>
            </a:extLst>
          </p:cNvPr>
          <p:cNvSpPr/>
          <p:nvPr/>
        </p:nvSpPr>
        <p:spPr>
          <a:xfrm>
            <a:off x="8101611" y="3187868"/>
            <a:ext cx="364560" cy="364560"/>
          </a:xfrm>
          <a:prstGeom prst="ellipse">
            <a:avLst/>
          </a:prstGeom>
          <a:solidFill>
            <a:schemeClr val="accent2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3E66A91-C611-090C-5906-0BD3BD44184F}"/>
              </a:ext>
            </a:extLst>
          </p:cNvPr>
          <p:cNvGrpSpPr/>
          <p:nvPr/>
        </p:nvGrpSpPr>
        <p:grpSpPr>
          <a:xfrm>
            <a:off x="6632108" y="4458006"/>
            <a:ext cx="3303566" cy="2219428"/>
            <a:chOff x="4223810" y="1695298"/>
            <a:chExt cx="4125380" cy="2771546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770CCEA6-3A43-8FEC-34A0-14CA4F42C496}"/>
                </a:ext>
              </a:extLst>
            </p:cNvPr>
            <p:cNvSpPr/>
            <p:nvPr/>
          </p:nvSpPr>
          <p:spPr>
            <a:xfrm>
              <a:off x="4223810" y="1695298"/>
              <a:ext cx="4125380" cy="2771546"/>
            </a:xfrm>
            <a:prstGeom prst="roundRect">
              <a:avLst>
                <a:gd name="adj" fmla="val 1134"/>
              </a:avLst>
            </a:prstGeom>
            <a:solidFill>
              <a:schemeClr val="tx1">
                <a:alpha val="5000"/>
              </a:schemeClr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83565B63-CEDE-7B90-C7C7-9857F82EA3FC}"/>
                </a:ext>
              </a:extLst>
            </p:cNvPr>
            <p:cNvSpPr txBox="1"/>
            <p:nvPr/>
          </p:nvSpPr>
          <p:spPr>
            <a:xfrm>
              <a:off x="4403750" y="2723998"/>
              <a:ext cx="82936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 =</a:t>
              </a:r>
              <a:endParaRPr lang="en-US" sz="2000" dirty="0"/>
            </a:p>
          </p:txBody>
        </p:sp>
        <p:sp>
          <p:nvSpPr>
            <p:cNvPr id="39" name="Text 6">
              <a:extLst>
                <a:ext uri="{FF2B5EF4-FFF2-40B4-BE49-F238E27FC236}">
                  <a16:creationId xmlns:a16="http://schemas.microsoft.com/office/drawing/2014/main" id="{BEC553FB-677A-C826-D4A5-2249833574E5}"/>
                </a:ext>
              </a:extLst>
            </p:cNvPr>
            <p:cNvSpPr txBox="1"/>
            <p:nvPr/>
          </p:nvSpPr>
          <p:spPr>
            <a:xfrm>
              <a:off x="4966106" y="2723998"/>
              <a:ext cx="40965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[</a:t>
              </a:r>
              <a:endParaRPr lang="en-US" sz="2000" dirty="0"/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C182D060-72D4-4E5A-1F86-5251A80131FD}"/>
                </a:ext>
              </a:extLst>
            </p:cNvPr>
            <p:cNvSpPr txBox="1"/>
            <p:nvPr/>
          </p:nvSpPr>
          <p:spPr>
            <a:xfrm>
              <a:off x="7643470" y="2723998"/>
              <a:ext cx="40965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]</a:t>
              </a:r>
              <a:endParaRPr lang="en-US" sz="2000" dirty="0"/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00061E92-56A4-F6CE-DB84-3D576DA1A849}"/>
                </a:ext>
              </a:extLst>
            </p:cNvPr>
            <p:cNvSpPr txBox="1"/>
            <p:nvPr/>
          </p:nvSpPr>
          <p:spPr>
            <a:xfrm>
              <a:off x="5139842" y="1923898"/>
              <a:ext cx="9336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σ12</a:t>
              </a:r>
              <a:endParaRPr lang="en-US" sz="2000" dirty="0"/>
            </a:p>
          </p:txBody>
        </p:sp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240EA1F9-BD9C-607E-EC32-EFCD51F1CBF7}"/>
                </a:ext>
              </a:extLst>
            </p:cNvPr>
            <p:cNvSpPr txBox="1"/>
            <p:nvPr/>
          </p:nvSpPr>
          <p:spPr>
            <a:xfrm>
              <a:off x="5850331" y="1923898"/>
              <a:ext cx="9336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σ12</a:t>
              </a:r>
              <a:endParaRPr lang="en-US" sz="2000" dirty="0"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BD1E7EED-8C8A-8FC9-3478-EF26298864A4}"/>
                </a:ext>
              </a:extLst>
            </p:cNvPr>
            <p:cNvSpPr txBox="1"/>
            <p:nvPr/>
          </p:nvSpPr>
          <p:spPr>
            <a:xfrm>
              <a:off x="6551676" y="1923898"/>
              <a:ext cx="629107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⋯</a:t>
              </a:r>
              <a:endParaRPr lang="en-US" sz="2000" dirty="0"/>
            </a:p>
          </p:txBody>
        </p:sp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FA14947F-048F-705D-19FB-6E169D5FEF2C}"/>
                </a:ext>
              </a:extLst>
            </p:cNvPr>
            <p:cNvSpPr txBox="1"/>
            <p:nvPr/>
          </p:nvSpPr>
          <p:spPr>
            <a:xfrm>
              <a:off x="6932981" y="1923898"/>
              <a:ext cx="952805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σ1p</a:t>
              </a:r>
              <a:endParaRPr lang="en-US" sz="2000" dirty="0"/>
            </a:p>
          </p:txBody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59DB2104-0785-6AD7-7AD7-64325B8F96B4}"/>
                </a:ext>
              </a:extLst>
            </p:cNvPr>
            <p:cNvSpPr txBox="1"/>
            <p:nvPr/>
          </p:nvSpPr>
          <p:spPr>
            <a:xfrm>
              <a:off x="5139842" y="2491740"/>
              <a:ext cx="9336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σ21</a:t>
              </a:r>
              <a:endParaRPr lang="en-US" sz="2000" dirty="0"/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9C0A33BD-78AA-9798-347B-7658FFDA7687}"/>
                </a:ext>
              </a:extLst>
            </p:cNvPr>
            <p:cNvSpPr txBox="1"/>
            <p:nvPr/>
          </p:nvSpPr>
          <p:spPr>
            <a:xfrm>
              <a:off x="5850331" y="2491740"/>
              <a:ext cx="9336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σ22</a:t>
              </a:r>
              <a:endParaRPr lang="en-US" sz="2000" dirty="0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EFB030EB-51C1-40C6-84D8-B11A9709D1E9}"/>
                </a:ext>
              </a:extLst>
            </p:cNvPr>
            <p:cNvSpPr txBox="1"/>
            <p:nvPr/>
          </p:nvSpPr>
          <p:spPr>
            <a:xfrm>
              <a:off x="6551676" y="2491740"/>
              <a:ext cx="629107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⋯</a:t>
              </a:r>
              <a:endParaRPr lang="en-US" sz="2000" dirty="0"/>
            </a:p>
          </p:txBody>
        </p:sp>
        <p:sp>
          <p:nvSpPr>
            <p:cNvPr id="48" name="Text 15">
              <a:extLst>
                <a:ext uri="{FF2B5EF4-FFF2-40B4-BE49-F238E27FC236}">
                  <a16:creationId xmlns:a16="http://schemas.microsoft.com/office/drawing/2014/main" id="{B2CB954A-F073-2995-D79E-926A7B779B00}"/>
                </a:ext>
              </a:extLst>
            </p:cNvPr>
            <p:cNvSpPr txBox="1"/>
            <p:nvPr/>
          </p:nvSpPr>
          <p:spPr>
            <a:xfrm>
              <a:off x="6932981" y="2491740"/>
              <a:ext cx="952805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σ2p</a:t>
              </a:r>
              <a:endParaRPr lang="en-US" sz="2000" dirty="0"/>
            </a:p>
          </p:txBody>
        </p:sp>
        <p:sp>
          <p:nvSpPr>
            <p:cNvPr id="49" name="Text 16">
              <a:extLst>
                <a:ext uri="{FF2B5EF4-FFF2-40B4-BE49-F238E27FC236}">
                  <a16:creationId xmlns:a16="http://schemas.microsoft.com/office/drawing/2014/main" id="{198C088E-2774-1A21-B05D-BBBCDA06A5D4}"/>
                </a:ext>
              </a:extLst>
            </p:cNvPr>
            <p:cNvSpPr txBox="1"/>
            <p:nvPr/>
          </p:nvSpPr>
          <p:spPr>
            <a:xfrm>
              <a:off x="5295290" y="3059582"/>
              <a:ext cx="619963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⋮</a:t>
              </a:r>
              <a:endParaRPr lang="en-US" sz="2000" dirty="0"/>
            </a:p>
          </p:txBody>
        </p:sp>
        <p:sp>
          <p:nvSpPr>
            <p:cNvPr id="50" name="Text 17">
              <a:extLst>
                <a:ext uri="{FF2B5EF4-FFF2-40B4-BE49-F238E27FC236}">
                  <a16:creationId xmlns:a16="http://schemas.microsoft.com/office/drawing/2014/main" id="{5D056403-5552-91BB-0E99-BAAB311DF734}"/>
                </a:ext>
              </a:extLst>
            </p:cNvPr>
            <p:cNvSpPr txBox="1"/>
            <p:nvPr/>
          </p:nvSpPr>
          <p:spPr>
            <a:xfrm>
              <a:off x="6005779" y="3059582"/>
              <a:ext cx="619963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⋮</a:t>
              </a:r>
              <a:endParaRPr lang="en-US" sz="2000" dirty="0"/>
            </a:p>
          </p:txBody>
        </p:sp>
        <p:sp>
          <p:nvSpPr>
            <p:cNvPr id="51" name="Text 18">
              <a:extLst>
                <a:ext uri="{FF2B5EF4-FFF2-40B4-BE49-F238E27FC236}">
                  <a16:creationId xmlns:a16="http://schemas.microsoft.com/office/drawing/2014/main" id="{97E0652C-E26A-3FA2-B003-FC53D65ADAD1}"/>
                </a:ext>
              </a:extLst>
            </p:cNvPr>
            <p:cNvSpPr txBox="1"/>
            <p:nvPr/>
          </p:nvSpPr>
          <p:spPr>
            <a:xfrm>
              <a:off x="6551676" y="3059582"/>
              <a:ext cx="619963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⋱</a:t>
              </a:r>
              <a:endParaRPr lang="en-US" sz="2000" dirty="0"/>
            </a:p>
          </p:txBody>
        </p:sp>
        <p:sp>
          <p:nvSpPr>
            <p:cNvPr id="52" name="Text 19">
              <a:extLst>
                <a:ext uri="{FF2B5EF4-FFF2-40B4-BE49-F238E27FC236}">
                  <a16:creationId xmlns:a16="http://schemas.microsoft.com/office/drawing/2014/main" id="{FD0D6D89-BF7D-F7D9-B0AC-6239D17C36EB}"/>
                </a:ext>
              </a:extLst>
            </p:cNvPr>
            <p:cNvSpPr txBox="1"/>
            <p:nvPr/>
          </p:nvSpPr>
          <p:spPr>
            <a:xfrm>
              <a:off x="7097573" y="3059582"/>
              <a:ext cx="619963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⋮</a:t>
              </a:r>
              <a:endParaRPr lang="en-US" sz="2000" dirty="0"/>
            </a:p>
          </p:txBody>
        </p:sp>
        <p:sp>
          <p:nvSpPr>
            <p:cNvPr id="53" name="Text 20">
              <a:extLst>
                <a:ext uri="{FF2B5EF4-FFF2-40B4-BE49-F238E27FC236}">
                  <a16:creationId xmlns:a16="http://schemas.microsoft.com/office/drawing/2014/main" id="{92E578FB-9DD7-6A84-451D-A3FEC3D7031C}"/>
                </a:ext>
              </a:extLst>
            </p:cNvPr>
            <p:cNvSpPr txBox="1"/>
            <p:nvPr/>
          </p:nvSpPr>
          <p:spPr>
            <a:xfrm>
              <a:off x="5130698" y="3626510"/>
              <a:ext cx="952805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σp1</a:t>
              </a:r>
              <a:endParaRPr lang="en-US" sz="2000" dirty="0"/>
            </a:p>
          </p:txBody>
        </p:sp>
        <p:sp>
          <p:nvSpPr>
            <p:cNvPr id="54" name="Text 21">
              <a:extLst>
                <a:ext uri="{FF2B5EF4-FFF2-40B4-BE49-F238E27FC236}">
                  <a16:creationId xmlns:a16="http://schemas.microsoft.com/office/drawing/2014/main" id="{6C42C66F-199F-DE50-0561-476289F221E8}"/>
                </a:ext>
              </a:extLst>
            </p:cNvPr>
            <p:cNvSpPr txBox="1"/>
            <p:nvPr/>
          </p:nvSpPr>
          <p:spPr>
            <a:xfrm>
              <a:off x="5841187" y="3626510"/>
              <a:ext cx="952805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σp2</a:t>
              </a:r>
              <a:endParaRPr lang="en-US" sz="2000" dirty="0"/>
            </a:p>
          </p:txBody>
        </p: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2338461C-2E96-4435-3E41-41B07616F0F2}"/>
                </a:ext>
              </a:extLst>
            </p:cNvPr>
            <p:cNvSpPr txBox="1"/>
            <p:nvPr/>
          </p:nvSpPr>
          <p:spPr>
            <a:xfrm>
              <a:off x="6551676" y="3626510"/>
              <a:ext cx="629107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⋯</a:t>
              </a:r>
              <a:endParaRPr lang="en-US" sz="20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F36EFA71-553A-6538-3965-D856F944C93B}"/>
                </a:ext>
              </a:extLst>
            </p:cNvPr>
            <p:cNvSpPr txBox="1"/>
            <p:nvPr/>
          </p:nvSpPr>
          <p:spPr>
            <a:xfrm>
              <a:off x="6932981" y="3626510"/>
              <a:ext cx="952805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σp2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238951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28800" y="1415107"/>
            <a:ext cx="8534095" cy="1009498"/>
          </a:xfrm>
          <a:prstGeom prst="roundRect">
            <a:avLst>
              <a:gd name="adj" fmla="val 8545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Cov(X,Y) = E[(X-E[X])(Y-E[Y])]</a:t>
            </a:r>
            <a:endParaRPr kumimoji="0" lang="en-US" altLang="ko-K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805" y="282445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52144" y="3024707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2728" y="3100602"/>
            <a:ext cx="142646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86500" y="282445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86754" y="3024707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638605" y="3043909"/>
            <a:ext cx="118597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수학적 정의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38605" y="3462704"/>
            <a:ext cx="41486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두 변수의 편차를 곱한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값의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변수들이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평균으로부터 얼마나 함께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변동하는지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측정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2649" y="3100602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972300" y="3043909"/>
            <a:ext cx="5477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972300" y="3462704"/>
            <a:ext cx="402518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양의 값(+): 함께 증가/감소 (양의 관계)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음의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값(-): 반대 방향으로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변동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(음의 관계)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0에 가까움: 선형 관계 없음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2824583" y="4815102"/>
            <a:ext cx="5925310" cy="114483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108000" tIns="0" rIns="0" bIns="0" rtlCol="0" anchor="ctr"/>
          <a:lstStyle>
            <a:lvl1pPr indent="0" algn="ctr">
              <a:buFont typeface="Arial" panose="020B0604020202020204" pitchFamily="34" charset="0"/>
              <a:buNone/>
              <a:defRPr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 err="1"/>
              <a:t>공분산은</a:t>
            </a:r>
            <a:r>
              <a:rPr lang="en-US" dirty="0"/>
              <a:t> </a:t>
            </a:r>
            <a:r>
              <a:rPr lang="en-US" dirty="0" err="1"/>
              <a:t>단위에</a:t>
            </a:r>
            <a:r>
              <a:rPr lang="en-US" dirty="0"/>
              <a:t> </a:t>
            </a:r>
            <a:r>
              <a:rPr lang="en-US" dirty="0" err="1"/>
              <a:t>의존</a:t>
            </a:r>
            <a:endParaRPr lang="en-US" dirty="0"/>
          </a:p>
          <a:p>
            <a:r>
              <a:rPr lang="en-US" dirty="0" err="1"/>
              <a:t>값의</a:t>
            </a:r>
            <a:r>
              <a:rPr lang="en-US" dirty="0"/>
              <a:t> 크기 자체는 관계의 강도를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비교하기에</a:t>
            </a:r>
            <a:r>
              <a:rPr lang="en-US" dirty="0"/>
              <a:t> </a:t>
            </a:r>
            <a:r>
              <a:rPr lang="en-US" dirty="0" err="1"/>
              <a:t>부적합</a:t>
            </a:r>
            <a:endParaRPr lang="en-US" dirty="0"/>
          </a:p>
          <a:p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해결하려면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상관계수로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표준화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필요</a:t>
            </a:r>
            <a:endParaRPr lang="en-US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4EC4D1C-E959-D189-DF64-7B202EF009D4}"/>
              </a:ext>
            </a:extLst>
          </p:cNvPr>
          <p:cNvSpPr txBox="1"/>
          <p:nvPr/>
        </p:nvSpPr>
        <p:spPr>
          <a:xfrm>
            <a:off x="761695" y="457349"/>
            <a:ext cx="463011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en-US" altLang="ko-KR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(Covariance) </a:t>
            </a:r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정의</a:t>
            </a:r>
            <a:endParaRPr lang="en-US" altLang="ko-KR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033668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410005"/>
            <a:ext cx="1991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키와 몸무게 데이터</a:t>
            </a:r>
            <a:endParaRPr lang="en-US" sz="1800" dirty="0"/>
          </a:p>
        </p:txBody>
      </p:sp>
      <p:sp>
        <p:nvSpPr>
          <p:cNvPr id="105" name="Text 103"/>
          <p:cNvSpPr txBox="1"/>
          <p:nvPr/>
        </p:nvSpPr>
        <p:spPr>
          <a:xfrm>
            <a:off x="761695" y="3928459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편차와 곱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 flipH="1">
            <a:off x="6087000" y="1410005"/>
            <a:ext cx="18000" cy="5223967"/>
          </a:xfrm>
          <a:prstGeom prst="rect">
            <a:avLst/>
          </a:prstGeom>
          <a:solidFill>
            <a:srgbClr val="2E40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 txBox="1"/>
          <p:nvPr/>
        </p:nvSpPr>
        <p:spPr>
          <a:xfrm>
            <a:off x="6026810" y="6633972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4</a:t>
            </a:r>
            <a:endParaRPr lang="en-US" sz="1200" dirty="0"/>
          </a:p>
        </p:txBody>
      </p:sp>
      <p:sp>
        <p:nvSpPr>
          <p:cNvPr id="140" name="Text 3">
            <a:extLst>
              <a:ext uri="{FF2B5EF4-FFF2-40B4-BE49-F238E27FC236}">
                <a16:creationId xmlns:a16="http://schemas.microsoft.com/office/drawing/2014/main" id="{BB46C59B-8067-1F59-DB40-40F908503557}"/>
              </a:ext>
            </a:extLst>
          </p:cNvPr>
          <p:cNvSpPr txBox="1"/>
          <p:nvPr/>
        </p:nvSpPr>
        <p:spPr>
          <a:xfrm>
            <a:off x="761694" y="457349"/>
            <a:ext cx="562513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ko-KR" altLang="en-US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계산 예시</a:t>
            </a:r>
            <a:endParaRPr lang="en-US" altLang="ko-KR" sz="3200" dirty="0"/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EC7778FF-A35B-A742-9521-9FD6F0092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35718"/>
              </p:ext>
            </p:extLst>
          </p:nvPr>
        </p:nvGraphicFramePr>
        <p:xfrm>
          <a:off x="761695" y="1826255"/>
          <a:ext cx="476064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6880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1586880">
                  <a:extLst>
                    <a:ext uri="{9D8B030D-6E8A-4147-A177-3AD203B41FA5}">
                      <a16:colId xmlns:a16="http://schemas.microsoft.com/office/drawing/2014/main" val="3241023297"/>
                    </a:ext>
                  </a:extLst>
                </a:gridCol>
                <a:gridCol w="1586880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</a:tblGrid>
              <a:tr h="2277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사람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 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(cm)</a:t>
                      </a:r>
                      <a:endParaRPr lang="ko-KR" altLang="en-US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몸무게 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(kg)</a:t>
                      </a:r>
                      <a:endParaRPr lang="ko-KR" altLang="en-US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493125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567150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5303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60785"/>
                  </a:ext>
                </a:extLst>
              </a:tr>
            </a:tbl>
          </a:graphicData>
        </a:graphic>
      </p:graphicFrame>
      <p:graphicFrame>
        <p:nvGraphicFramePr>
          <p:cNvPr id="142" name="표 141">
            <a:extLst>
              <a:ext uri="{FF2B5EF4-FFF2-40B4-BE49-F238E27FC236}">
                <a16:creationId xmlns:a16="http://schemas.microsoft.com/office/drawing/2014/main" id="{5397BCDD-91E5-43EB-7282-6006AE7C8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30901"/>
              </p:ext>
            </p:extLst>
          </p:nvPr>
        </p:nvGraphicFramePr>
        <p:xfrm>
          <a:off x="761695" y="4334855"/>
          <a:ext cx="4760643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2076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1559309">
                  <a:extLst>
                    <a:ext uri="{9D8B030D-6E8A-4147-A177-3AD203B41FA5}">
                      <a16:colId xmlns:a16="http://schemas.microsoft.com/office/drawing/2014/main" val="3241023297"/>
                    </a:ext>
                  </a:extLst>
                </a:gridCol>
                <a:gridCol w="1329629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  <a:gridCol w="1329629">
                  <a:extLst>
                    <a:ext uri="{9D8B030D-6E8A-4147-A177-3AD203B41FA5}">
                      <a16:colId xmlns:a16="http://schemas.microsoft.com/office/drawing/2014/main" val="1919930402"/>
                    </a:ext>
                  </a:extLst>
                </a:gridCol>
              </a:tblGrid>
              <a:tr h="2277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사람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 편차 </a:t>
                      </a:r>
                      <a:endParaRPr lang="en-US" altLang="ko-KR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(x-</a:t>
                      </a:r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평균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몸무게 편차 </a:t>
                      </a:r>
                      <a:endParaRPr lang="en-US" altLang="ko-KR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(y-</a:t>
                      </a:r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평균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편차의 곱</a:t>
                      </a:r>
                      <a:endParaRPr lang="en-US" altLang="ko-KR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(x-</a:t>
                      </a:r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평균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 (y-</a:t>
                      </a:r>
                      <a:r>
                        <a:rPr lang="ko-KR" altLang="en-US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평균</a:t>
                      </a:r>
                      <a:r>
                        <a:rPr lang="en-US" altLang="ko-KR" sz="1200" b="1" i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200" b="1" i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493125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567150"/>
                  </a:ext>
                </a:extLst>
              </a:tr>
              <a:tr h="22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5303"/>
                  </a:ext>
                </a:extLst>
              </a:tr>
              <a:tr h="2277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60785"/>
                  </a:ext>
                </a:extLst>
              </a:tr>
            </a:tbl>
          </a:graphicData>
        </a:graphic>
      </p:graphicFrame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36B79C00-6657-9169-3D2F-5E31D8BFA509}"/>
              </a:ext>
            </a:extLst>
          </p:cNvPr>
          <p:cNvGrpSpPr/>
          <p:nvPr/>
        </p:nvGrpSpPr>
        <p:grpSpPr>
          <a:xfrm>
            <a:off x="6669663" y="1410005"/>
            <a:ext cx="4760642" cy="4936530"/>
            <a:chOff x="5928054" y="1410005"/>
            <a:chExt cx="4760642" cy="4936530"/>
          </a:xfrm>
        </p:grpSpPr>
        <p:sp>
          <p:nvSpPr>
            <p:cNvPr id="107" name="Text 105"/>
            <p:cNvSpPr txBox="1"/>
            <p:nvPr/>
          </p:nvSpPr>
          <p:spPr>
            <a:xfrm>
              <a:off x="5928055" y="1410005"/>
              <a:ext cx="1772107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 계산 과정</a:t>
              </a:r>
              <a:endParaRPr lang="en-US" sz="18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5928055" y="1900272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114"/>
            <p:cNvSpPr txBox="1"/>
            <p:nvPr/>
          </p:nvSpPr>
          <p:spPr>
            <a:xfrm>
              <a:off x="6356909" y="1886407"/>
              <a:ext cx="8147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 계산</a:t>
              </a:r>
              <a:endParaRPr lang="en-US" sz="130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6356909" y="2228345"/>
              <a:ext cx="4331787" cy="352044"/>
            </a:xfrm>
            <a:prstGeom prst="roundRect">
              <a:avLst>
                <a:gd name="adj" fmla="val 3510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키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175cm,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몸무게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70kg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Shape 135"/>
            <p:cNvSpPr/>
            <p:nvPr/>
          </p:nvSpPr>
          <p:spPr>
            <a:xfrm>
              <a:off x="5928055" y="5384539"/>
              <a:ext cx="4760641" cy="562356"/>
            </a:xfrm>
            <a:prstGeom prst="roundRect">
              <a:avLst>
                <a:gd name="adj" fmla="val 22048"/>
              </a:avLst>
            </a:prstGeom>
            <a:solidFill>
              <a:srgbClr val="048A81">
                <a:alpha val="10000"/>
              </a:srgbClr>
            </a:solidFill>
            <a:ln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</a:t>
              </a:r>
              <a:r>
                <a:rPr kumimoji="0" lang="en-US" altLang="ko-KR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= 50 (</a:t>
              </a:r>
              <a:r>
                <a:rPr kumimoji="0" lang="en-US" altLang="ko-KR" sz="15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양의</a:t>
              </a:r>
              <a:r>
                <a:rPr kumimoji="0" lang="en-US" altLang="ko-KR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0" lang="en-US" altLang="ko-KR" sz="15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상관관계</a:t>
              </a:r>
              <a:r>
                <a:rPr kumimoji="0" lang="en-US" altLang="ko-KR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)</a:t>
              </a:r>
              <a:endPara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Text 137"/>
            <p:cNvSpPr txBox="1"/>
            <p:nvPr/>
          </p:nvSpPr>
          <p:spPr>
            <a:xfrm>
              <a:off x="5928054" y="6117935"/>
              <a:ext cx="476064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공분산이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양수이므로, 키와 몸무게는 함께 증가하는 </a:t>
              </a: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경향이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있다고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해석</a:t>
              </a:r>
              <a:endParaRPr lang="en-US" sz="1200" dirty="0"/>
            </a:p>
          </p:txBody>
        </p:sp>
        <p:sp>
          <p:nvSpPr>
            <p:cNvPr id="145" name="Shape 106">
              <a:extLst>
                <a:ext uri="{FF2B5EF4-FFF2-40B4-BE49-F238E27FC236}">
                  <a16:creationId xmlns:a16="http://schemas.microsoft.com/office/drawing/2014/main" id="{0E70E3D2-E291-7D32-34D6-A2D42BBA132C}"/>
                </a:ext>
              </a:extLst>
            </p:cNvPr>
            <p:cNvSpPr/>
            <p:nvPr/>
          </p:nvSpPr>
          <p:spPr>
            <a:xfrm>
              <a:off x="5928055" y="2763497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Text 114">
              <a:extLst>
                <a:ext uri="{FF2B5EF4-FFF2-40B4-BE49-F238E27FC236}">
                  <a16:creationId xmlns:a16="http://schemas.microsoft.com/office/drawing/2014/main" id="{C620E839-FE44-686A-798D-0CB88393B594}"/>
                </a:ext>
              </a:extLst>
            </p:cNvPr>
            <p:cNvSpPr txBox="1"/>
            <p:nvPr/>
          </p:nvSpPr>
          <p:spPr>
            <a:xfrm>
              <a:off x="6356909" y="2749632"/>
              <a:ext cx="8147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편차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계산</a:t>
              </a:r>
              <a:endParaRPr lang="en-US" sz="1300" dirty="0"/>
            </a:p>
          </p:txBody>
        </p:sp>
        <p:sp>
          <p:nvSpPr>
            <p:cNvPr id="147" name="Shape 119">
              <a:extLst>
                <a:ext uri="{FF2B5EF4-FFF2-40B4-BE49-F238E27FC236}">
                  <a16:creationId xmlns:a16="http://schemas.microsoft.com/office/drawing/2014/main" id="{FBF02FFF-533C-D727-2504-0179201B67C0}"/>
                </a:ext>
              </a:extLst>
            </p:cNvPr>
            <p:cNvSpPr/>
            <p:nvPr/>
          </p:nvSpPr>
          <p:spPr>
            <a:xfrm>
              <a:off x="6356909" y="3091570"/>
              <a:ext cx="4331787" cy="352044"/>
            </a:xfrm>
            <a:prstGeom prst="roundRect">
              <a:avLst>
                <a:gd name="adj" fmla="val 3510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예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첫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번째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사람의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키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편차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= 165 - 175 = -10</a:t>
              </a:r>
              <a:endParaRPr lang="en-US" altLang="ko-KR" sz="1200" dirty="0"/>
            </a:p>
          </p:txBody>
        </p:sp>
        <p:sp>
          <p:nvSpPr>
            <p:cNvPr id="154" name="Shape 106">
              <a:extLst>
                <a:ext uri="{FF2B5EF4-FFF2-40B4-BE49-F238E27FC236}">
                  <a16:creationId xmlns:a16="http://schemas.microsoft.com/office/drawing/2014/main" id="{54422A67-56FA-F1AD-D355-DCD4A777A0F9}"/>
                </a:ext>
              </a:extLst>
            </p:cNvPr>
            <p:cNvSpPr/>
            <p:nvPr/>
          </p:nvSpPr>
          <p:spPr>
            <a:xfrm>
              <a:off x="5928055" y="3626722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Text 114">
              <a:extLst>
                <a:ext uri="{FF2B5EF4-FFF2-40B4-BE49-F238E27FC236}">
                  <a16:creationId xmlns:a16="http://schemas.microsoft.com/office/drawing/2014/main" id="{59DDF43B-BABB-BB81-86DF-122EC010A970}"/>
                </a:ext>
              </a:extLst>
            </p:cNvPr>
            <p:cNvSpPr txBox="1"/>
            <p:nvPr/>
          </p:nvSpPr>
          <p:spPr>
            <a:xfrm>
              <a:off x="6356909" y="3612857"/>
              <a:ext cx="8147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편차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곱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계산</a:t>
              </a:r>
              <a:endParaRPr lang="en-US" sz="1300" dirty="0"/>
            </a:p>
          </p:txBody>
        </p:sp>
        <p:sp>
          <p:nvSpPr>
            <p:cNvPr id="156" name="Shape 119">
              <a:extLst>
                <a:ext uri="{FF2B5EF4-FFF2-40B4-BE49-F238E27FC236}">
                  <a16:creationId xmlns:a16="http://schemas.microsoft.com/office/drawing/2014/main" id="{D30A2DA8-3EFD-EC33-12FA-4B9FA125CC36}"/>
                </a:ext>
              </a:extLst>
            </p:cNvPr>
            <p:cNvSpPr/>
            <p:nvPr/>
          </p:nvSpPr>
          <p:spPr>
            <a:xfrm>
              <a:off x="6356909" y="3954795"/>
              <a:ext cx="4331787" cy="352044"/>
            </a:xfrm>
            <a:prstGeom prst="roundRect">
              <a:avLst>
                <a:gd name="adj" fmla="val 3510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예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첫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번째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사람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= (-10) × (-10) = 100</a:t>
              </a:r>
              <a:endParaRPr lang="en-US" altLang="ko-KR" sz="1200" dirty="0"/>
            </a:p>
          </p:txBody>
        </p:sp>
        <p:sp>
          <p:nvSpPr>
            <p:cNvPr id="158" name="Shape 106">
              <a:extLst>
                <a:ext uri="{FF2B5EF4-FFF2-40B4-BE49-F238E27FC236}">
                  <a16:creationId xmlns:a16="http://schemas.microsoft.com/office/drawing/2014/main" id="{F6A0A138-D608-4EE0-4F75-A89B6A44DBB8}"/>
                </a:ext>
              </a:extLst>
            </p:cNvPr>
            <p:cNvSpPr/>
            <p:nvPr/>
          </p:nvSpPr>
          <p:spPr>
            <a:xfrm>
              <a:off x="5928055" y="4489948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Text 114">
              <a:extLst>
                <a:ext uri="{FF2B5EF4-FFF2-40B4-BE49-F238E27FC236}">
                  <a16:creationId xmlns:a16="http://schemas.microsoft.com/office/drawing/2014/main" id="{8CAFF0FA-56E8-B008-9299-4609957ABEAC}"/>
                </a:ext>
              </a:extLst>
            </p:cNvPr>
            <p:cNvSpPr txBox="1"/>
            <p:nvPr/>
          </p:nvSpPr>
          <p:spPr>
            <a:xfrm>
              <a:off x="6356909" y="4476083"/>
              <a:ext cx="344894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계산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(</a:t>
              </a:r>
              <a:r>
                <a:rPr lang="en-US" altLang="ko-KR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편차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곱의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)</a:t>
              </a:r>
              <a:endParaRPr lang="en-US" altLang="ko-KR" sz="1300" dirty="0"/>
            </a:p>
          </p:txBody>
        </p:sp>
        <p:sp>
          <p:nvSpPr>
            <p:cNvPr id="160" name="Shape 119">
              <a:extLst>
                <a:ext uri="{FF2B5EF4-FFF2-40B4-BE49-F238E27FC236}">
                  <a16:creationId xmlns:a16="http://schemas.microsoft.com/office/drawing/2014/main" id="{723A9F72-345C-1E79-1EA8-8058818D1A02}"/>
                </a:ext>
              </a:extLst>
            </p:cNvPr>
            <p:cNvSpPr/>
            <p:nvPr/>
          </p:nvSpPr>
          <p:spPr>
            <a:xfrm>
              <a:off x="6356909" y="4818021"/>
              <a:ext cx="4331787" cy="352044"/>
            </a:xfrm>
            <a:prstGeom prst="roundRect">
              <a:avLst>
                <a:gd name="adj" fmla="val 3510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Cov(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키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몸무게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) = 250 / 5 = 50</a:t>
              </a:r>
              <a:endParaRPr lang="en-US" altLang="ko-KR" sz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021324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78862" y="1377544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7047" y="1883665"/>
            <a:ext cx="3786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값의 절댓값 자체는 의미 </a:t>
            </a:r>
            <a:r>
              <a:rPr 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해석이</a:t>
            </a: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어려움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831" y="4535763"/>
            <a:ext cx="4956962" cy="5056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108000" tIns="0" rIns="0" bIns="0" rtlCol="0" anchor="ctr"/>
          <a:lstStyle>
            <a:lvl1pPr indent="0" algn="ctr">
              <a:buFont typeface="Arial" panose="020B0604020202020204" pitchFamily="34" charset="0"/>
              <a:buNone/>
              <a:defRPr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sz="1600"/>
              <a:t>서로 </a:t>
            </a:r>
            <a:r>
              <a:rPr lang="en-US" sz="1600" dirty="0"/>
              <a:t>다른 변수 쌍의 공분산 값을 </a:t>
            </a:r>
            <a:r>
              <a:rPr lang="en-US" sz="1600"/>
              <a:t>직접 비교하기 어려움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71831" y="4059022"/>
            <a:ext cx="49569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키를</a:t>
            </a:r>
            <a:r>
              <a:rPr lang="en-US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cm에서 m로 단위를 바꾸면 공분산이 100배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작아짐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34631" y="1377544"/>
            <a:ext cx="342900" cy="3429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12562" y="1883665"/>
            <a:ext cx="4187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Pearson </a:t>
            </a:r>
            <a:r>
              <a:rPr lang="en-US" b="1" dirty="0" err="1">
                <a:solidFill>
                  <a:srgbClr val="FF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상관계수</a:t>
            </a:r>
            <a:r>
              <a:rPr 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로</a:t>
            </a: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표준화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829429" y="2242110"/>
            <a:ext cx="4953305" cy="437998"/>
          </a:xfrm>
          <a:prstGeom prst="roundRect">
            <a:avLst>
              <a:gd name="adj" fmla="val 27231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ρ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= Cov(X,Y) / (</a:t>
            </a:r>
            <a:r>
              <a:rPr kumimoji="0" lang="en-US" altLang="ko-K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σX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× </a:t>
            </a:r>
            <a:r>
              <a:rPr kumimoji="0" lang="en-US" altLang="ko-K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σY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rcRect t="-530" b="-530"/>
          <a:stretch/>
        </p:blipFill>
        <p:spPr>
          <a:xfrm>
            <a:off x="5910709" y="2318006"/>
            <a:ext cx="476123" cy="286207"/>
          </a:xfrm>
          <a:prstGeom prst="rect">
            <a:avLst/>
          </a:prstGeom>
        </p:spPr>
      </p:pic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B172170F-4ABA-ABB9-430F-4BE6DB88C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60489"/>
              </p:ext>
            </p:extLst>
          </p:nvPr>
        </p:nvGraphicFramePr>
        <p:xfrm>
          <a:off x="471831" y="2832883"/>
          <a:ext cx="4956962" cy="1112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78481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2478481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단위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공분산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(cm)-</a:t>
                      </a: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몸무게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(kg)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Cov = 50.0</a:t>
                      </a:r>
                      <a:endParaRPr lang="en-US" altLang="ko-KR" sz="12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(m)-</a:t>
                      </a: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몸무게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(kg)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Cov = 0.5</a:t>
                      </a:r>
                      <a:endParaRPr lang="en-US" altLang="ko-KR" sz="12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82371BAD-7985-32D0-6D39-1FFE9BE05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45407"/>
              </p:ext>
            </p:extLst>
          </p:nvPr>
        </p:nvGraphicFramePr>
        <p:xfrm>
          <a:off x="6827600" y="2832883"/>
          <a:ext cx="4956962" cy="1112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78481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2478481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단위</a:t>
                      </a:r>
                      <a:endParaRPr lang="ko-KR" altLang="en-US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상관계수</a:t>
                      </a:r>
                      <a:endParaRPr lang="ko-KR" altLang="en-US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키(cm)-몸무게(kg)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ρ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= 0.85</a:t>
                      </a:r>
                      <a:endParaRPr lang="en-US" altLang="ko-KR" sz="12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키(m)-몸무게(kg)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ρ</a:t>
                      </a:r>
                      <a:r>
                        <a:rPr lang="en-US" altLang="ko-KR" sz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= 0.85</a:t>
                      </a:r>
                      <a:endParaRPr lang="en-US" altLang="ko-KR" sz="12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</a:tbl>
          </a:graphicData>
        </a:graphic>
      </p:graphicFrame>
      <p:sp>
        <p:nvSpPr>
          <p:cNvPr id="53" name="Shape 26">
            <a:extLst>
              <a:ext uri="{FF2B5EF4-FFF2-40B4-BE49-F238E27FC236}">
                <a16:creationId xmlns:a16="http://schemas.microsoft.com/office/drawing/2014/main" id="{535D63BF-A5B5-4DF0-9747-5D58B96B46A8}"/>
              </a:ext>
            </a:extLst>
          </p:cNvPr>
          <p:cNvSpPr/>
          <p:nvPr/>
        </p:nvSpPr>
        <p:spPr>
          <a:xfrm>
            <a:off x="516636" y="2242110"/>
            <a:ext cx="4953305" cy="437998"/>
          </a:xfrm>
          <a:prstGeom prst="roundRect">
            <a:avLst>
              <a:gd name="adj" fmla="val 27231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Cov(X,Y)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72C867EC-7729-4125-AE37-432666CFAF59}"/>
              </a:ext>
            </a:extLst>
          </p:cNvPr>
          <p:cNvSpPr txBox="1"/>
          <p:nvPr/>
        </p:nvSpPr>
        <p:spPr>
          <a:xfrm>
            <a:off x="6827600" y="4059022"/>
            <a:ext cx="49569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</a:t>
            </a:r>
            <a:r>
              <a:rPr lang="en-US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변화에도</a:t>
            </a:r>
            <a:r>
              <a:rPr lang="en-US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일관된</a:t>
            </a:r>
            <a:r>
              <a:rPr lang="en-US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값을</a:t>
            </a:r>
            <a:r>
              <a:rPr lang="en-US" sz="1400" dirty="0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 err="1">
                <a:solidFill>
                  <a:srgbClr val="2E40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보임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0BF737F4-85FE-9524-8197-45E752C4792A}"/>
              </a:ext>
            </a:extLst>
          </p:cNvPr>
          <p:cNvSpPr txBox="1"/>
          <p:nvPr/>
        </p:nvSpPr>
        <p:spPr>
          <a:xfrm>
            <a:off x="6827600" y="4535763"/>
            <a:ext cx="4956962" cy="5056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108000" tIns="0" rIns="0" bIns="0" rtlCol="0" anchor="ctr"/>
          <a:lstStyle>
            <a:lvl1pPr indent="0" algn="ctr">
              <a:buFont typeface="Arial" panose="020B0604020202020204" pitchFamily="34" charset="0"/>
              <a:buNone/>
              <a:defRPr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sz="1600" dirty="0" err="1"/>
              <a:t>다른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변수쌍과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직접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비교</a:t>
            </a:r>
            <a:r>
              <a:rPr lang="en-US" altLang="ko-KR" sz="1600" dirty="0"/>
              <a:t> &amp; </a:t>
            </a:r>
            <a:r>
              <a:rPr lang="en-US" altLang="ko-KR" sz="1600" dirty="0" err="1"/>
              <a:t>강도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해석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가능</a:t>
            </a:r>
            <a:endParaRPr lang="en-US" altLang="ko-KR" sz="16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BBB3F7A1-FB0C-BD97-4A24-A20C024FB5C5}"/>
              </a:ext>
            </a:extLst>
          </p:cNvPr>
          <p:cNvSpPr txBox="1"/>
          <p:nvPr/>
        </p:nvSpPr>
        <p:spPr>
          <a:xfrm>
            <a:off x="761694" y="457349"/>
            <a:ext cx="562513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en-US" altLang="ko-KR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(Covariance) </a:t>
            </a:r>
            <a:r>
              <a:rPr lang="ko-KR" altLang="en-US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 주의</a:t>
            </a:r>
            <a:endParaRPr lang="en-US" altLang="ko-KR" sz="320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3D131F39-2541-7A63-A7E3-098B078E0401}"/>
              </a:ext>
            </a:extLst>
          </p:cNvPr>
          <p:cNvSpPr/>
          <p:nvPr/>
        </p:nvSpPr>
        <p:spPr>
          <a:xfrm>
            <a:off x="471831" y="5124149"/>
            <a:ext cx="4953305" cy="1276502"/>
          </a:xfrm>
          <a:prstGeom prst="roundRect">
            <a:avLst>
              <a:gd name="adj" fmla="val 10348"/>
            </a:avLst>
          </a:prstGeom>
          <a:noFill/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주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용도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수학적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모델링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다변량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역행렬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계산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그래피컬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확률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계산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추론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659B9267-ECE1-4FD9-ABBB-83D07CBDC180}"/>
              </a:ext>
            </a:extLst>
          </p:cNvPr>
          <p:cNvSpPr/>
          <p:nvPr/>
        </p:nvSpPr>
        <p:spPr>
          <a:xfrm>
            <a:off x="6829429" y="5124149"/>
            <a:ext cx="4953305" cy="1276502"/>
          </a:xfrm>
          <a:prstGeom prst="roundRect">
            <a:avLst>
              <a:gd name="adj" fmla="val 4277"/>
            </a:avLst>
          </a:prstGeom>
          <a:noFill/>
          <a:ln/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주</a:t>
            </a:r>
            <a:r>
              <a:rPr lang="en-US" altLang="ko-KR" sz="1300" b="1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b="1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용도</a:t>
            </a:r>
            <a:r>
              <a:rPr lang="en-US" altLang="ko-KR" sz="1300" b="1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-US" altLang="ko-KR" sz="1300" b="1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해석과</a:t>
            </a:r>
            <a:r>
              <a:rPr lang="en-US" altLang="ko-KR" sz="1300" b="1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b="1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보고</a:t>
            </a:r>
            <a:endParaRPr lang="en-US" altLang="ko-KR" sz="1300" b="1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endParaRPr lang="en-US" altLang="ko-KR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171450" indent="-171450" algn="ctr">
              <a:buFontTx/>
              <a:buChar char="-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강도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평가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약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강함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pPr marL="171450" indent="-171450" algn="ctr">
              <a:buFontTx/>
              <a:buChar char="-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시각화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보고서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작성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171450" indent="-171450" algn="ctr">
              <a:buFontTx/>
              <a:buChar char="-"/>
              <a:defRPr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특성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선택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중요도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평가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9" name="Shape 104">
            <a:extLst>
              <a:ext uri="{FF2B5EF4-FFF2-40B4-BE49-F238E27FC236}">
                <a16:creationId xmlns:a16="http://schemas.microsoft.com/office/drawing/2014/main" id="{15CAFA5C-B931-8AC2-BD1A-7E6147C5D477}"/>
              </a:ext>
            </a:extLst>
          </p:cNvPr>
          <p:cNvSpPr/>
          <p:nvPr/>
        </p:nvSpPr>
        <p:spPr>
          <a:xfrm flipH="1">
            <a:off x="6087000" y="1410005"/>
            <a:ext cx="18000" cy="5223967"/>
          </a:xfrm>
          <a:prstGeom prst="rect">
            <a:avLst/>
          </a:prstGeom>
          <a:solidFill>
            <a:srgbClr val="2E40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515100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16FB9B3-E71F-133C-3525-22D087F381B9}"/>
              </a:ext>
            </a:extLst>
          </p:cNvPr>
          <p:cNvGrpSpPr/>
          <p:nvPr/>
        </p:nvGrpSpPr>
        <p:grpSpPr>
          <a:xfrm>
            <a:off x="761695" y="1422349"/>
            <a:ext cx="3823106" cy="304495"/>
            <a:chOff x="761695" y="1857146"/>
            <a:chExt cx="3823106" cy="304495"/>
          </a:xfrm>
        </p:grpSpPr>
        <p:sp>
          <p:nvSpPr>
            <p:cNvPr id="7" name="Shape 5"/>
            <p:cNvSpPr/>
            <p:nvPr/>
          </p:nvSpPr>
          <p:spPr>
            <a:xfrm>
              <a:off x="761695" y="1857146"/>
              <a:ext cx="295351" cy="304495"/>
            </a:xfrm>
            <a:prstGeom prst="roundRect">
              <a:avLst>
                <a:gd name="adj" fmla="val 199740"/>
              </a:avLst>
            </a:prstGeom>
            <a:solidFill>
              <a:srgbClr val="2E4057"/>
            </a:solidFill>
            <a:ln/>
          </p:spPr>
          <p:txBody>
            <a:bodyPr lIns="0" tIns="0" rIns="0" bIns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A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1193291" y="1871777"/>
              <a:ext cx="33915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전통적 GGM 워크플로우 (정규분포 가정)</a:t>
              </a:r>
              <a:endParaRPr lang="en-US" sz="1500" dirty="0"/>
            </a:p>
          </p:txBody>
        </p:sp>
      </p:grpSp>
      <p:sp>
        <p:nvSpPr>
          <p:cNvPr id="18" name="Shape 15"/>
          <p:cNvSpPr/>
          <p:nvPr/>
        </p:nvSpPr>
        <p:spPr>
          <a:xfrm rot="5400000">
            <a:off x="1159066" y="4000781"/>
            <a:ext cx="277063" cy="190610"/>
          </a:xfrm>
          <a:prstGeom prst="triangle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rot="5400000">
            <a:off x="2873566" y="4000781"/>
            <a:ext cx="277063" cy="190610"/>
          </a:xfrm>
          <a:prstGeom prst="triangle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FAF23E5-B87A-811A-2F72-AA887CBA25EA}"/>
              </a:ext>
            </a:extLst>
          </p:cNvPr>
          <p:cNvGrpSpPr/>
          <p:nvPr/>
        </p:nvGrpSpPr>
        <p:grpSpPr>
          <a:xfrm>
            <a:off x="7104710" y="1410005"/>
            <a:ext cx="4257447" cy="304495"/>
            <a:chOff x="761695" y="3829507"/>
            <a:chExt cx="4257447" cy="304495"/>
          </a:xfrm>
        </p:grpSpPr>
        <p:sp>
          <p:nvSpPr>
            <p:cNvPr id="20" name="Shape 17"/>
            <p:cNvSpPr/>
            <p:nvPr/>
          </p:nvSpPr>
          <p:spPr>
            <a:xfrm>
              <a:off x="761695" y="3829507"/>
              <a:ext cx="295351" cy="304495"/>
            </a:xfrm>
            <a:prstGeom prst="roundRect">
              <a:avLst>
                <a:gd name="adj" fmla="val 199740"/>
              </a:avLst>
            </a:prstGeom>
            <a:solidFill>
              <a:srgbClr val="F26418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200" dirty="0">
                  <a:solidFill>
                    <a:srgbClr val="FFFFF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B</a:t>
              </a:r>
              <a:endParaRPr lang="ko-KR" altLang="en-US" sz="12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1193291" y="3843223"/>
              <a:ext cx="38258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Gaussian Copula 워크플로우 (비정규 허용)</a:t>
              </a:r>
              <a:endParaRPr lang="en-US" sz="1500" dirty="0"/>
            </a:p>
          </p:txBody>
        </p:sp>
      </p:grpSp>
      <p:sp>
        <p:nvSpPr>
          <p:cNvPr id="36" name="Shape 33"/>
          <p:cNvSpPr/>
          <p:nvPr/>
        </p:nvSpPr>
        <p:spPr>
          <a:xfrm>
            <a:off x="592201" y="5228802"/>
            <a:ext cx="5030403" cy="906430"/>
          </a:xfrm>
          <a:prstGeom prst="roundRect">
            <a:avLst>
              <a:gd name="adj" fmla="val 26420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정규성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가정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필요</a:t>
            </a:r>
            <a:endParaRPr kumimoji="0" lang="en-US" altLang="ko-KR" sz="1200" u="none" strike="noStrike" kern="1200" cap="none" spc="0" normalizeH="0" baseline="0" noProof="0" dirty="0">
              <a:ln>
                <a:noFill/>
              </a:ln>
              <a:solidFill>
                <a:srgbClr val="2E4057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이상치에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민감</a:t>
            </a:r>
            <a:endParaRPr kumimoji="0" lang="en-US" altLang="ko-KR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실제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값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기반</a:t>
            </a:r>
            <a:r>
              <a:rPr kumimoji="0" lang="en-US" altLang="ko-KR" sz="120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en-US" altLang="ko-KR" sz="120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계산</a:t>
            </a:r>
            <a:endParaRPr kumimoji="0" lang="en-US" altLang="ko-KR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6" name="Shape 13"/>
          <p:cNvSpPr/>
          <p:nvPr/>
        </p:nvSpPr>
        <p:spPr>
          <a:xfrm rot="5400000">
            <a:off x="2011398" y="2342258"/>
            <a:ext cx="277063" cy="190610"/>
          </a:xfrm>
          <a:prstGeom prst="triangle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rot="5400000">
            <a:off x="3715382" y="2342258"/>
            <a:ext cx="277063" cy="190610"/>
          </a:xfrm>
          <a:prstGeom prst="triangle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58DDAEF-E021-3EB7-129E-F49A117A30C4}"/>
              </a:ext>
            </a:extLst>
          </p:cNvPr>
          <p:cNvGrpSpPr/>
          <p:nvPr/>
        </p:nvGrpSpPr>
        <p:grpSpPr>
          <a:xfrm>
            <a:off x="865937" y="2093519"/>
            <a:ext cx="864000" cy="1162659"/>
            <a:chOff x="865937" y="2323948"/>
            <a:chExt cx="864000" cy="1162659"/>
          </a:xfrm>
        </p:grpSpPr>
        <p:sp>
          <p:nvSpPr>
            <p:cNvPr id="11" name="Text 8"/>
            <p:cNvSpPr txBox="1"/>
            <p:nvPr/>
          </p:nvSpPr>
          <p:spPr>
            <a:xfrm>
              <a:off x="865937" y="3066441"/>
              <a:ext cx="864000" cy="420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원본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데이터</a:t>
              </a:r>
              <a:endParaRPr lang="en-US" sz="12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964638" y="2323948"/>
              <a:ext cx="666598" cy="666598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8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183637" y="2542947"/>
              <a:ext cx="228600" cy="228600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FE66EAD-DAB4-F36A-44CE-009EA21FBC46}"/>
              </a:ext>
            </a:extLst>
          </p:cNvPr>
          <p:cNvGrpSpPr/>
          <p:nvPr/>
        </p:nvGrpSpPr>
        <p:grpSpPr>
          <a:xfrm>
            <a:off x="2569921" y="2093519"/>
            <a:ext cx="864000" cy="1162659"/>
            <a:chOff x="2580437" y="2323948"/>
            <a:chExt cx="864000" cy="1162659"/>
          </a:xfrm>
        </p:grpSpPr>
        <p:sp>
          <p:nvSpPr>
            <p:cNvPr id="12" name="Text 9"/>
            <p:cNvSpPr txBox="1"/>
            <p:nvPr/>
          </p:nvSpPr>
          <p:spPr>
            <a:xfrm>
              <a:off x="2580437" y="3029407"/>
              <a:ext cx="864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공분산 행렬 (Σ̂)</a:t>
              </a:r>
              <a:endParaRPr lang="en-US" sz="12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2679138" y="2323948"/>
              <a:ext cx="666598" cy="666598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2" descr="preencoded.png"/>
            <p:cNvPicPr>
              <a:picLocks noChangeAspect="1"/>
            </p:cNvPicPr>
            <p:nvPr/>
          </p:nvPicPr>
          <p:blipFill>
            <a:blip r:embed="rId4"/>
            <a:srcRect l="-133" r="-133"/>
            <a:stretch/>
          </p:blipFill>
          <p:spPr>
            <a:xfrm>
              <a:off x="2926484" y="2542947"/>
              <a:ext cx="171907" cy="22860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BD073D1-AB17-6967-72A5-2C90A92299FF}"/>
              </a:ext>
            </a:extLst>
          </p:cNvPr>
          <p:cNvGrpSpPr/>
          <p:nvPr/>
        </p:nvGrpSpPr>
        <p:grpSpPr>
          <a:xfrm>
            <a:off x="4273905" y="2093519"/>
            <a:ext cx="864000" cy="1162659"/>
            <a:chOff x="4273905" y="2323948"/>
            <a:chExt cx="864000" cy="1162659"/>
          </a:xfrm>
        </p:grpSpPr>
        <p:sp>
          <p:nvSpPr>
            <p:cNvPr id="13" name="Text 10"/>
            <p:cNvSpPr txBox="1"/>
            <p:nvPr/>
          </p:nvSpPr>
          <p:spPr>
            <a:xfrm>
              <a:off x="4273905" y="3029407"/>
              <a:ext cx="864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표준화 → Pearson</a:t>
              </a:r>
              <a:endParaRPr lang="en-US" sz="1200" dirty="0"/>
            </a:p>
          </p:txBody>
        </p:sp>
        <p:sp>
          <p:nvSpPr>
            <p:cNvPr id="51" name="Shape 46"/>
            <p:cNvSpPr/>
            <p:nvPr/>
          </p:nvSpPr>
          <p:spPr>
            <a:xfrm>
              <a:off x="4372606" y="2323948"/>
              <a:ext cx="666598" cy="666598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pPr algn="ctr"/>
              <a:endParaRPr lang="ko-KR" altLang="en-US"/>
            </a:p>
          </p:txBody>
        </p:sp>
        <p:pic>
          <p:nvPicPr>
            <p:cNvPr id="52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591605" y="2542947"/>
              <a:ext cx="228600" cy="22860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FC938E6-4E58-5E19-125E-6D7CC586528D}"/>
              </a:ext>
            </a:extLst>
          </p:cNvPr>
          <p:cNvGrpSpPr/>
          <p:nvPr/>
        </p:nvGrpSpPr>
        <p:grpSpPr>
          <a:xfrm>
            <a:off x="1689512" y="3768439"/>
            <a:ext cx="867600" cy="1219809"/>
            <a:chOff x="1782686" y="3998868"/>
            <a:chExt cx="867600" cy="1219809"/>
          </a:xfrm>
        </p:grpSpPr>
        <p:sp>
          <p:nvSpPr>
            <p:cNvPr id="14" name="Text 11"/>
            <p:cNvSpPr txBox="1"/>
            <p:nvPr/>
          </p:nvSpPr>
          <p:spPr>
            <a:xfrm>
              <a:off x="1782686" y="4761477"/>
              <a:ext cx="867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정밀도 행렬 (Θ)</a:t>
              </a:r>
              <a:endParaRPr lang="en-US" sz="1200" dirty="0"/>
            </a:p>
          </p:txBody>
        </p:sp>
        <p:sp>
          <p:nvSpPr>
            <p:cNvPr id="53" name="Shape 47"/>
            <p:cNvSpPr/>
            <p:nvPr/>
          </p:nvSpPr>
          <p:spPr>
            <a:xfrm>
              <a:off x="1883187" y="3998868"/>
              <a:ext cx="666598" cy="666598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4" name="Image 4" descr="preencoded.png"/>
            <p:cNvPicPr>
              <a:picLocks noChangeAspect="1"/>
            </p:cNvPicPr>
            <p:nvPr/>
          </p:nvPicPr>
          <p:blipFill>
            <a:blip r:embed="rId6"/>
            <a:srcRect t="-44" b="-44"/>
            <a:stretch/>
          </p:blipFill>
          <p:spPr>
            <a:xfrm>
              <a:off x="2088013" y="4218324"/>
              <a:ext cx="256946" cy="228600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22A4141-E578-A7D9-3341-71105D084C89}"/>
              </a:ext>
            </a:extLst>
          </p:cNvPr>
          <p:cNvGrpSpPr/>
          <p:nvPr/>
        </p:nvGrpSpPr>
        <p:grpSpPr>
          <a:xfrm>
            <a:off x="3438572" y="3754494"/>
            <a:ext cx="867600" cy="991209"/>
            <a:chOff x="3562566" y="4113168"/>
            <a:chExt cx="867600" cy="991209"/>
          </a:xfrm>
        </p:grpSpPr>
        <p:sp>
          <p:nvSpPr>
            <p:cNvPr id="15" name="Text 12"/>
            <p:cNvSpPr txBox="1"/>
            <p:nvPr/>
          </p:nvSpPr>
          <p:spPr>
            <a:xfrm>
              <a:off x="3562566" y="4875777"/>
              <a:ext cx="867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endParaRPr lang="en-US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55" name="Shape 48"/>
            <p:cNvSpPr/>
            <p:nvPr/>
          </p:nvSpPr>
          <p:spPr>
            <a:xfrm>
              <a:off x="3663067" y="4113168"/>
              <a:ext cx="666598" cy="666598"/>
            </a:xfrm>
            <a:prstGeom prst="ellipse">
              <a:avLst/>
            </a:prstGeom>
            <a:solidFill>
              <a:srgbClr val="2E4057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6" name="Image 5" descr="preencoded.png"/>
            <p:cNvPicPr>
              <a:picLocks noChangeAspect="1"/>
            </p:cNvPicPr>
            <p:nvPr/>
          </p:nvPicPr>
          <p:blipFill>
            <a:blip r:embed="rId7"/>
            <a:srcRect l="-80" r="-80"/>
            <a:stretch/>
          </p:blipFill>
          <p:spPr>
            <a:xfrm>
              <a:off x="3853263" y="4332624"/>
              <a:ext cx="286207" cy="228600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ABDAA11-E10E-C123-337A-894339F60019}"/>
              </a:ext>
            </a:extLst>
          </p:cNvPr>
          <p:cNvGrpSpPr/>
          <p:nvPr/>
        </p:nvGrpSpPr>
        <p:grpSpPr>
          <a:xfrm>
            <a:off x="7122101" y="2089969"/>
            <a:ext cx="866851" cy="1048360"/>
            <a:chOff x="7122101" y="2161642"/>
            <a:chExt cx="866851" cy="1048360"/>
          </a:xfrm>
        </p:grpSpPr>
        <p:sp>
          <p:nvSpPr>
            <p:cNvPr id="23" name="Text 20"/>
            <p:cNvSpPr txBox="1"/>
            <p:nvPr/>
          </p:nvSpPr>
          <p:spPr>
            <a:xfrm>
              <a:off x="7122101" y="2981402"/>
              <a:ext cx="8668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원본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데이터</a:t>
              </a:r>
              <a:endParaRPr lang="en-US" sz="1200" dirty="0"/>
            </a:p>
          </p:txBody>
        </p:sp>
        <p:sp>
          <p:nvSpPr>
            <p:cNvPr id="57" name="Shape 49"/>
            <p:cNvSpPr/>
            <p:nvPr/>
          </p:nvSpPr>
          <p:spPr>
            <a:xfrm>
              <a:off x="7222227" y="2161642"/>
              <a:ext cx="666598" cy="666598"/>
            </a:xfrm>
            <a:prstGeom prst="ellipse">
              <a:avLst/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8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441226" y="2380641"/>
              <a:ext cx="228600" cy="228600"/>
            </a:xfrm>
            <a:prstGeom prst="rect">
              <a:avLst/>
            </a:prstGeom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922A39-8B69-F4C8-D49C-9352D08C7007}"/>
              </a:ext>
            </a:extLst>
          </p:cNvPr>
          <p:cNvGrpSpPr/>
          <p:nvPr/>
        </p:nvGrpSpPr>
        <p:grpSpPr>
          <a:xfrm>
            <a:off x="8819341" y="2089969"/>
            <a:ext cx="724205" cy="1048360"/>
            <a:chOff x="8891465" y="2161642"/>
            <a:chExt cx="724205" cy="1048360"/>
          </a:xfrm>
        </p:grpSpPr>
        <p:sp>
          <p:nvSpPr>
            <p:cNvPr id="26" name="Text 23"/>
            <p:cNvSpPr txBox="1"/>
            <p:nvPr/>
          </p:nvSpPr>
          <p:spPr>
            <a:xfrm>
              <a:off x="8891465" y="2981402"/>
              <a:ext cx="7242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순위</a:t>
              </a: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변환</a:t>
              </a:r>
              <a:endParaRPr lang="en-US" sz="1200" dirty="0"/>
            </a:p>
          </p:txBody>
        </p:sp>
        <p:sp>
          <p:nvSpPr>
            <p:cNvPr id="59" name="Shape 50"/>
            <p:cNvSpPr/>
            <p:nvPr/>
          </p:nvSpPr>
          <p:spPr>
            <a:xfrm>
              <a:off x="8920268" y="2161642"/>
              <a:ext cx="666598" cy="666598"/>
            </a:xfrm>
            <a:prstGeom prst="ellipse">
              <a:avLst/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0" name="Image 7" descr="preencoded.png"/>
            <p:cNvPicPr>
              <a:picLocks noChangeAspect="1"/>
            </p:cNvPicPr>
            <p:nvPr/>
          </p:nvPicPr>
          <p:blipFill>
            <a:blip r:embed="rId9"/>
            <a:srcRect t="-44" b="-44"/>
            <a:stretch/>
          </p:blipFill>
          <p:spPr>
            <a:xfrm>
              <a:off x="9125094" y="2380641"/>
              <a:ext cx="256946" cy="228600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2E7FFE-E807-0D9F-8DB4-0B46AF335225}"/>
              </a:ext>
            </a:extLst>
          </p:cNvPr>
          <p:cNvGrpSpPr/>
          <p:nvPr/>
        </p:nvGrpSpPr>
        <p:grpSpPr>
          <a:xfrm>
            <a:off x="10373935" y="2089969"/>
            <a:ext cx="1047902" cy="1162660"/>
            <a:chOff x="10457832" y="2161642"/>
            <a:chExt cx="1047902" cy="1162660"/>
          </a:xfrm>
        </p:grpSpPr>
        <p:sp>
          <p:nvSpPr>
            <p:cNvPr id="29" name="Text 26"/>
            <p:cNvSpPr txBox="1"/>
            <p:nvPr/>
          </p:nvSpPr>
          <p:spPr>
            <a:xfrm>
              <a:off x="10457832" y="2867102"/>
              <a:ext cx="10479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Spearman </a:t>
              </a:r>
            </a:p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상관계수</a:t>
              </a:r>
              <a:endParaRPr lang="en-US" sz="1200" dirty="0"/>
            </a:p>
          </p:txBody>
        </p:sp>
        <p:sp>
          <p:nvSpPr>
            <p:cNvPr id="61" name="Shape 51"/>
            <p:cNvSpPr/>
            <p:nvPr/>
          </p:nvSpPr>
          <p:spPr>
            <a:xfrm>
              <a:off x="10648484" y="2161642"/>
              <a:ext cx="666598" cy="666598"/>
            </a:xfrm>
            <a:prstGeom prst="ellipse">
              <a:avLst/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2" name="Image 8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0867483" y="2380641"/>
              <a:ext cx="228600" cy="228600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8960FE6-4DE4-680C-1C2C-549169376FEC}"/>
              </a:ext>
            </a:extLst>
          </p:cNvPr>
          <p:cNvGrpSpPr/>
          <p:nvPr/>
        </p:nvGrpSpPr>
        <p:grpSpPr>
          <a:xfrm>
            <a:off x="7818566" y="3762268"/>
            <a:ext cx="1755009" cy="666598"/>
            <a:chOff x="12363441" y="2161642"/>
            <a:chExt cx="1755009" cy="666598"/>
          </a:xfrm>
        </p:grpSpPr>
        <p:sp>
          <p:nvSpPr>
            <p:cNvPr id="32" name="Text 29"/>
            <p:cNvSpPr txBox="1"/>
            <p:nvPr/>
          </p:nvSpPr>
          <p:spPr>
            <a:xfrm>
              <a:off x="13155587" y="2361216"/>
              <a:ext cx="962863" cy="2650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Gaussian </a:t>
              </a: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변환</a:t>
              </a:r>
              <a:endParaRPr lang="en-US" sz="1200" dirty="0"/>
            </a:p>
          </p:txBody>
        </p:sp>
        <p:sp>
          <p:nvSpPr>
            <p:cNvPr id="63" name="Shape 52"/>
            <p:cNvSpPr/>
            <p:nvPr/>
          </p:nvSpPr>
          <p:spPr>
            <a:xfrm>
              <a:off x="12363441" y="2161642"/>
              <a:ext cx="666598" cy="666598"/>
            </a:xfrm>
            <a:prstGeom prst="ellipse">
              <a:avLst/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4" name="Image 9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2582440" y="2380641"/>
              <a:ext cx="228600" cy="2286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7A291D-36AB-9A15-E8A7-B873C4EFC335}"/>
              </a:ext>
            </a:extLst>
          </p:cNvPr>
          <p:cNvGrpSpPr/>
          <p:nvPr/>
        </p:nvGrpSpPr>
        <p:grpSpPr>
          <a:xfrm>
            <a:off x="10547408" y="3762268"/>
            <a:ext cx="676656" cy="1048360"/>
            <a:chOff x="14045480" y="2161642"/>
            <a:chExt cx="676656" cy="1048360"/>
          </a:xfrm>
        </p:grpSpPr>
        <p:sp>
          <p:nvSpPr>
            <p:cNvPr id="33" name="Text 30"/>
            <p:cNvSpPr txBox="1"/>
            <p:nvPr/>
          </p:nvSpPr>
          <p:spPr>
            <a:xfrm>
              <a:off x="14045480" y="2981402"/>
              <a:ext cx="6766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endParaRPr lang="en-US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65" name="Shape 53"/>
            <p:cNvSpPr/>
            <p:nvPr/>
          </p:nvSpPr>
          <p:spPr>
            <a:xfrm>
              <a:off x="14050509" y="2161642"/>
              <a:ext cx="666598" cy="666598"/>
            </a:xfrm>
            <a:prstGeom prst="ellipse">
              <a:avLst/>
            </a:prstGeom>
            <a:solidFill>
              <a:srgbClr val="F26419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Image 10" descr="preencoded.png"/>
            <p:cNvPicPr>
              <a:picLocks noChangeAspect="1"/>
            </p:cNvPicPr>
            <p:nvPr/>
          </p:nvPicPr>
          <p:blipFill>
            <a:blip r:embed="rId12"/>
            <a:srcRect l="-80" r="-80"/>
            <a:stretch/>
          </p:blipFill>
          <p:spPr>
            <a:xfrm>
              <a:off x="14240705" y="2380641"/>
              <a:ext cx="286207" cy="228600"/>
            </a:xfrm>
            <a:prstGeom prst="rect">
              <a:avLst/>
            </a:prstGeom>
          </p:spPr>
        </p:pic>
      </p:grpSp>
      <p:sp>
        <p:nvSpPr>
          <p:cNvPr id="67" name="Text 3">
            <a:extLst>
              <a:ext uri="{FF2B5EF4-FFF2-40B4-BE49-F238E27FC236}">
                <a16:creationId xmlns:a16="http://schemas.microsoft.com/office/drawing/2014/main" id="{82DC76E4-020A-7A39-E41C-0861BB2F58C1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정규분포에 따른 공분산 행렬 계산 차이 </a:t>
            </a:r>
            <a:endParaRPr lang="en-US" altLang="ko-KR" sz="3200" dirty="0"/>
          </a:p>
        </p:txBody>
      </p:sp>
      <p:sp>
        <p:nvSpPr>
          <p:cNvPr id="70" name="Shape 104">
            <a:extLst>
              <a:ext uri="{FF2B5EF4-FFF2-40B4-BE49-F238E27FC236}">
                <a16:creationId xmlns:a16="http://schemas.microsoft.com/office/drawing/2014/main" id="{3ACCDF5F-DCE0-4081-6D12-9E0C28E36463}"/>
              </a:ext>
            </a:extLst>
          </p:cNvPr>
          <p:cNvSpPr/>
          <p:nvPr/>
        </p:nvSpPr>
        <p:spPr>
          <a:xfrm flipH="1">
            <a:off x="6087000" y="1410005"/>
            <a:ext cx="18000" cy="5223967"/>
          </a:xfrm>
          <a:prstGeom prst="rect">
            <a:avLst/>
          </a:prstGeom>
          <a:solidFill>
            <a:srgbClr val="2E40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81A72CF5-48B1-7274-AB5A-72C438AC0E1C}"/>
              </a:ext>
            </a:extLst>
          </p:cNvPr>
          <p:cNvSpPr/>
          <p:nvPr/>
        </p:nvSpPr>
        <p:spPr>
          <a:xfrm rot="5400000">
            <a:off x="7209748" y="4000783"/>
            <a:ext cx="277063" cy="190610"/>
          </a:xfrm>
          <a:prstGeom prst="triangle">
            <a:avLst/>
          </a:prstGeom>
          <a:solidFill>
            <a:srgbClr val="F26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52FAEAEB-2F40-5302-0B22-805D629ECE0A}"/>
              </a:ext>
            </a:extLst>
          </p:cNvPr>
          <p:cNvSpPr/>
          <p:nvPr/>
        </p:nvSpPr>
        <p:spPr>
          <a:xfrm rot="5400000">
            <a:off x="10007969" y="4000783"/>
            <a:ext cx="277063" cy="190610"/>
          </a:xfrm>
          <a:prstGeom prst="triangle">
            <a:avLst/>
          </a:prstGeom>
          <a:solidFill>
            <a:srgbClr val="F26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1F971D4C-FDBC-770E-E17F-516B02B4F907}"/>
              </a:ext>
            </a:extLst>
          </p:cNvPr>
          <p:cNvSpPr/>
          <p:nvPr/>
        </p:nvSpPr>
        <p:spPr>
          <a:xfrm rot="5400000">
            <a:off x="8295672" y="2342259"/>
            <a:ext cx="277063" cy="190610"/>
          </a:xfrm>
          <a:prstGeom prst="triangle">
            <a:avLst/>
          </a:prstGeom>
          <a:solidFill>
            <a:srgbClr val="F26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9319F986-B6D6-5FF7-42AC-F09D6D7443AB}"/>
              </a:ext>
            </a:extLst>
          </p:cNvPr>
          <p:cNvSpPr/>
          <p:nvPr/>
        </p:nvSpPr>
        <p:spPr>
          <a:xfrm rot="5400000">
            <a:off x="9999656" y="2342259"/>
            <a:ext cx="277063" cy="190610"/>
          </a:xfrm>
          <a:prstGeom prst="triangle">
            <a:avLst/>
          </a:prstGeom>
          <a:solidFill>
            <a:srgbClr val="F264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84CE1BDD-8CAE-6D1C-BE5E-087EE7078F5F}"/>
              </a:ext>
            </a:extLst>
          </p:cNvPr>
          <p:cNvSpPr/>
          <p:nvPr/>
        </p:nvSpPr>
        <p:spPr>
          <a:xfrm>
            <a:off x="6781169" y="5228802"/>
            <a:ext cx="5030403" cy="906430"/>
          </a:xfrm>
          <a:prstGeom prst="roundRect">
            <a:avLst>
              <a:gd name="adj" fmla="val 26420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 anchorCtr="0"/>
          <a:lstStyle/>
          <a:p>
            <a:pPr algn="ctr"/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정규성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가정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불필요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이상치에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강건</a:t>
            </a:r>
            <a:endParaRPr lang="en-US" altLang="ko-KR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특수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변환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공식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사용</a:t>
            </a:r>
            <a:endParaRPr lang="en-US" altLang="ko-KR" sz="12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AB885C4-28DB-D16C-ECFF-AC18A8F987C1}"/>
              </a:ext>
            </a:extLst>
          </p:cNvPr>
          <p:cNvSpPr/>
          <p:nvPr/>
        </p:nvSpPr>
        <p:spPr>
          <a:xfrm>
            <a:off x="7721909" y="4445853"/>
            <a:ext cx="2072340" cy="277063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  <a:alpha val="10000"/>
            </a:schemeClr>
          </a:solidFill>
          <a:ln/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Σ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ᵢⱼ = 2·sin(π·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ρ_Spearman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/6)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77195" y="5143500"/>
            <a:ext cx="2857500" cy="2857500"/>
          </a:xfrm>
          <a:prstGeom prst="ellipse">
            <a:avLst/>
          </a:prstGeom>
          <a:solidFill>
            <a:srgbClr val="048A81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761695"/>
            <a:ext cx="1904695" cy="1904695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523848"/>
            <a:ext cx="10668305" cy="433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실제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데이터는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정규분포를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따르지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않는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경우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일반적</a:t>
            </a:r>
            <a:endParaRPr lang="en-US" altLang="ko-KR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치우침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(skewed):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유전자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발현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영양소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농도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endParaRPr lang="en-US" altLang="ko-KR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중도절단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(censored):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검출한계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이하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최댓값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제한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endParaRPr lang="en-US" altLang="ko-KR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이상치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(outliers):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극단값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측정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오류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포함</a:t>
            </a:r>
            <a:endParaRPr lang="en-US" altLang="ko-K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rgbClr val="F26418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</a:t>
            </a:r>
            <a:r>
              <a:rPr lang="en-US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가정</a:t>
            </a:r>
            <a:r>
              <a:rPr lang="en-US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위반</a:t>
            </a:r>
            <a:r>
              <a:rPr lang="en-US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시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endParaRPr lang="en-US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</a:t>
            </a:r>
            <a:r>
              <a:rPr lang="en-US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en-US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피어슨</a:t>
            </a:r>
            <a:r>
              <a:rPr lang="en-US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상관계수</a:t>
            </a:r>
            <a:r>
              <a:rPr lang="en-US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왜곡</a:t>
            </a:r>
            <a:endParaRPr lang="en-US" b="1" dirty="0">
              <a:solidFill>
                <a:srgbClr val="F26418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이상치와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극단값에</a:t>
            </a:r>
            <a:r>
              <a:rPr lang="en-US" altLang="ko-KR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지나치게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민감한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추정치</a:t>
            </a:r>
            <a:r>
              <a:rPr lang="en-US" altLang="ko-KR" b="1" dirty="0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b="1" dirty="0" err="1">
                <a:solidFill>
                  <a:srgbClr val="F26418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발생</a:t>
            </a:r>
            <a:endParaRPr lang="en-US" altLang="ko-KR" b="1" dirty="0">
              <a:solidFill>
                <a:srgbClr val="F26418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10858500" y="5715000"/>
            <a:ext cx="571500" cy="57150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2AD137E5-514D-4A2A-7795-4F8B70C81AF4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비정규성의</a:t>
            </a:r>
            <a:r>
              <a:rPr lang="en-US" altLang="ko-KR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3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영향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08549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77195" y="5143500"/>
            <a:ext cx="2857500" cy="2857500"/>
          </a:xfrm>
          <a:prstGeom prst="ellipse">
            <a:avLst/>
          </a:prstGeom>
          <a:solidFill>
            <a:srgbClr val="048A81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761695"/>
            <a:ext cx="1904695" cy="1904695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FEEA369-088A-FE7B-C31A-A42409FB0531}"/>
              </a:ext>
            </a:extLst>
          </p:cNvPr>
          <p:cNvSpPr txBox="1"/>
          <p:nvPr/>
        </p:nvSpPr>
        <p:spPr>
          <a:xfrm>
            <a:off x="761694" y="1016885"/>
            <a:ext cx="665235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적절한 변환을 거쳐 구조 </a:t>
            </a:r>
            <a:r>
              <a:rPr lang="en-US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분포</a:t>
            </a:r>
            <a:r>
              <a:rPr 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가정을</a:t>
            </a:r>
            <a:r>
              <a:rPr 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600" dirty="0" err="1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완화하여</a:t>
            </a:r>
            <a:r>
              <a:rPr 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6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정규분포로 만드는 프레임워크</a:t>
            </a:r>
            <a:endParaRPr lang="en-US" sz="160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02529F79-9950-BCBB-D2D2-292A795E06BB}"/>
              </a:ext>
            </a:extLst>
          </p:cNvPr>
          <p:cNvGrpSpPr/>
          <p:nvPr/>
        </p:nvGrpSpPr>
        <p:grpSpPr>
          <a:xfrm>
            <a:off x="761694" y="4318833"/>
            <a:ext cx="5160135" cy="2075845"/>
            <a:chOff x="761694" y="4418583"/>
            <a:chExt cx="5160135" cy="2075845"/>
          </a:xfrm>
        </p:grpSpPr>
        <p:sp>
          <p:nvSpPr>
            <p:cNvPr id="113" name="Shape 7">
              <a:extLst>
                <a:ext uri="{FF2B5EF4-FFF2-40B4-BE49-F238E27FC236}">
                  <a16:creationId xmlns:a16="http://schemas.microsoft.com/office/drawing/2014/main" id="{A58CE6D5-1E4F-3559-7959-EA0B4DB3FA7F}"/>
                </a:ext>
              </a:extLst>
            </p:cNvPr>
            <p:cNvSpPr/>
            <p:nvPr/>
          </p:nvSpPr>
          <p:spPr>
            <a:xfrm>
              <a:off x="761694" y="4637486"/>
              <a:ext cx="5160135" cy="1856942"/>
            </a:xfrm>
            <a:prstGeom prst="roundRect">
              <a:avLst>
                <a:gd name="adj" fmla="val 9697"/>
              </a:avLst>
            </a:prstGeom>
            <a:solidFill>
              <a:schemeClr val="accent4">
                <a:alpha val="5000"/>
              </a:scheme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82F5F0C-9C7C-33EB-BE92-A13958867A30}"/>
                </a:ext>
              </a:extLst>
            </p:cNvPr>
            <p:cNvSpPr txBox="1"/>
            <p:nvPr/>
          </p:nvSpPr>
          <p:spPr>
            <a:xfrm>
              <a:off x="1627074" y="4418583"/>
              <a:ext cx="3429374" cy="4884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txBody>
            <a:bodyPr wrap="square" lIns="72000" tIns="0" rIns="0" bIns="0" rtlCol="0" anchor="ctr"/>
            <a:lstStyle>
              <a:lvl1pPr indent="0" algn="ctr">
                <a:buNone/>
                <a:defRPr sz="13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defRPr>
              </a:lvl1pPr>
            </a:lstStyle>
            <a:p>
              <a:r>
                <a:rPr lang="ko-KR" altLang="en-US" sz="1200" b="1" dirty="0"/>
                <a:t>잠재 변수 이론 </a:t>
              </a:r>
              <a:r>
                <a:rPr lang="en-US" altLang="ko-KR" sz="1200" b="1" dirty="0"/>
                <a:t>(</a:t>
              </a:r>
              <a:r>
                <a:rPr lang="en" altLang="ko-KR" sz="1200" b="1" dirty="0"/>
                <a:t>Latent Variable Theory)</a:t>
              </a:r>
              <a:endParaRPr lang="en" altLang="ko-KR" sz="1200" dirty="0"/>
            </a:p>
            <a:p>
              <a:r>
                <a:rPr lang="en" altLang="ko-KR" sz="1200" dirty="0"/>
                <a:t>Ordinal </a:t>
              </a:r>
              <a:r>
                <a:rPr lang="ko-KR" altLang="en-US" sz="1200" dirty="0"/>
                <a:t>응답의 본질 </a:t>
              </a:r>
              <a:r>
                <a:rPr lang="en-US" altLang="ko-KR" sz="1200" dirty="0">
                  <a:sym typeface="Wingdings" pitchFamily="2" charset="2"/>
                </a:rPr>
                <a:t> </a:t>
              </a:r>
              <a:r>
                <a:rPr lang="ko-KR" altLang="en-US" sz="1200" dirty="0"/>
                <a:t>실제 섭취량 연속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관측 불가</a:t>
              </a:r>
              <a:endParaRPr lang="en-US" altLang="ko-KR" sz="1200" dirty="0"/>
            </a:p>
          </p:txBody>
        </p: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CF2B6B0F-6253-1E70-74CB-BC2868AD64CE}"/>
                </a:ext>
              </a:extLst>
            </p:cNvPr>
            <p:cNvGrpSpPr/>
            <p:nvPr/>
          </p:nvGrpSpPr>
          <p:grpSpPr>
            <a:xfrm>
              <a:off x="974290" y="4908149"/>
              <a:ext cx="4734943" cy="1502205"/>
              <a:chOff x="860002" y="5092395"/>
              <a:chExt cx="4734943" cy="1502205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D61E1DF-2F23-1DEB-A139-73C10962DF53}"/>
                  </a:ext>
                </a:extLst>
              </p:cNvPr>
              <p:cNvSpPr txBox="1"/>
              <p:nvPr/>
            </p:nvSpPr>
            <p:spPr>
              <a:xfrm>
                <a:off x="860002" y="5092395"/>
                <a:ext cx="2107725" cy="15022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indent="0" algn="ctr">
                  <a:buNone/>
                  <a:defRPr sz="130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응답자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1: 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실제 섭취량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= 2.1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회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/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주</a:t>
                </a:r>
              </a:p>
              <a:p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응답자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3: 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실제 섭취량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= 2.7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회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/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주  </a:t>
                </a:r>
              </a:p>
              <a:p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응답자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5: 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실제 섭취량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= 1.9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회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/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주</a:t>
                </a:r>
              </a:p>
              <a:p>
                <a:endParaRPr lang="ko-KR" altLang="en-US" sz="1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↓ 설문 척도로 이산화</a:t>
                </a:r>
                <a:endParaRPr lang="en" altLang="ko-KR" sz="1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endParaRPr lang="en" altLang="ko-KR" sz="12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모두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"2" (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주 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1-2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회</a:t>
                </a:r>
                <a:r>
                  <a:rPr lang="en-US" altLang="ko-KR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  <a:r>
                  <a:rPr lang="ko-KR" altLang="en-US" sz="12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기록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5519FF7-557B-3B7E-7421-37E41617BA60}"/>
                  </a:ext>
                </a:extLst>
              </p:cNvPr>
              <p:cNvSpPr txBox="1"/>
              <p:nvPr/>
            </p:nvSpPr>
            <p:spPr>
              <a:xfrm>
                <a:off x="3757580" y="5206381"/>
                <a:ext cx="1837365" cy="13882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indent="0" algn="ctr">
                  <a:buNone/>
                  <a:defRPr sz="130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en-US" altLang="ko-KR" b="1" dirty="0"/>
                  <a:t>&lt;</a:t>
                </a:r>
                <a:r>
                  <a:rPr lang="ko-KR" altLang="en-US" b="1" dirty="0"/>
                  <a:t>문제</a:t>
                </a:r>
                <a:r>
                  <a:rPr lang="en-US" altLang="ko-KR" b="1" dirty="0"/>
                  <a:t>&gt;</a:t>
                </a:r>
              </a:p>
              <a:p>
                <a:r>
                  <a:rPr lang="ko-KR" altLang="en-US" dirty="0"/>
                  <a:t>원본 </a:t>
                </a:r>
                <a:r>
                  <a:rPr lang="en" altLang="ko-KR" dirty="0"/>
                  <a:t>ordinal </a:t>
                </a:r>
                <a:r>
                  <a:rPr lang="ko-KR" altLang="en-US" dirty="0"/>
                  <a:t>값을 그대로 사용하면 정보 손실</a:t>
                </a:r>
              </a:p>
              <a:p>
                <a:r>
                  <a:rPr lang="en-US" altLang="ko-KR" dirty="0"/>
                  <a:t>(2</a:t>
                </a:r>
                <a:r>
                  <a:rPr lang="ko-KR" altLang="en-US" dirty="0" err="1"/>
                  <a:t>라고</a:t>
                </a:r>
                <a:r>
                  <a:rPr lang="ko-KR" altLang="en-US" dirty="0"/>
                  <a:t> 응답한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명을 </a:t>
                </a:r>
                <a:endParaRPr lang="en-US" altLang="ko-KR" dirty="0"/>
              </a:p>
              <a:p>
                <a:r>
                  <a:rPr lang="ko-KR" altLang="en-US" dirty="0"/>
                  <a:t>모두 동일하게 취급 </a:t>
                </a:r>
                <a:endParaRPr lang="en-US" altLang="ko-KR" dirty="0"/>
              </a:p>
              <a:p>
                <a:r>
                  <a:rPr lang="ko-KR" altLang="en-US" dirty="0"/>
                  <a:t>→ 분산 과소추정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  <p:sp>
            <p:nvSpPr>
              <p:cNvPr id="92" name="오른쪽 화살표[R] 91">
                <a:extLst>
                  <a:ext uri="{FF2B5EF4-FFF2-40B4-BE49-F238E27FC236}">
                    <a16:creationId xmlns:a16="http://schemas.microsoft.com/office/drawing/2014/main" id="{1CA64B83-6C88-3C40-F7CB-CE8956F87E79}"/>
                  </a:ext>
                </a:extLst>
              </p:cNvPr>
              <p:cNvSpPr/>
              <p:nvPr/>
            </p:nvSpPr>
            <p:spPr>
              <a:xfrm>
                <a:off x="3164444" y="5545955"/>
                <a:ext cx="386730" cy="595085"/>
              </a:xfrm>
              <a:prstGeom prst="rightArrow">
                <a:avLst/>
              </a:prstGeom>
              <a:solidFill>
                <a:schemeClr val="accent4">
                  <a:lumMod val="60000"/>
                  <a:lumOff val="40000"/>
                  <a:alpha val="94919"/>
                </a:schemeClr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endParaRPr lang="ko-KR" altLang="en-US" b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</p:grp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449ABC4-2AAE-537E-8D04-C6E1A4B7DC93}"/>
              </a:ext>
            </a:extLst>
          </p:cNvPr>
          <p:cNvGrpSpPr/>
          <p:nvPr/>
        </p:nvGrpSpPr>
        <p:grpSpPr>
          <a:xfrm>
            <a:off x="761695" y="1583441"/>
            <a:ext cx="10546825" cy="2434309"/>
            <a:chOff x="761695" y="1781050"/>
            <a:chExt cx="10546825" cy="2434309"/>
          </a:xfrm>
        </p:grpSpPr>
        <p:sp>
          <p:nvSpPr>
            <p:cNvPr id="72" name="Shape 7">
              <a:extLst>
                <a:ext uri="{FF2B5EF4-FFF2-40B4-BE49-F238E27FC236}">
                  <a16:creationId xmlns:a16="http://schemas.microsoft.com/office/drawing/2014/main" id="{B09ECABE-1739-62BB-3E21-187668E7CDA5}"/>
                </a:ext>
              </a:extLst>
            </p:cNvPr>
            <p:cNvSpPr/>
            <p:nvPr/>
          </p:nvSpPr>
          <p:spPr>
            <a:xfrm>
              <a:off x="761695" y="1916276"/>
              <a:ext cx="8326696" cy="2299083"/>
            </a:xfrm>
            <a:prstGeom prst="roundRect">
              <a:avLst>
                <a:gd name="adj" fmla="val 9697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A7844D3-61FF-5EEE-B4CF-C32722FC9096}"/>
                </a:ext>
              </a:extLst>
            </p:cNvPr>
            <p:cNvGrpSpPr/>
            <p:nvPr/>
          </p:nvGrpSpPr>
          <p:grpSpPr>
            <a:xfrm>
              <a:off x="761695" y="2354831"/>
              <a:ext cx="10546825" cy="1684326"/>
              <a:chOff x="761695" y="2200344"/>
              <a:chExt cx="10546825" cy="1684326"/>
            </a:xfrm>
          </p:grpSpPr>
          <p:sp>
            <p:nvSpPr>
              <p:cNvPr id="23" name="Shape 11">
                <a:extLst>
                  <a:ext uri="{FF2B5EF4-FFF2-40B4-BE49-F238E27FC236}">
                    <a16:creationId xmlns:a16="http://schemas.microsoft.com/office/drawing/2014/main" id="{37BCB795-8C6F-6318-1111-1815B0AC889A}"/>
                  </a:ext>
                </a:extLst>
              </p:cNvPr>
              <p:cNvSpPr/>
              <p:nvPr/>
            </p:nvSpPr>
            <p:spPr>
              <a:xfrm>
                <a:off x="2736427" y="2642914"/>
                <a:ext cx="1143000" cy="28346"/>
              </a:xfrm>
              <a:prstGeom prst="rect">
                <a:avLst/>
              </a:prstGeom>
              <a:solidFill>
                <a:srgbClr val="048A81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Shape 12">
                <a:extLst>
                  <a:ext uri="{FF2B5EF4-FFF2-40B4-BE49-F238E27FC236}">
                    <a16:creationId xmlns:a16="http://schemas.microsoft.com/office/drawing/2014/main" id="{95E3813F-5458-8D6F-4F26-F37C90AF3615}"/>
                  </a:ext>
                </a:extLst>
              </p:cNvPr>
              <p:cNvSpPr/>
              <p:nvPr/>
            </p:nvSpPr>
            <p:spPr>
              <a:xfrm>
                <a:off x="5593927" y="2642914"/>
                <a:ext cx="1143000" cy="28346"/>
              </a:xfrm>
              <a:prstGeom prst="rect">
                <a:avLst/>
              </a:prstGeom>
              <a:solidFill>
                <a:srgbClr val="048A81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 5">
                <a:extLst>
                  <a:ext uri="{FF2B5EF4-FFF2-40B4-BE49-F238E27FC236}">
                    <a16:creationId xmlns:a16="http://schemas.microsoft.com/office/drawing/2014/main" id="{9E43B626-CB06-40A3-4A0F-727EEDF2DA2B}"/>
                  </a:ext>
                </a:extLst>
              </p:cNvPr>
              <p:cNvSpPr txBox="1"/>
              <p:nvPr/>
            </p:nvSpPr>
            <p:spPr>
              <a:xfrm>
                <a:off x="761695" y="3113190"/>
                <a:ext cx="2365724" cy="4956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Monotone Transformation</a:t>
                </a:r>
              </a:p>
              <a:p>
                <a:pPr algn="ctr"/>
                <a:r>
                  <a:rPr lang="en-US" altLang="ko-KR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= Rank Transformation</a:t>
                </a:r>
              </a:p>
            </p:txBody>
          </p:sp>
          <p:sp>
            <p:nvSpPr>
              <p:cNvPr id="20" name="Text 8">
                <a:extLst>
                  <a:ext uri="{FF2B5EF4-FFF2-40B4-BE49-F238E27FC236}">
                    <a16:creationId xmlns:a16="http://schemas.microsoft.com/office/drawing/2014/main" id="{BF8FFB07-A6A3-80F9-8FDA-BAF5CCEFD8E5}"/>
                  </a:ext>
                </a:extLst>
              </p:cNvPr>
              <p:cNvSpPr txBox="1"/>
              <p:nvPr/>
            </p:nvSpPr>
            <p:spPr>
              <a:xfrm>
                <a:off x="1079992" y="3693560"/>
                <a:ext cx="1729130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indent="0" algn="ctr">
                  <a:buNone/>
                  <a:defRPr sz="1000">
                    <a:solidFill>
                      <a:srgbClr val="5A6A7E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en" altLang="ko-KR" dirty="0"/>
                  <a:t>X → ranks</a:t>
                </a:r>
                <a:endParaRPr lang="en-US" dirty="0"/>
              </a:p>
            </p:txBody>
          </p:sp>
          <p:sp>
            <p:nvSpPr>
              <p:cNvPr id="25" name="Shape 26">
                <a:extLst>
                  <a:ext uri="{FF2B5EF4-FFF2-40B4-BE49-F238E27FC236}">
                    <a16:creationId xmlns:a16="http://schemas.microsoft.com/office/drawing/2014/main" id="{838DE01A-D267-6B3A-7656-7661B4746B3A}"/>
                  </a:ext>
                </a:extLst>
              </p:cNvPr>
              <p:cNvSpPr/>
              <p:nvPr/>
            </p:nvSpPr>
            <p:spPr>
              <a:xfrm>
                <a:off x="1563710" y="2276240"/>
                <a:ext cx="761695" cy="761695"/>
              </a:xfrm>
              <a:prstGeom prst="ellipse">
                <a:avLst/>
              </a:prstGeom>
              <a:solidFill>
                <a:srgbClr val="048A81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26" name="Image 3" descr="preencoded.png">
                <a:extLst>
                  <a:ext uri="{FF2B5EF4-FFF2-40B4-BE49-F238E27FC236}">
                    <a16:creationId xmlns:a16="http://schemas.microsoft.com/office/drawing/2014/main" id="{FAFEDEBA-CB1C-B146-130D-9B93C30F3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1801454" y="2513984"/>
                <a:ext cx="286207" cy="286207"/>
              </a:xfrm>
              <a:prstGeom prst="rect">
                <a:avLst/>
              </a:prstGeom>
            </p:spPr>
          </p:pic>
          <p:sp>
            <p:nvSpPr>
              <p:cNvPr id="29" name="Shape 29">
                <a:extLst>
                  <a:ext uri="{FF2B5EF4-FFF2-40B4-BE49-F238E27FC236}">
                    <a16:creationId xmlns:a16="http://schemas.microsoft.com/office/drawing/2014/main" id="{B020E1C6-0195-AACF-C08D-78C48032E42D}"/>
                  </a:ext>
                </a:extLst>
              </p:cNvPr>
              <p:cNvSpPr/>
              <p:nvPr/>
            </p:nvSpPr>
            <p:spPr>
              <a:xfrm>
                <a:off x="2069830" y="2200344"/>
                <a:ext cx="267005" cy="267005"/>
              </a:xfrm>
              <a:prstGeom prst="ellipse">
                <a:avLst/>
              </a:prstGeom>
              <a:solidFill>
                <a:srgbClr val="F26419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300" dirty="0">
                    <a:solidFill>
                      <a:schemeClr val="bg1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1</a:t>
                </a:r>
                <a:endParaRPr lang="ko-KR" altLang="en-US" sz="130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8" name="Text 6">
                <a:extLst>
                  <a:ext uri="{FF2B5EF4-FFF2-40B4-BE49-F238E27FC236}">
                    <a16:creationId xmlns:a16="http://schemas.microsoft.com/office/drawing/2014/main" id="{0BF560E7-A5EB-4B74-183B-8C3231897D84}"/>
                  </a:ext>
                </a:extLst>
              </p:cNvPr>
              <p:cNvSpPr txBox="1"/>
              <p:nvPr/>
            </p:nvSpPr>
            <p:spPr>
              <a:xfrm>
                <a:off x="3383579" y="3113189"/>
                <a:ext cx="2808608" cy="4956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Marginal Uniformization</a:t>
                </a:r>
              </a:p>
              <a:p>
                <a:pPr marL="0" indent="0" algn="ctr">
                  <a:buNone/>
                </a:pPr>
                <a:r>
                  <a:rPr lang="en-US" altLang="ko-KR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= </a:t>
                </a:r>
                <a:r>
                  <a:rPr lang="en-US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Empirical CDF</a:t>
                </a:r>
                <a:endParaRPr lang="en-US" sz="1300" dirty="0"/>
              </a:p>
            </p:txBody>
          </p:sp>
          <p:sp>
            <p:nvSpPr>
              <p:cNvPr id="21" name="Text 9">
                <a:extLst>
                  <a:ext uri="{FF2B5EF4-FFF2-40B4-BE49-F238E27FC236}">
                    <a16:creationId xmlns:a16="http://schemas.microsoft.com/office/drawing/2014/main" id="{E4BDBC2B-7262-4585-CD80-9160B2CDACE3}"/>
                  </a:ext>
                </a:extLst>
              </p:cNvPr>
              <p:cNvSpPr txBox="1"/>
              <p:nvPr/>
            </p:nvSpPr>
            <p:spPr>
              <a:xfrm>
                <a:off x="4089739" y="3693559"/>
                <a:ext cx="1396289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indent="0" algn="ctr">
                  <a:buNone/>
                  <a:defRPr sz="1000">
                    <a:solidFill>
                      <a:srgbClr val="5A6A7E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en" altLang="ko-KR" dirty="0"/>
                  <a:t>ranks → u ∈ (</a:t>
                </a:r>
                <a:r>
                  <a:rPr lang="en" altLang="ko-KR"/>
                  <a:t>0,1)</a:t>
                </a:r>
                <a:endParaRPr lang="en-US" dirty="0"/>
              </a:p>
            </p:txBody>
          </p:sp>
          <p:sp>
            <p:nvSpPr>
              <p:cNvPr id="27" name="Shape 27">
                <a:extLst>
                  <a:ext uri="{FF2B5EF4-FFF2-40B4-BE49-F238E27FC236}">
                    <a16:creationId xmlns:a16="http://schemas.microsoft.com/office/drawing/2014/main" id="{B60F33A0-3CD9-5028-66D4-C60A0903DCCF}"/>
                  </a:ext>
                </a:extLst>
              </p:cNvPr>
              <p:cNvSpPr/>
              <p:nvPr/>
            </p:nvSpPr>
            <p:spPr>
              <a:xfrm>
                <a:off x="4407036" y="2276240"/>
                <a:ext cx="761695" cy="761695"/>
              </a:xfrm>
              <a:prstGeom prst="ellipse">
                <a:avLst/>
              </a:prstGeom>
              <a:solidFill>
                <a:srgbClr val="048A81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31" name="Image 4" descr="preencoded.png">
                <a:extLst>
                  <a:ext uri="{FF2B5EF4-FFF2-40B4-BE49-F238E27FC236}">
                    <a16:creationId xmlns:a16="http://schemas.microsoft.com/office/drawing/2014/main" id="{89F17CF3-F082-B16B-792E-A1AC7998E2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4644780" y="2513984"/>
                <a:ext cx="286207" cy="286207"/>
              </a:xfrm>
              <a:prstGeom prst="rect">
                <a:avLst/>
              </a:prstGeom>
            </p:spPr>
          </p:pic>
          <p:sp>
            <p:nvSpPr>
              <p:cNvPr id="32" name="Shape 31">
                <a:extLst>
                  <a:ext uri="{FF2B5EF4-FFF2-40B4-BE49-F238E27FC236}">
                    <a16:creationId xmlns:a16="http://schemas.microsoft.com/office/drawing/2014/main" id="{9B6614D2-2ABA-19D4-4D90-A5D3870A9060}"/>
                  </a:ext>
                </a:extLst>
              </p:cNvPr>
              <p:cNvSpPr/>
              <p:nvPr/>
            </p:nvSpPr>
            <p:spPr>
              <a:xfrm>
                <a:off x="4927330" y="2200344"/>
                <a:ext cx="267005" cy="267005"/>
              </a:xfrm>
              <a:prstGeom prst="ellipse">
                <a:avLst/>
              </a:prstGeom>
              <a:solidFill>
                <a:srgbClr val="F26419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300" dirty="0">
                    <a:solidFill>
                      <a:schemeClr val="bg1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2</a:t>
                </a:r>
                <a:endParaRPr lang="ko-KR" altLang="en-US" sz="130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9" name="Text 7">
                <a:extLst>
                  <a:ext uri="{FF2B5EF4-FFF2-40B4-BE49-F238E27FC236}">
                    <a16:creationId xmlns:a16="http://schemas.microsoft.com/office/drawing/2014/main" id="{DDDFB660-3E80-9365-B436-AFD01A58C24D}"/>
                  </a:ext>
                </a:extLst>
              </p:cNvPr>
              <p:cNvSpPr txBox="1"/>
              <p:nvPr/>
            </p:nvSpPr>
            <p:spPr>
              <a:xfrm>
                <a:off x="6238951" y="3113189"/>
                <a:ext cx="2849440" cy="4956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ctr">
                  <a:defRPr sz="130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en" altLang="ko-KR" dirty="0"/>
                  <a:t>Joint Normalization </a:t>
                </a:r>
              </a:p>
              <a:p>
                <a:r>
                  <a:rPr lang="en-US" altLang="ko-KR" dirty="0"/>
                  <a:t>=</a:t>
                </a:r>
                <a:r>
                  <a:rPr lang="en" altLang="ko-KR" dirty="0"/>
                  <a:t> Quantile Transform</a:t>
                </a:r>
                <a:endParaRPr lang="ko-KR" altLang="en-US" dirty="0"/>
              </a:p>
            </p:txBody>
          </p:sp>
          <p:sp>
            <p:nvSpPr>
              <p:cNvPr id="22" name="Text 10">
                <a:extLst>
                  <a:ext uri="{FF2B5EF4-FFF2-40B4-BE49-F238E27FC236}">
                    <a16:creationId xmlns:a16="http://schemas.microsoft.com/office/drawing/2014/main" id="{CAA3E0FF-347F-6403-1ABE-F6222DB79B25}"/>
                  </a:ext>
                </a:extLst>
              </p:cNvPr>
              <p:cNvSpPr txBox="1"/>
              <p:nvPr/>
            </p:nvSpPr>
            <p:spPr>
              <a:xfrm>
                <a:off x="7075255" y="3693559"/>
                <a:ext cx="1176833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indent="0" algn="ctr">
                  <a:buNone/>
                  <a:defRPr sz="1000">
                    <a:solidFill>
                      <a:srgbClr val="5A6A7E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en" altLang="ko-KR" dirty="0"/>
                  <a:t>u → Z ~ N</a:t>
                </a:r>
                <a:r>
                  <a:rPr lang="en" altLang="ko-KR"/>
                  <a:t>(0, </a:t>
                </a:r>
                <a:r>
                  <a:rPr lang="el-GR" altLang="ko-KR"/>
                  <a:t>Σ)</a:t>
                </a:r>
                <a:endParaRPr lang="en-US" dirty="0"/>
              </a:p>
            </p:txBody>
          </p:sp>
          <p:sp>
            <p:nvSpPr>
              <p:cNvPr id="28" name="Shape 28">
                <a:extLst>
                  <a:ext uri="{FF2B5EF4-FFF2-40B4-BE49-F238E27FC236}">
                    <a16:creationId xmlns:a16="http://schemas.microsoft.com/office/drawing/2014/main" id="{996A7F5D-3A6C-9A51-F81C-BFFE57943604}"/>
                  </a:ext>
                </a:extLst>
              </p:cNvPr>
              <p:cNvSpPr/>
              <p:nvPr/>
            </p:nvSpPr>
            <p:spPr>
              <a:xfrm>
                <a:off x="7282824" y="2276240"/>
                <a:ext cx="761695" cy="761695"/>
              </a:xfrm>
              <a:prstGeom prst="ellipse">
                <a:avLst/>
              </a:prstGeom>
              <a:solidFill>
                <a:srgbClr val="048A81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35" name="Image 5" descr="preencoded.png">
                <a:extLst>
                  <a:ext uri="{FF2B5EF4-FFF2-40B4-BE49-F238E27FC236}">
                    <a16:creationId xmlns:a16="http://schemas.microsoft.com/office/drawing/2014/main" id="{A039F0E9-36BD-0018-E0D5-77A0BEBB4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-266" r="-266"/>
              <a:stretch/>
            </p:blipFill>
            <p:spPr>
              <a:xfrm>
                <a:off x="7501822" y="2513984"/>
                <a:ext cx="323698" cy="286207"/>
              </a:xfrm>
              <a:prstGeom prst="rect">
                <a:avLst/>
              </a:prstGeom>
            </p:spPr>
          </p:pic>
          <p:sp>
            <p:nvSpPr>
              <p:cNvPr id="42" name="Shape 32">
                <a:extLst>
                  <a:ext uri="{FF2B5EF4-FFF2-40B4-BE49-F238E27FC236}">
                    <a16:creationId xmlns:a16="http://schemas.microsoft.com/office/drawing/2014/main" id="{773AE03A-190B-2B9E-C699-6EF6978797EB}"/>
                  </a:ext>
                </a:extLst>
              </p:cNvPr>
              <p:cNvSpPr/>
              <p:nvPr/>
            </p:nvSpPr>
            <p:spPr>
              <a:xfrm>
                <a:off x="7784830" y="2200344"/>
                <a:ext cx="267005" cy="267005"/>
              </a:xfrm>
              <a:prstGeom prst="ellipse">
                <a:avLst/>
              </a:prstGeom>
              <a:solidFill>
                <a:srgbClr val="F26419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300" dirty="0">
                    <a:solidFill>
                      <a:schemeClr val="bg1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3</a:t>
                </a:r>
                <a:endParaRPr lang="ko-KR" altLang="en-US" sz="130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63" name="Shape 12">
                <a:extLst>
                  <a:ext uri="{FF2B5EF4-FFF2-40B4-BE49-F238E27FC236}">
                    <a16:creationId xmlns:a16="http://schemas.microsoft.com/office/drawing/2014/main" id="{A860D2EC-998C-21BD-8960-66CE3A7DFA0C}"/>
                  </a:ext>
                </a:extLst>
              </p:cNvPr>
              <p:cNvSpPr/>
              <p:nvPr/>
            </p:nvSpPr>
            <p:spPr>
              <a:xfrm>
                <a:off x="8493083" y="2642914"/>
                <a:ext cx="1143000" cy="28346"/>
              </a:xfrm>
              <a:prstGeom prst="rect">
                <a:avLst/>
              </a:prstGeom>
              <a:solidFill>
                <a:srgbClr val="048A81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 7">
                <a:extLst>
                  <a:ext uri="{FF2B5EF4-FFF2-40B4-BE49-F238E27FC236}">
                    <a16:creationId xmlns:a16="http://schemas.microsoft.com/office/drawing/2014/main" id="{C9C5D941-D247-FB1F-3B02-7866E470F156}"/>
                  </a:ext>
                </a:extLst>
              </p:cNvPr>
              <p:cNvSpPr txBox="1"/>
              <p:nvPr/>
            </p:nvSpPr>
            <p:spPr>
              <a:xfrm>
                <a:off x="9817134" y="3113189"/>
                <a:ext cx="1491386" cy="4956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ctr">
                  <a:defRPr sz="130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공분산 </a:t>
                </a:r>
                <a:endParaRPr lang="en-US" altLang="ko-KR" dirty="0"/>
              </a:p>
              <a:p>
                <a:r>
                  <a:rPr lang="ko-KR" altLang="en-US" dirty="0"/>
                  <a:t>행렬 추정</a:t>
                </a:r>
              </a:p>
            </p:txBody>
          </p:sp>
          <p:sp>
            <p:nvSpPr>
              <p:cNvPr id="65" name="Text 10">
                <a:extLst>
                  <a:ext uri="{FF2B5EF4-FFF2-40B4-BE49-F238E27FC236}">
                    <a16:creationId xmlns:a16="http://schemas.microsoft.com/office/drawing/2014/main" id="{FE4989BD-9541-2FC1-BEB2-71A9F96D61F4}"/>
                  </a:ext>
                </a:extLst>
              </p:cNvPr>
              <p:cNvSpPr txBox="1"/>
              <p:nvPr/>
            </p:nvSpPr>
            <p:spPr>
              <a:xfrm>
                <a:off x="9974411" y="3693559"/>
                <a:ext cx="1176833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5A6A7E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정밀도 행렬 Θ 추정</a:t>
                </a:r>
                <a:endParaRPr lang="en-US" sz="1000" dirty="0"/>
              </a:p>
            </p:txBody>
          </p:sp>
          <p:sp>
            <p:nvSpPr>
              <p:cNvPr id="66" name="Shape 28">
                <a:extLst>
                  <a:ext uri="{FF2B5EF4-FFF2-40B4-BE49-F238E27FC236}">
                    <a16:creationId xmlns:a16="http://schemas.microsoft.com/office/drawing/2014/main" id="{07217E01-4D58-3252-28B3-7EA8BF57173A}"/>
                  </a:ext>
                </a:extLst>
              </p:cNvPr>
              <p:cNvSpPr/>
              <p:nvPr/>
            </p:nvSpPr>
            <p:spPr>
              <a:xfrm>
                <a:off x="10181980" y="2276240"/>
                <a:ext cx="761695" cy="761695"/>
              </a:xfrm>
              <a:prstGeom prst="ellipse">
                <a:avLst/>
              </a:prstGeom>
              <a:solidFill>
                <a:srgbClr val="048A81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67" name="Image 5" descr="preencoded.png">
                <a:extLst>
                  <a:ext uri="{FF2B5EF4-FFF2-40B4-BE49-F238E27FC236}">
                    <a16:creationId xmlns:a16="http://schemas.microsoft.com/office/drawing/2014/main" id="{2F43001B-D138-6629-3585-9513C614B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-266" r="-266"/>
              <a:stretch/>
            </p:blipFill>
            <p:spPr>
              <a:xfrm>
                <a:off x="10400978" y="2513984"/>
                <a:ext cx="323698" cy="286207"/>
              </a:xfrm>
              <a:prstGeom prst="rect">
                <a:avLst/>
              </a:prstGeom>
            </p:spPr>
          </p:pic>
          <p:sp>
            <p:nvSpPr>
              <p:cNvPr id="68" name="Shape 32">
                <a:extLst>
                  <a:ext uri="{FF2B5EF4-FFF2-40B4-BE49-F238E27FC236}">
                    <a16:creationId xmlns:a16="http://schemas.microsoft.com/office/drawing/2014/main" id="{9E14525D-D47C-277C-1CE4-3970C7A5AE5D}"/>
                  </a:ext>
                </a:extLst>
              </p:cNvPr>
              <p:cNvSpPr/>
              <p:nvPr/>
            </p:nvSpPr>
            <p:spPr>
              <a:xfrm>
                <a:off x="10683986" y="2200344"/>
                <a:ext cx="267005" cy="267005"/>
              </a:xfrm>
              <a:prstGeom prst="ellipse">
                <a:avLst/>
              </a:prstGeom>
              <a:solidFill>
                <a:srgbClr val="F26419"/>
              </a:solidFill>
              <a:ln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ko-KR" sz="1300" dirty="0">
                    <a:solidFill>
                      <a:schemeClr val="bg1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4</a:t>
                </a:r>
                <a:endParaRPr lang="ko-KR" altLang="en-US" sz="130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</p:grpSp>
        <p:sp>
          <p:nvSpPr>
            <p:cNvPr id="73" name="Shape 24">
              <a:extLst>
                <a:ext uri="{FF2B5EF4-FFF2-40B4-BE49-F238E27FC236}">
                  <a16:creationId xmlns:a16="http://schemas.microsoft.com/office/drawing/2014/main" id="{7D318EB7-E90B-57D5-7D1C-5BB0978FB153}"/>
                </a:ext>
              </a:extLst>
            </p:cNvPr>
            <p:cNvSpPr/>
            <p:nvPr/>
          </p:nvSpPr>
          <p:spPr>
            <a:xfrm>
              <a:off x="971622" y="1781050"/>
              <a:ext cx="3435414" cy="342900"/>
            </a:xfrm>
            <a:prstGeom prst="roundRect">
              <a:avLst>
                <a:gd name="adj" fmla="val 37037"/>
              </a:avLst>
            </a:prstGeom>
            <a:solidFill>
              <a:srgbClr val="F26419">
                <a:alpha val="10000"/>
              </a:srgbClr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" altLang="ko-KR" b="1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Nonparanormal SKEPTIC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F351C34-4CDA-997A-9549-689A9723E161}"/>
                </a:ext>
              </a:extLst>
            </p:cNvPr>
            <p:cNvSpPr txBox="1"/>
            <p:nvPr/>
          </p:nvSpPr>
          <p:spPr>
            <a:xfrm>
              <a:off x="3681197" y="2095571"/>
              <a:ext cx="22133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00B05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F̂(x) = (rank - 0.5) / n </a:t>
              </a:r>
              <a:endParaRPr lang="ko-KR" altLang="en-US" sz="12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16" name="Text 3">
            <a:extLst>
              <a:ext uri="{FF2B5EF4-FFF2-40B4-BE49-F238E27FC236}">
                <a16:creationId xmlns:a16="http://schemas.microsoft.com/office/drawing/2014/main" id="{A1F3D3B1-91A5-F538-C6C9-28847E5A2FCF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Gaussian Copula</a:t>
            </a:r>
          </a:p>
        </p:txBody>
      </p:sp>
      <p:cxnSp>
        <p:nvCxnSpPr>
          <p:cNvPr id="118" name="꺾인 연결선[E] 78">
            <a:extLst>
              <a:ext uri="{FF2B5EF4-FFF2-40B4-BE49-F238E27FC236}">
                <a16:creationId xmlns:a16="http://schemas.microsoft.com/office/drawing/2014/main" id="{4BE1874B-1EC9-E603-2DB8-63107DD5AB7F}"/>
              </a:ext>
            </a:extLst>
          </p:cNvPr>
          <p:cNvCxnSpPr>
            <a:cxnSpLocks/>
          </p:cNvCxnSpPr>
          <p:nvPr/>
        </p:nvCxnSpPr>
        <p:spPr>
          <a:xfrm>
            <a:off x="1944557" y="3941298"/>
            <a:ext cx="0" cy="305781"/>
          </a:xfrm>
          <a:prstGeom prst="straightConnector1">
            <a:avLst/>
          </a:prstGeom>
          <a:ln w="19050">
            <a:solidFill>
              <a:srgbClr val="FF6B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[E] 99">
            <a:extLst>
              <a:ext uri="{FF2B5EF4-FFF2-40B4-BE49-F238E27FC236}">
                <a16:creationId xmlns:a16="http://schemas.microsoft.com/office/drawing/2014/main" id="{8FFF7288-E5C3-978B-EABA-0DAD7944A7DE}"/>
              </a:ext>
            </a:extLst>
          </p:cNvPr>
          <p:cNvCxnSpPr>
            <a:cxnSpLocks/>
          </p:cNvCxnSpPr>
          <p:nvPr/>
        </p:nvCxnSpPr>
        <p:spPr>
          <a:xfrm flipV="1">
            <a:off x="4787883" y="3941297"/>
            <a:ext cx="1" cy="305781"/>
          </a:xfrm>
          <a:prstGeom prst="straightConnector1">
            <a:avLst/>
          </a:prstGeom>
          <a:ln w="19050">
            <a:solidFill>
              <a:srgbClr val="FF6B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06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6332220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BC728DF-22DA-A573-A634-C3F87187C0CA}"/>
              </a:ext>
            </a:extLst>
          </p:cNvPr>
          <p:cNvGrpSpPr/>
          <p:nvPr/>
        </p:nvGrpSpPr>
        <p:grpSpPr>
          <a:xfrm>
            <a:off x="952501" y="2229571"/>
            <a:ext cx="8483904" cy="621445"/>
            <a:chOff x="6669664" y="1893340"/>
            <a:chExt cx="8483904" cy="621445"/>
          </a:xfrm>
        </p:grpSpPr>
        <p:sp>
          <p:nvSpPr>
            <p:cNvPr id="45" name="Shape 106">
              <a:extLst>
                <a:ext uri="{FF2B5EF4-FFF2-40B4-BE49-F238E27FC236}">
                  <a16:creationId xmlns:a16="http://schemas.microsoft.com/office/drawing/2014/main" id="{A853FA69-885D-6E5B-814C-533CE3016436}"/>
                </a:ext>
              </a:extLst>
            </p:cNvPr>
            <p:cNvSpPr/>
            <p:nvPr/>
          </p:nvSpPr>
          <p:spPr>
            <a:xfrm>
              <a:off x="6669664" y="1893340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 114">
              <a:extLst>
                <a:ext uri="{FF2B5EF4-FFF2-40B4-BE49-F238E27FC236}">
                  <a16:creationId xmlns:a16="http://schemas.microsoft.com/office/drawing/2014/main" id="{EA97FA39-B43A-FAD5-505C-03BC735C0229}"/>
                </a:ext>
              </a:extLst>
            </p:cNvPr>
            <p:cNvSpPr txBox="1"/>
            <p:nvPr/>
          </p:nvSpPr>
          <p:spPr>
            <a:xfrm>
              <a:off x="7098518" y="1912542"/>
              <a:ext cx="433178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Step 1: Rank Transformation (22,944</a:t>
              </a:r>
              <a:r>
                <a:rPr lang="ko-KR" alt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명 전체에서 순위 계산</a:t>
              </a:r>
              <a:r>
                <a:rPr lang="en-US" altLang="ko-KR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)</a:t>
              </a:r>
            </a:p>
          </p:txBody>
        </p:sp>
        <p:sp>
          <p:nvSpPr>
            <p:cNvPr id="47" name="Shape 119">
              <a:extLst>
                <a:ext uri="{FF2B5EF4-FFF2-40B4-BE49-F238E27FC236}">
                  <a16:creationId xmlns:a16="http://schemas.microsoft.com/office/drawing/2014/main" id="{4EF9FC31-7517-25B6-7497-B7C9991E473F}"/>
                </a:ext>
              </a:extLst>
            </p:cNvPr>
            <p:cNvSpPr/>
            <p:nvPr/>
          </p:nvSpPr>
          <p:spPr>
            <a:xfrm>
              <a:off x="7098517" y="2228345"/>
              <a:ext cx="8055051" cy="286440"/>
            </a:xfrm>
            <a:prstGeom prst="roundRect">
              <a:avLst>
                <a:gd name="adj" fmla="val 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ranks = [5432, 12341, 234, 2341, 18234, 5433, 22100, 2342, 5434, 12342] #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057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동점자는 평균 순위 부여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E2DB1C2-83B3-DB2D-8EDD-660DE5B639A1}"/>
              </a:ext>
            </a:extLst>
          </p:cNvPr>
          <p:cNvGrpSpPr/>
          <p:nvPr/>
        </p:nvGrpSpPr>
        <p:grpSpPr>
          <a:xfrm>
            <a:off x="952501" y="3011986"/>
            <a:ext cx="8483904" cy="1702504"/>
            <a:chOff x="6669664" y="2749632"/>
            <a:chExt cx="8483904" cy="1702504"/>
          </a:xfrm>
        </p:grpSpPr>
        <p:sp>
          <p:nvSpPr>
            <p:cNvPr id="50" name="Shape 106">
              <a:extLst>
                <a:ext uri="{FF2B5EF4-FFF2-40B4-BE49-F238E27FC236}">
                  <a16:creationId xmlns:a16="http://schemas.microsoft.com/office/drawing/2014/main" id="{4E0DEBF4-A131-A6BC-4E0E-FF3C5BD358CC}"/>
                </a:ext>
              </a:extLst>
            </p:cNvPr>
            <p:cNvSpPr/>
            <p:nvPr/>
          </p:nvSpPr>
          <p:spPr>
            <a:xfrm>
              <a:off x="6669664" y="2763497"/>
              <a:ext cx="286207" cy="286207"/>
            </a:xfrm>
            <a:prstGeom prst="ellipse">
              <a:avLst/>
            </a:prstGeom>
            <a:solidFill>
              <a:srgbClr val="048A81"/>
            </a:solidFill>
            <a:ln/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 114">
              <a:extLst>
                <a:ext uri="{FF2B5EF4-FFF2-40B4-BE49-F238E27FC236}">
                  <a16:creationId xmlns:a16="http://schemas.microsoft.com/office/drawing/2014/main" id="{9F19C2DD-02C2-281A-822C-299FC0743A99}"/>
                </a:ext>
              </a:extLst>
            </p:cNvPr>
            <p:cNvSpPr txBox="1"/>
            <p:nvPr/>
          </p:nvSpPr>
          <p:spPr>
            <a:xfrm>
              <a:off x="7098518" y="2749632"/>
              <a:ext cx="360000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Step 2: Empirical CDF (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Winsorization</a:t>
              </a: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)</a:t>
              </a:r>
            </a:p>
          </p:txBody>
        </p:sp>
        <p:sp>
          <p:nvSpPr>
            <p:cNvPr id="52" name="Shape 119">
              <a:extLst>
                <a:ext uri="{FF2B5EF4-FFF2-40B4-BE49-F238E27FC236}">
                  <a16:creationId xmlns:a16="http://schemas.microsoft.com/office/drawing/2014/main" id="{790F2B70-346B-7C0E-EBB6-B030DAFA4FCF}"/>
                </a:ext>
              </a:extLst>
            </p:cNvPr>
            <p:cNvSpPr/>
            <p:nvPr/>
          </p:nvSpPr>
          <p:spPr>
            <a:xfrm>
              <a:off x="7098518" y="3091570"/>
              <a:ext cx="8055050" cy="352044"/>
            </a:xfrm>
            <a:prstGeom prst="roundRect">
              <a:avLst>
                <a:gd name="adj" fmla="val 3510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/>
            <a:lstStyle/>
            <a:p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F̂(x) = (rank - 0.5) / n = (rank - 0.5) / 22,944 </a:t>
              </a:r>
            </a:p>
          </p:txBody>
        </p:sp>
        <p:sp>
          <p:nvSpPr>
            <p:cNvPr id="68" name="Shape 119">
              <a:extLst>
                <a:ext uri="{FF2B5EF4-FFF2-40B4-BE49-F238E27FC236}">
                  <a16:creationId xmlns:a16="http://schemas.microsoft.com/office/drawing/2014/main" id="{FD922373-6ED4-2B55-138A-83FA738BE0AD}"/>
                </a:ext>
              </a:extLst>
            </p:cNvPr>
            <p:cNvSpPr/>
            <p:nvPr/>
          </p:nvSpPr>
          <p:spPr>
            <a:xfrm>
              <a:off x="7098518" y="3512282"/>
              <a:ext cx="8055050" cy="939854"/>
            </a:xfrm>
            <a:prstGeom prst="roundRect">
              <a:avLst>
                <a:gd name="adj" fmla="val 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 lIns="108000" tIns="36000" bIns="36000" anchor="ctr" anchorCtr="0"/>
            <a:lstStyle/>
            <a:p>
              <a:r>
                <a:rPr lang="ko-KR" alt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1: F̂ = (5432 - 0.5) / 22,944 = 0.2367 </a:t>
              </a:r>
            </a:p>
            <a:p>
              <a:r>
                <a:rPr lang="ko-KR" alt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2: F̂ = (12341 - 0.5) / 22,944 = 0.5378 </a:t>
              </a:r>
            </a:p>
            <a:p>
              <a:r>
                <a:rPr lang="ko-KR" altLang="en-US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3: F̂ = (234 - 0.5) / 22,944 = 0.0102 </a:t>
              </a:r>
            </a:p>
            <a:p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...</a:t>
              </a:r>
              <a:endParaRPr lang="en-US" altLang="ko-KR" sz="1200" dirty="0"/>
            </a:p>
          </p:txBody>
        </p:sp>
      </p:grpSp>
      <p:sp>
        <p:nvSpPr>
          <p:cNvPr id="67" name="Shape 119">
            <a:extLst>
              <a:ext uri="{FF2B5EF4-FFF2-40B4-BE49-F238E27FC236}">
                <a16:creationId xmlns:a16="http://schemas.microsoft.com/office/drawing/2014/main" id="{0678929C-92E0-ABE5-AADB-BA654828F489}"/>
              </a:ext>
            </a:extLst>
          </p:cNvPr>
          <p:cNvSpPr/>
          <p:nvPr/>
        </p:nvSpPr>
        <p:spPr>
          <a:xfrm>
            <a:off x="952501" y="1317714"/>
            <a:ext cx="10286999" cy="635641"/>
          </a:xfrm>
          <a:prstGeom prst="roundRect">
            <a:avLst>
              <a:gd name="adj" fmla="val 0"/>
            </a:avLst>
          </a:prstGeom>
          <a:solidFill>
            <a:srgbClr val="2E4057">
              <a:alpha val="5000"/>
            </a:srgbClr>
          </a:solidFill>
          <a:ln/>
        </p:spPr>
        <p:txBody>
          <a:bodyPr anchor="ctr"/>
          <a:lstStyle/>
          <a:p>
            <a:pPr algn="ctr"/>
            <a:r>
              <a:rPr lang="ko-KR" alt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원본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응답자 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1-10</a:t>
            </a:r>
            <a:r>
              <a:rPr lang="ko-KR" alt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명의 </a:t>
            </a:r>
            <a:r>
              <a:rPr lang="en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Processed Foods </a:t>
            </a:r>
            <a:r>
              <a:rPr lang="ko-KR" altLang="en-US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점수</a:t>
            </a:r>
            <a:r>
              <a:rPr lang="en-US" altLang="ko-KR" sz="14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[2, 3, 0, 1, 4, 2, 5, 1, 2, 3]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9AB907B-AEB1-36AE-E423-AFF72DD5744B}"/>
              </a:ext>
            </a:extLst>
          </p:cNvPr>
          <p:cNvGrpSpPr/>
          <p:nvPr/>
        </p:nvGrpSpPr>
        <p:grpSpPr>
          <a:xfrm>
            <a:off x="952501" y="4875459"/>
            <a:ext cx="8483904" cy="1684756"/>
            <a:chOff x="761695" y="4813885"/>
            <a:chExt cx="8483904" cy="1684756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9E460F51-F8D1-4FF1-79DA-D0501DFC206A}"/>
                </a:ext>
              </a:extLst>
            </p:cNvPr>
            <p:cNvGrpSpPr/>
            <p:nvPr/>
          </p:nvGrpSpPr>
          <p:grpSpPr>
            <a:xfrm>
              <a:off x="761695" y="4813885"/>
              <a:ext cx="8483904" cy="693982"/>
              <a:chOff x="6669664" y="3612857"/>
              <a:chExt cx="8483904" cy="693982"/>
            </a:xfrm>
          </p:grpSpPr>
          <p:sp>
            <p:nvSpPr>
              <p:cNvPr id="53" name="Shape 106">
                <a:extLst>
                  <a:ext uri="{FF2B5EF4-FFF2-40B4-BE49-F238E27FC236}">
                    <a16:creationId xmlns:a16="http://schemas.microsoft.com/office/drawing/2014/main" id="{4B029A1E-A98F-F240-3299-E7780785048B}"/>
                  </a:ext>
                </a:extLst>
              </p:cNvPr>
              <p:cNvSpPr/>
              <p:nvPr/>
            </p:nvSpPr>
            <p:spPr>
              <a:xfrm>
                <a:off x="6669664" y="3626722"/>
                <a:ext cx="286207" cy="286207"/>
              </a:xfrm>
              <a:prstGeom prst="ellipse">
                <a:avLst/>
              </a:prstGeom>
              <a:solidFill>
                <a:srgbClr val="048A81"/>
              </a:solidFill>
              <a:ln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3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 114">
                <a:extLst>
                  <a:ext uri="{FF2B5EF4-FFF2-40B4-BE49-F238E27FC236}">
                    <a16:creationId xmlns:a16="http://schemas.microsoft.com/office/drawing/2014/main" id="{745A7369-EE1B-55CB-37FE-6EC3BA027CD2}"/>
                  </a:ext>
                </a:extLst>
              </p:cNvPr>
              <p:cNvSpPr txBox="1"/>
              <p:nvPr/>
            </p:nvSpPr>
            <p:spPr>
              <a:xfrm>
                <a:off x="7098518" y="3612857"/>
                <a:ext cx="3600000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Step 3: Quantile Transformation (</a:t>
                </a:r>
                <a:r>
                  <a:rPr lang="el-GR" sz="13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Φ⁻¹)</a:t>
                </a:r>
                <a:endParaRPr lang="en-US" sz="1300" dirty="0"/>
              </a:p>
            </p:txBody>
          </p:sp>
          <p:sp>
            <p:nvSpPr>
              <p:cNvPr id="55" name="Shape 119">
                <a:extLst>
                  <a:ext uri="{FF2B5EF4-FFF2-40B4-BE49-F238E27FC236}">
                    <a16:creationId xmlns:a16="http://schemas.microsoft.com/office/drawing/2014/main" id="{096EB81C-C555-9193-BCA4-CDBD20FC9671}"/>
                  </a:ext>
                </a:extLst>
              </p:cNvPr>
              <p:cNvSpPr/>
              <p:nvPr/>
            </p:nvSpPr>
            <p:spPr>
              <a:xfrm>
                <a:off x="7098518" y="3954795"/>
                <a:ext cx="8055050" cy="352044"/>
              </a:xfrm>
              <a:prstGeom prst="roundRect">
                <a:avLst>
                  <a:gd name="adj" fmla="val 35100"/>
                </a:avLst>
              </a:prstGeom>
              <a:solidFill>
                <a:srgbClr val="2E4057">
                  <a:alpha val="5000"/>
                </a:srgbClr>
              </a:solidFill>
              <a:ln/>
            </p:spPr>
            <p:txBody>
              <a:bodyPr/>
              <a:lstStyle/>
              <a:p>
                <a:r>
                  <a:rPr lang="en" altLang="ko-KR" sz="12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Z = </a:t>
                </a:r>
                <a:r>
                  <a:rPr lang="el-GR" altLang="ko-KR" sz="12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Φ⁻¹(</a:t>
                </a:r>
                <a:r>
                  <a:rPr lang="en" altLang="ko-KR" sz="12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F̂)  # </a:t>
                </a:r>
                <a:r>
                  <a:rPr lang="ko-KR" altLang="en-US" sz="1200" dirty="0">
                    <a:solidFill>
                      <a:srgbClr val="2E4057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표준정규분포의 역함수</a:t>
                </a:r>
              </a:p>
            </p:txBody>
          </p:sp>
        </p:grpSp>
        <p:sp>
          <p:nvSpPr>
            <p:cNvPr id="70" name="Shape 119">
              <a:extLst>
                <a:ext uri="{FF2B5EF4-FFF2-40B4-BE49-F238E27FC236}">
                  <a16:creationId xmlns:a16="http://schemas.microsoft.com/office/drawing/2014/main" id="{041D59DB-F57A-3795-7302-F916B709FBEF}"/>
                </a:ext>
              </a:extLst>
            </p:cNvPr>
            <p:cNvSpPr/>
            <p:nvPr/>
          </p:nvSpPr>
          <p:spPr>
            <a:xfrm>
              <a:off x="1190549" y="5558787"/>
              <a:ext cx="8055050" cy="939854"/>
            </a:xfrm>
            <a:prstGeom prst="roundRect">
              <a:avLst>
                <a:gd name="adj" fmla="val 0"/>
              </a:avLst>
            </a:prstGeom>
            <a:solidFill>
              <a:srgbClr val="2E4057">
                <a:alpha val="5000"/>
              </a:srgbClr>
            </a:solidFill>
            <a:ln/>
          </p:spPr>
          <p:txBody>
            <a:bodyPr lIns="108000" tIns="36000" bIns="36000" anchor="ctr" anchorCtr="0"/>
            <a:lstStyle/>
            <a:p>
              <a:r>
                <a:rPr lang="ko-KR" altLang="en-US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</a:t>
              </a:r>
              <a:r>
                <a:rPr lang="en-US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</a:t>
              </a:r>
              <a:r>
                <a:rPr lang="en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Z </a:t>
              </a:r>
              <a:r>
                <a:rPr lang="en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= </a:t>
              </a:r>
              <a:r>
                <a:rPr lang="el-GR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Φ⁻¹(0.2367) = -0.718</a:t>
              </a:r>
            </a:p>
            <a:p>
              <a:r>
                <a:rPr lang="ko-KR" altLang="en-US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</a:t>
              </a:r>
              <a:r>
                <a:rPr lang="en-US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</a:t>
              </a:r>
              <a:r>
                <a:rPr lang="en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Z </a:t>
              </a:r>
              <a:r>
                <a:rPr lang="en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= </a:t>
              </a:r>
              <a:r>
                <a:rPr lang="el-GR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Φ⁻¹(0.5378) = 0.095</a:t>
              </a:r>
            </a:p>
            <a:p>
              <a:r>
                <a:rPr lang="ko-KR" altLang="en-US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응답자 </a:t>
              </a:r>
              <a:r>
                <a:rPr lang="en-US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</a:t>
              </a:r>
              <a:r>
                <a:rPr lang="en-US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: </a:t>
              </a:r>
              <a:r>
                <a:rPr lang="en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Z </a:t>
              </a:r>
              <a:r>
                <a:rPr lang="en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= </a:t>
              </a:r>
              <a:r>
                <a:rPr lang="el-GR" altLang="ko-KR" sz="12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Φ⁻¹(0.0102) = -2.319</a:t>
              </a:r>
            </a:p>
            <a:p>
              <a:r>
                <a:rPr lang="el-GR" altLang="ko-KR" sz="120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...</a:t>
              </a:r>
              <a:endParaRPr lang="el-GR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sp>
        <p:nvSpPr>
          <p:cNvPr id="73" name="Text 3">
            <a:extLst>
              <a:ext uri="{FF2B5EF4-FFF2-40B4-BE49-F238E27FC236}">
                <a16:creationId xmlns:a16="http://schemas.microsoft.com/office/drawing/2014/main" id="{AF58B233-211A-C71E-1B1E-6890AC1AFC0A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Gaussian Copula </a:t>
            </a:r>
            <a:r>
              <a:rPr lang="ko-KR" altLang="en-US" sz="3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적용</a:t>
            </a:r>
            <a:endParaRPr lang="en-US" altLang="ko-KR" sz="3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804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5919368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55264" y="1317527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20670" y="1773480"/>
            <a:ext cx="18050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 행렬 (Σ)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1371" y="2239491"/>
            <a:ext cx="4926411" cy="298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전체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효과를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보여줌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직접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관계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간접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관계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sz="13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8905916" y="1317527"/>
            <a:ext cx="390449" cy="34290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7846126" y="1773480"/>
            <a:ext cx="2510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정밀도 행렬 (Θ = Σ</a:t>
            </a:r>
            <a:r>
              <a:rPr lang="en-US" sz="1900" baseline="300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-1</a:t>
            </a:r>
            <a:r>
              <a:rPr lang="en-US" sz="1900" dirty="0">
                <a:solidFill>
                  <a:srgbClr val="048A8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sz="1900" dirty="0"/>
          </a:p>
        </p:txBody>
      </p:sp>
      <p:sp>
        <p:nvSpPr>
          <p:cNvPr id="40" name="Text 36"/>
          <p:cNvSpPr txBox="1"/>
          <p:nvPr/>
        </p:nvSpPr>
        <p:spPr>
          <a:xfrm>
            <a:off x="6636375" y="2239492"/>
            <a:ext cx="49295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직접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효과만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보여줌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다른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모든 변수를 통제했을 때의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순수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관계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sz="1300" dirty="0"/>
          </a:p>
        </p:txBody>
      </p:sp>
      <p:sp>
        <p:nvSpPr>
          <p:cNvPr id="66" name="Text 62"/>
          <p:cNvSpPr txBox="1"/>
          <p:nvPr/>
        </p:nvSpPr>
        <p:spPr>
          <a:xfrm>
            <a:off x="6621099" y="5815730"/>
            <a:ext cx="4929529" cy="418795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그래프 구조 </a:t>
            </a:r>
            <a:r>
              <a:rPr lang="en-US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정확히</a:t>
            </a:r>
            <a:r>
              <a:rPr lang="en-US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식별</a:t>
            </a:r>
            <a:endParaRPr lang="en-US" sz="12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직접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경로와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간접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경로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가능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정밀한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인과관계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추론의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기초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공분산보다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해석에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적합</a:t>
            </a:r>
            <a:endParaRPr lang="en-US" altLang="ko-KR" sz="1200" dirty="0"/>
          </a:p>
        </p:txBody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rcRect t="-530" b="-530"/>
          <a:stretch/>
        </p:blipFill>
        <p:spPr>
          <a:xfrm>
            <a:off x="5969661" y="3156414"/>
            <a:ext cx="247802" cy="286207"/>
          </a:xfrm>
          <a:prstGeom prst="rect">
            <a:avLst/>
          </a:prstGeom>
        </p:spPr>
      </p:pic>
      <p:sp>
        <p:nvSpPr>
          <p:cNvPr id="4" name="Shape 104">
            <a:extLst>
              <a:ext uri="{FF2B5EF4-FFF2-40B4-BE49-F238E27FC236}">
                <a16:creationId xmlns:a16="http://schemas.microsoft.com/office/drawing/2014/main" id="{D7ABB845-D868-44DD-D6BC-B5987B8F1EAC}"/>
              </a:ext>
            </a:extLst>
          </p:cNvPr>
          <p:cNvSpPr/>
          <p:nvPr/>
        </p:nvSpPr>
        <p:spPr>
          <a:xfrm flipH="1">
            <a:off x="6087000" y="1410005"/>
            <a:ext cx="18000" cy="5223967"/>
          </a:xfrm>
          <a:prstGeom prst="rect">
            <a:avLst/>
          </a:prstGeom>
          <a:solidFill>
            <a:srgbClr val="2E405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3D4650B0-39AD-E673-D0B9-8721CCA93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505761"/>
              </p:ext>
            </p:extLst>
          </p:nvPr>
        </p:nvGraphicFramePr>
        <p:xfrm>
          <a:off x="610818" y="2538007"/>
          <a:ext cx="4956964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9241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570265196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432353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X₁비타민C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X₂철분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X₃헤모글로빈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X₁비타민C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X₂철분</a:t>
                      </a:r>
                      <a:endParaRPr lang="en-US" altLang="ko-KR" sz="1200" b="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150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X₃헤모글로빈</a:t>
                      </a:r>
                      <a:endParaRPr lang="en-US" altLang="ko-KR" sz="1200" b="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94427"/>
                  </a:ext>
                </a:extLst>
              </a:tr>
            </a:tbl>
          </a:graphicData>
        </a:graphic>
      </p:graphicFrame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1E3D2A03-D8ED-70A0-80CD-6A79AB099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16918"/>
              </p:ext>
            </p:extLst>
          </p:nvPr>
        </p:nvGraphicFramePr>
        <p:xfrm>
          <a:off x="6622658" y="2538007"/>
          <a:ext cx="4956964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9241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570265196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  <a:gridCol w="1239241">
                  <a:extLst>
                    <a:ext uri="{9D8B030D-6E8A-4147-A177-3AD203B41FA5}">
                      <a16:colId xmlns:a16="http://schemas.microsoft.com/office/drawing/2014/main" val="432353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X₁비타민C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X₂철분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X₃헤모글로빈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X₁비타민C</a:t>
                      </a:r>
                      <a:endParaRPr lang="en-US" altLang="ko-KR" sz="120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0.012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-0.003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X₂철분</a:t>
                      </a:r>
                      <a:endParaRPr lang="en-US" altLang="ko-KR" sz="1200" b="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-0.003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0.009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-0.004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X₃헤모글로빈</a:t>
                      </a:r>
                      <a:endParaRPr lang="en-US" altLang="ko-KR" sz="1200" b="0" dirty="0"/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-0.004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0.007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94427"/>
                  </a:ext>
                </a:extLst>
              </a:tr>
            </a:tbl>
          </a:graphicData>
        </a:graphic>
      </p:graphicFrame>
      <p:pic>
        <p:nvPicPr>
          <p:cNvPr id="120" name="Image 0" descr="preencoded.png">
            <a:extLst>
              <a:ext uri="{FF2B5EF4-FFF2-40B4-BE49-F238E27FC236}">
                <a16:creationId xmlns:a16="http://schemas.microsoft.com/office/drawing/2014/main" id="{67D2462F-6899-B29C-1FE6-D7AE76C909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" t="23994" r="-5" b="26021"/>
          <a:stretch>
            <a:fillRect/>
          </a:stretch>
        </p:blipFill>
        <p:spPr>
          <a:xfrm>
            <a:off x="6957787" y="4414825"/>
            <a:ext cx="4286707" cy="1428293"/>
          </a:xfrm>
          <a:prstGeom prst="rect">
            <a:avLst/>
          </a:prstGeom>
        </p:spPr>
      </p:pic>
      <p:sp>
        <p:nvSpPr>
          <p:cNvPr id="121" name="Text 5">
            <a:extLst>
              <a:ext uri="{FF2B5EF4-FFF2-40B4-BE49-F238E27FC236}">
                <a16:creationId xmlns:a16="http://schemas.microsoft.com/office/drawing/2014/main" id="{D32A7E4A-15E8-63F7-7445-E44583B9BE0F}"/>
              </a:ext>
            </a:extLst>
          </p:cNvPr>
          <p:cNvSpPr txBox="1"/>
          <p:nvPr/>
        </p:nvSpPr>
        <p:spPr>
          <a:xfrm>
            <a:off x="7329490" y="423281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비타민C와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헤모글로빈은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철분을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통해서만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관련됨</a:t>
            </a:r>
            <a:r>
              <a:rPr lang="en-US" altLang="ko-KR" sz="12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endParaRPr lang="en-US" altLang="ko-KR" sz="1200" dirty="0"/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97113587-D018-111E-6B16-89204D014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51951"/>
              </p:ext>
            </p:extLst>
          </p:nvPr>
        </p:nvGraphicFramePr>
        <p:xfrm>
          <a:off x="610818" y="4436008"/>
          <a:ext cx="4926482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5382">
                  <a:extLst>
                    <a:ext uri="{9D8B030D-6E8A-4147-A177-3AD203B41FA5}">
                      <a16:colId xmlns:a16="http://schemas.microsoft.com/office/drawing/2014/main" val="7244444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3895094"/>
                    </a:ext>
                  </a:extLst>
                </a:gridCol>
                <a:gridCol w="1905100">
                  <a:extLst>
                    <a:ext uri="{9D8B030D-6E8A-4147-A177-3AD203B41FA5}">
                      <a16:colId xmlns:a16="http://schemas.microsoft.com/office/drawing/2014/main" val="432353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변수 쌍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공분산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관계</a:t>
                      </a:r>
                      <a:endParaRPr lang="en-US" altLang="ko-KR" sz="1200" b="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비타민</a:t>
                      </a: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 - </a:t>
                      </a: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철분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40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양의 상관관계 강함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8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철분 </a:t>
                      </a: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헤모글로빈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양의 상관관계 강함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8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비타민</a:t>
                      </a: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 - </a:t>
                      </a: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헤모글로빈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2E4057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양의 상관관계 약함</a:t>
                      </a:r>
                      <a:endParaRPr lang="en-US" altLang="ko-KR" sz="1200" kern="1200" dirty="0">
                        <a:solidFill>
                          <a:srgbClr val="2E4057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94427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E0ABAFED-75B1-5CEE-2A26-A7CF4A8C1F32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31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/>
              <a:t>공분산 행렬 </a:t>
            </a:r>
            <a:r>
              <a:rPr lang="en-US" altLang="ko-KR">
                <a:sym typeface="Wingdings" pitchFamily="2" charset="2"/>
              </a:rPr>
              <a:t> </a:t>
            </a:r>
            <a:r>
              <a:rPr lang="en-US" altLang="ko-KR"/>
              <a:t>정밀도 행렬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1824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71500" y="5791353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44677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조건부</a:t>
            </a:r>
            <a:r>
              <a:rPr lang="en-US" sz="30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30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독립성</a:t>
            </a:r>
            <a:endParaRPr lang="en-US" sz="30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A0AF95E-F550-E786-8127-D8C501647588}"/>
              </a:ext>
            </a:extLst>
          </p:cNvPr>
          <p:cNvGrpSpPr/>
          <p:nvPr/>
        </p:nvGrpSpPr>
        <p:grpSpPr>
          <a:xfrm>
            <a:off x="1828800" y="1400860"/>
            <a:ext cx="8534095" cy="1304849"/>
            <a:chOff x="1828800" y="1695298"/>
            <a:chExt cx="8534095" cy="1304849"/>
          </a:xfrm>
        </p:grpSpPr>
        <p:sp>
          <p:nvSpPr>
            <p:cNvPr id="6" name="Shape 4"/>
            <p:cNvSpPr/>
            <p:nvPr/>
          </p:nvSpPr>
          <p:spPr>
            <a:xfrm>
              <a:off x="1828800" y="1695298"/>
              <a:ext cx="8534095" cy="1304849"/>
            </a:xfrm>
            <a:prstGeom prst="roundRect">
              <a:avLst>
                <a:gd name="adj" fmla="val 5115"/>
              </a:avLst>
            </a:prstGeom>
            <a:solidFill>
              <a:srgbClr val="048A81">
                <a:alpha val="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4282135" y="1886407"/>
              <a:ext cx="800100" cy="8293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5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X</a:t>
              </a:r>
              <a:endParaRPr lang="en-US" sz="45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4810658" y="1886407"/>
              <a:ext cx="1571854" cy="8293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5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⊥ X</a:t>
              </a:r>
              <a:endParaRPr lang="en-US" sz="45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6109106" y="1886407"/>
              <a:ext cx="1162202" cy="8293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5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| X</a:t>
              </a:r>
              <a:endParaRPr lang="en-US" sz="45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650638" y="2124151"/>
              <a:ext cx="51937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7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i</a:t>
              </a:r>
              <a:endParaRPr lang="en-US" sz="37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5948172" y="2124151"/>
              <a:ext cx="51937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7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j</a:t>
              </a:r>
              <a:endParaRPr lang="en-US" sz="37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840626" y="2124151"/>
              <a:ext cx="143377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7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-(i,j)</a:t>
              </a:r>
              <a:endParaRPr lang="en-US" sz="37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952805" y="323743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86500" y="3237433"/>
            <a:ext cx="4953305" cy="1352398"/>
          </a:xfrm>
          <a:prstGeom prst="roundRect">
            <a:avLst>
              <a:gd name="adj" fmla="val 47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4780941"/>
            <a:ext cx="4953305" cy="1352398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52144" y="3437687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⊥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86754" y="3437687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|</a:t>
            </a:r>
            <a:endParaRPr lang="en-US" altLang="ko-KR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52144" y="4981194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135685" y="5014113"/>
            <a:ext cx="267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38605" y="3456889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조건부 독립 기호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72300" y="3456889"/>
            <a:ext cx="21771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"주어졌을 때" (given)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38605" y="4999482"/>
            <a:ext cx="13770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나머지 변수들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38605" y="3875685"/>
            <a:ext cx="4176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"조건부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독립"을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Xi와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Xj가 X-(i,j) 조건하에서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독립적이라는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뜻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72300" y="3875685"/>
            <a:ext cx="41961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조건부 확률에서 "~가 주어졌을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때"라는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세로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막대 오른쪽의 조건이 성립한다는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가정을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나타냄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638605" y="5419192"/>
            <a:ext cx="4176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Xi와 Xj를 제외한 모든 다른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변수를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endParaRPr lang="en-US" sz="1300" dirty="0">
              <a:solidFill>
                <a:srgbClr val="2E405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X1, X2, ..., Xp 중에서 Xi와 Xj를 제외한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변수들의</a:t>
            </a:r>
            <a:r>
              <a:rPr lang="en-US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집합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51814" y="4923587"/>
            <a:ext cx="385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-(i,j)</a:t>
            </a:r>
            <a:endParaRPr lang="en-US" sz="120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DEB46C2B-08C2-92F5-E13E-A7B0AB437212}"/>
              </a:ext>
            </a:extLst>
          </p:cNvPr>
          <p:cNvSpPr/>
          <p:nvPr/>
        </p:nvSpPr>
        <p:spPr>
          <a:xfrm>
            <a:off x="6286499" y="4780941"/>
            <a:ext cx="4953305" cy="1352398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9AA20E7-A3D8-17E1-0EFA-56761A6923A7}"/>
              </a:ext>
            </a:extLst>
          </p:cNvPr>
          <p:cNvGrpSpPr/>
          <p:nvPr/>
        </p:nvGrpSpPr>
        <p:grpSpPr>
          <a:xfrm>
            <a:off x="6486754" y="4999482"/>
            <a:ext cx="2501799" cy="342900"/>
            <a:chOff x="1152144" y="7210044"/>
            <a:chExt cx="2501799" cy="342900"/>
          </a:xfrm>
        </p:grpSpPr>
        <p:sp>
          <p:nvSpPr>
            <p:cNvPr id="43" name="Shape 32">
              <a:extLst>
                <a:ext uri="{FF2B5EF4-FFF2-40B4-BE49-F238E27FC236}">
                  <a16:creationId xmlns:a16="http://schemas.microsoft.com/office/drawing/2014/main" id="{34131FB4-EB9D-9FE1-0353-B2B059EE742F}"/>
                </a:ext>
              </a:extLst>
            </p:cNvPr>
            <p:cNvSpPr/>
            <p:nvPr/>
          </p:nvSpPr>
          <p:spPr>
            <a:xfrm>
              <a:off x="1152144" y="7210044"/>
              <a:ext cx="342900" cy="342900"/>
            </a:xfrm>
            <a:prstGeom prst="ellipse">
              <a:avLst/>
            </a:prstGeom>
            <a:solidFill>
              <a:srgbClr val="F2641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1" descr="preencoded.png">
              <a:extLst>
                <a:ext uri="{FF2B5EF4-FFF2-40B4-BE49-F238E27FC236}">
                  <a16:creationId xmlns:a16="http://schemas.microsoft.com/office/drawing/2014/main" id="{B5073243-C69B-E97F-3852-D59891736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252728" y="7286397"/>
              <a:ext cx="142646" cy="190195"/>
            </a:xfrm>
            <a:prstGeom prst="rect">
              <a:avLst/>
            </a:prstGeom>
          </p:spPr>
        </p:pic>
        <p:sp>
          <p:nvSpPr>
            <p:cNvPr id="45" name="Text 33">
              <a:extLst>
                <a:ext uri="{FF2B5EF4-FFF2-40B4-BE49-F238E27FC236}">
                  <a16:creationId xmlns:a16="http://schemas.microsoft.com/office/drawing/2014/main" id="{282DCFDA-40D1-3D09-73AD-7BC8F2401E3F}"/>
                </a:ext>
              </a:extLst>
            </p:cNvPr>
            <p:cNvSpPr txBox="1"/>
            <p:nvPr/>
          </p:nvSpPr>
          <p:spPr>
            <a:xfrm>
              <a:off x="1638605" y="7228789"/>
              <a:ext cx="201533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정밀도 행렬과의 관계</a:t>
              </a:r>
              <a:endParaRPr lang="en-US" sz="1600" dirty="0"/>
            </a:p>
          </p:txBody>
        </p:sp>
      </p:grpSp>
      <p:sp>
        <p:nvSpPr>
          <p:cNvPr id="46" name="Text 28">
            <a:extLst>
              <a:ext uri="{FF2B5EF4-FFF2-40B4-BE49-F238E27FC236}">
                <a16:creationId xmlns:a16="http://schemas.microsoft.com/office/drawing/2014/main" id="{C598574D-DB0B-AB03-F0ED-A6EAF4E43F82}"/>
              </a:ext>
            </a:extLst>
          </p:cNvPr>
          <p:cNvSpPr txBox="1"/>
          <p:nvPr/>
        </p:nvSpPr>
        <p:spPr>
          <a:xfrm>
            <a:off x="6972300" y="5419192"/>
            <a:ext cx="4176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Θij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= 0 ⟺ Xi ⊥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Xj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| X-(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i,j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정밀도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행렬의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i,j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원소가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0이면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해당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변수쌍은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조건부</a:t>
            </a:r>
            <a:r>
              <a:rPr lang="en-US" altLang="ko-KR" sz="13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독립</a:t>
            </a:r>
            <a:endParaRPr lang="en-US" alt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99F6CB-9F20-2EDC-76F9-04981C1CB169}"/>
              </a:ext>
            </a:extLst>
          </p:cNvPr>
          <p:cNvGrpSpPr/>
          <p:nvPr/>
        </p:nvGrpSpPr>
        <p:grpSpPr>
          <a:xfrm>
            <a:off x="952805" y="2970678"/>
            <a:ext cx="10287000" cy="1095451"/>
            <a:chOff x="952805" y="7764991"/>
            <a:chExt cx="10287000" cy="1095451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C10F7C1B-B224-26DF-325A-DEB39DF3D127}"/>
                </a:ext>
              </a:extLst>
            </p:cNvPr>
            <p:cNvSpPr/>
            <p:nvPr/>
          </p:nvSpPr>
          <p:spPr>
            <a:xfrm>
              <a:off x="952805" y="7764991"/>
              <a:ext cx="10287000" cy="1095451"/>
            </a:xfrm>
            <a:prstGeom prst="roundRect">
              <a:avLst>
                <a:gd name="adj" fmla="val 7258"/>
              </a:avLst>
            </a:prstGeom>
            <a:solidFill>
              <a:srgbClr val="FFFFFF">
                <a:alpha val="90000"/>
              </a:srgbClr>
            </a:solidFill>
            <a:ln w="12700">
              <a:solidFill>
                <a:srgbClr val="2E4057">
                  <a:alpha val="10000"/>
                </a:srgbClr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21">
              <a:extLst>
                <a:ext uri="{FF2B5EF4-FFF2-40B4-BE49-F238E27FC236}">
                  <a16:creationId xmlns:a16="http://schemas.microsoft.com/office/drawing/2014/main" id="{4FC9D1B4-F2D6-8D83-3C77-671D2E6650AE}"/>
                </a:ext>
              </a:extLst>
            </p:cNvPr>
            <p:cNvSpPr/>
            <p:nvPr/>
          </p:nvSpPr>
          <p:spPr>
            <a:xfrm>
              <a:off x="1152144" y="7934249"/>
              <a:ext cx="342900" cy="342900"/>
            </a:xfrm>
            <a:prstGeom prst="ellipse">
              <a:avLst/>
            </a:prstGeom>
            <a:solidFill>
              <a:srgbClr val="F2641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D77C7C1F-D7FE-33D6-63DE-690AB4D55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252728" y="8010144"/>
              <a:ext cx="142646" cy="190195"/>
            </a:xfrm>
            <a:prstGeom prst="rect">
              <a:avLst/>
            </a:prstGeom>
          </p:spPr>
        </p:pic>
        <p:sp>
          <p:nvSpPr>
            <p:cNvPr id="15" name="Text 22">
              <a:extLst>
                <a:ext uri="{FF2B5EF4-FFF2-40B4-BE49-F238E27FC236}">
                  <a16:creationId xmlns:a16="http://schemas.microsoft.com/office/drawing/2014/main" id="{DA05C418-3920-498B-B1CF-A3F6B607A90E}"/>
                </a:ext>
              </a:extLst>
            </p:cNvPr>
            <p:cNvSpPr txBox="1"/>
            <p:nvPr/>
          </p:nvSpPr>
          <p:spPr>
            <a:xfrm>
              <a:off x="1638605" y="7953451"/>
              <a:ext cx="54772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해결</a:t>
              </a:r>
              <a:endParaRPr lang="en-US" sz="1600" b="1" dirty="0"/>
            </a:p>
          </p:txBody>
        </p:sp>
        <p:sp>
          <p:nvSpPr>
            <p:cNvPr id="16" name="Text 23">
              <a:extLst>
                <a:ext uri="{FF2B5EF4-FFF2-40B4-BE49-F238E27FC236}">
                  <a16:creationId xmlns:a16="http://schemas.microsoft.com/office/drawing/2014/main" id="{2A1E9AAA-4825-CAB7-258A-F83EF4D5B3B5}"/>
                </a:ext>
              </a:extLst>
            </p:cNvPr>
            <p:cNvSpPr txBox="1"/>
            <p:nvPr/>
          </p:nvSpPr>
          <p:spPr>
            <a:xfrm>
              <a:off x="1638604" y="8372245"/>
              <a:ext cx="9219895" cy="305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고차원 데이터(p &gt; n)에서는 기존 방식으로 정밀도 행렬(Θ = Σ⁻¹)을 계산할 </a:t>
              </a:r>
              <a:r>
                <a:rPr lang="en-US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수</a:t>
              </a: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없음</a:t>
              </a: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. → </a:t>
              </a:r>
              <a:r>
                <a:rPr lang="en-US" sz="1600" dirty="0" err="1">
                  <a:solidFill>
                    <a:srgbClr val="FF000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정규화</a:t>
              </a: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방법</a:t>
              </a:r>
              <a:r>
                <a:rPr lang="en-US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필요</a:t>
              </a:r>
              <a:endParaRPr lang="en-US" sz="16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67EA28-CD90-FE7B-A4F3-436DC097917A}"/>
              </a:ext>
            </a:extLst>
          </p:cNvPr>
          <p:cNvGrpSpPr/>
          <p:nvPr/>
        </p:nvGrpSpPr>
        <p:grpSpPr>
          <a:xfrm>
            <a:off x="952805" y="1544121"/>
            <a:ext cx="10287000" cy="1095451"/>
            <a:chOff x="952805" y="1544121"/>
            <a:chExt cx="10287000" cy="1095451"/>
          </a:xfrm>
        </p:grpSpPr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2A2214D2-1957-320C-A613-735D1855D0F3}"/>
                </a:ext>
              </a:extLst>
            </p:cNvPr>
            <p:cNvSpPr/>
            <p:nvPr/>
          </p:nvSpPr>
          <p:spPr>
            <a:xfrm>
              <a:off x="952805" y="1544121"/>
              <a:ext cx="10287000" cy="1095451"/>
            </a:xfrm>
            <a:prstGeom prst="roundRect">
              <a:avLst>
                <a:gd name="adj" fmla="val 7258"/>
              </a:avLst>
            </a:prstGeom>
            <a:solidFill>
              <a:srgbClr val="FFFFFF">
                <a:alpha val="90000"/>
              </a:srgbClr>
            </a:solidFill>
            <a:ln w="12700">
              <a:solidFill>
                <a:srgbClr val="2E4057">
                  <a:alpha val="10000"/>
                </a:srgbClr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FF4CEEEB-7F08-2D0B-CF23-9B37BEB01255}"/>
                </a:ext>
              </a:extLst>
            </p:cNvPr>
            <p:cNvSpPr txBox="1"/>
            <p:nvPr/>
          </p:nvSpPr>
          <p:spPr>
            <a:xfrm>
              <a:off x="1638605" y="1732581"/>
              <a:ext cx="54772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문제</a:t>
              </a:r>
              <a:endParaRPr lang="en-US" sz="1600" b="1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D319730B-2509-C999-FB3A-B64EE4757172}"/>
                </a:ext>
              </a:extLst>
            </p:cNvPr>
            <p:cNvSpPr txBox="1"/>
            <p:nvPr/>
          </p:nvSpPr>
          <p:spPr>
            <a:xfrm>
              <a:off x="1638605" y="2151376"/>
              <a:ext cx="797722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변수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수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(p) &gt;&gt;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샘플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수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(n) →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표본공분산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행렬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Σ̂가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full-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rank가</a:t>
              </a:r>
              <a:r>
                <a:rPr lang="en-US" altLang="ko-KR" sz="16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아님</a:t>
              </a:r>
              <a:endParaRPr lang="en-US" sz="1400" dirty="0"/>
            </a:p>
          </p:txBody>
        </p:sp>
        <p:pic>
          <p:nvPicPr>
            <p:cNvPr id="25" name="Image 0" descr="preencoded.png">
              <a:extLst>
                <a:ext uri="{FF2B5EF4-FFF2-40B4-BE49-F238E27FC236}">
                  <a16:creationId xmlns:a16="http://schemas.microsoft.com/office/drawing/2014/main" id="{322D364C-73F9-9788-A7CD-C74A7DB37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124255" y="1692034"/>
              <a:ext cx="342900" cy="34290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F85D75B-0DC6-194C-9CD8-F295B2D86F77}"/>
              </a:ext>
            </a:extLst>
          </p:cNvPr>
          <p:cNvGrpSpPr/>
          <p:nvPr/>
        </p:nvGrpSpPr>
        <p:grpSpPr>
          <a:xfrm>
            <a:off x="761695" y="4673383"/>
            <a:ext cx="10668305" cy="1095451"/>
            <a:chOff x="761695" y="2971800"/>
            <a:chExt cx="10668305" cy="1095451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717EA507-244F-D4AB-E4D7-106D91D794C5}"/>
                </a:ext>
              </a:extLst>
            </p:cNvPr>
            <p:cNvSpPr/>
            <p:nvPr/>
          </p:nvSpPr>
          <p:spPr>
            <a:xfrm>
              <a:off x="761695" y="2971800"/>
              <a:ext cx="10668305" cy="1095451"/>
            </a:xfrm>
            <a:prstGeom prst="rect">
              <a:avLst/>
            </a:prstGeom>
            <a:solidFill>
              <a:srgbClr val="048A81">
                <a:alpha val="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1B7647B1-EE9A-7129-E233-96A052AF4BE7}"/>
                </a:ext>
              </a:extLst>
            </p:cNvPr>
            <p:cNvSpPr/>
            <p:nvPr/>
          </p:nvSpPr>
          <p:spPr>
            <a:xfrm>
              <a:off x="761695" y="2971800"/>
              <a:ext cx="45719" cy="1095451"/>
            </a:xfrm>
            <a:prstGeom prst="rect">
              <a:avLst/>
            </a:prstGeom>
            <a:solidFill>
              <a:srgbClr val="048A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310C3453-3ED1-4013-15E8-7E80BFB35ADB}"/>
                </a:ext>
              </a:extLst>
            </p:cNvPr>
            <p:cNvSpPr txBox="1"/>
            <p:nvPr/>
          </p:nvSpPr>
          <p:spPr>
            <a:xfrm>
              <a:off x="1571854" y="3161995"/>
              <a:ext cx="1295705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048A8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모델링 목표</a:t>
              </a:r>
              <a:endParaRPr lang="en-US" sz="18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6123182C-6633-EC79-52D5-2251A2195DF5}"/>
                </a:ext>
              </a:extLst>
            </p:cNvPr>
            <p:cNvSpPr txBox="1"/>
            <p:nvPr/>
          </p:nvSpPr>
          <p:spPr>
            <a:xfrm>
              <a:off x="1571854" y="3638398"/>
              <a:ext cx="67299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정밀도 행렬 Θ를 희소(sparse)하게 추정하여 중요한 연결만 남기고 나머지는 0으로 </a:t>
              </a:r>
              <a:r>
                <a:rPr lang="en-US" sz="1300" dirty="0" err="1">
                  <a:solidFill>
                    <a:srgbClr val="2E4057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만들기</a:t>
              </a:r>
              <a:endParaRPr lang="en-US" sz="1300" dirty="0"/>
            </a:p>
          </p:txBody>
        </p:sp>
        <p:pic>
          <p:nvPicPr>
            <p:cNvPr id="32" name="Image 1" descr="preencoded.png">
              <a:extLst>
                <a:ext uri="{FF2B5EF4-FFF2-40B4-BE49-F238E27FC236}">
                  <a16:creationId xmlns:a16="http://schemas.microsoft.com/office/drawing/2014/main" id="{8A05CC20-D7B3-36D9-A8E9-CCBFD20A0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23798" y="3228746"/>
              <a:ext cx="228600" cy="228600"/>
            </a:xfrm>
            <a:prstGeom prst="rect">
              <a:avLst/>
            </a:prstGeom>
          </p:spPr>
        </p:pic>
      </p:grpSp>
      <p:sp>
        <p:nvSpPr>
          <p:cNvPr id="2" name="Text 3">
            <a:extLst>
              <a:ext uri="{FF2B5EF4-FFF2-40B4-BE49-F238E27FC236}">
                <a16:creationId xmlns:a16="http://schemas.microsoft.com/office/drawing/2014/main" id="{F353BA18-44A7-D4CB-4C73-F3D7041B7CA2}"/>
              </a:ext>
            </a:extLst>
          </p:cNvPr>
          <p:cNvSpPr txBox="1"/>
          <p:nvPr/>
        </p:nvSpPr>
        <p:spPr>
          <a:xfrm>
            <a:off x="761694" y="457349"/>
            <a:ext cx="772347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31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ko-KR" altLang="en-US" dirty="0"/>
              <a:t>역행렬이 불가능한 경우</a:t>
            </a:r>
            <a:endParaRPr lang="en-US" altLang="ko-KR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F11BCF5A-DF57-2BCC-734F-3F07727E7BF1}"/>
              </a:ext>
            </a:extLst>
          </p:cNvPr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67FB4D5-902B-259A-860F-88D09CBA36C4}"/>
              </a:ext>
            </a:extLst>
          </p:cNvPr>
          <p:cNvSpPr/>
          <p:nvPr/>
        </p:nvSpPr>
        <p:spPr>
          <a:xfrm>
            <a:off x="-571500" y="5791353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761695" y="476402"/>
            <a:ext cx="47722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Graphical Lasso(Glasso)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52805" y="2624328"/>
            <a:ext cx="4953305" cy="1609344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2624328"/>
            <a:ext cx="4953305" cy="1609344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424782"/>
            <a:ext cx="4953305" cy="1609344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86500" y="4424782"/>
            <a:ext cx="4953305" cy="1609344"/>
          </a:xfrm>
          <a:prstGeom prst="roundRect">
            <a:avLst>
              <a:gd name="adj" fmla="val 33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2E4057">
                <a:alpha val="10000"/>
              </a:srgbClr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52144" y="2824582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1</a:t>
            </a:r>
            <a:endParaRPr lang="ko-KR" altLang="en-US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86754" y="2824582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</a:t>
            </a:r>
            <a:endParaRPr lang="ko-KR" altLang="en-US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52144" y="4625036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</a:t>
            </a:r>
            <a:endParaRPr lang="ko-KR" altLang="en-US" sz="1500" dirty="0">
              <a:solidFill>
                <a:srgbClr val="FFFFFF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6754" y="4625036"/>
            <a:ext cx="342900" cy="34290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85509" y="4657954"/>
            <a:ext cx="295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38605" y="2843327"/>
            <a:ext cx="4129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-log det(</a:t>
            </a:r>
            <a:r>
              <a:rPr lang="el-GR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Θ): </a:t>
            </a:r>
            <a:r>
              <a:rPr lang="ko-KR" alt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로그 행렬식 </a:t>
            </a:r>
            <a:r>
              <a:rPr lang="en-US" altLang="ko-KR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log-determinant)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72300" y="2843327"/>
            <a:ext cx="3746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tr(SxΘ)</a:t>
            </a:r>
            <a:r>
              <a:rPr lang="en-US" altLang="ko-KR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트레이스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38605" y="4644238"/>
            <a:ext cx="7763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λ||Θ||₁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72300" y="4644238"/>
            <a:ext cx="2986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정밀도 행렬(Precision Matrix) </a:t>
            </a:r>
            <a:r>
              <a:rPr lang="en-US" sz="1600" dirty="0" err="1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추정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38605" y="3262580"/>
            <a:ext cx="416783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3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행렬식</a:t>
            </a:r>
            <a:r>
              <a:rPr lang="en-US" altLang="ko-KR" dirty="0"/>
              <a:t>: </a:t>
            </a:r>
            <a:r>
              <a:rPr lang="ko-KR" altLang="en-US" dirty="0" err="1"/>
              <a:t>주대각선의</a:t>
            </a:r>
            <a:r>
              <a:rPr lang="ko-KR" altLang="en-US" dirty="0"/>
              <a:t> 곱 빼기 </a:t>
            </a:r>
            <a:r>
              <a:rPr lang="ko-KR" altLang="en-US" dirty="0" err="1"/>
              <a:t>부대각선의</a:t>
            </a:r>
            <a:r>
              <a:rPr lang="ko-KR" altLang="en-US" dirty="0"/>
              <a:t> 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역행렬이 존재하기 위해서는 </a:t>
            </a:r>
            <a:r>
              <a:rPr lang="en" altLang="ko-KR" dirty="0"/>
              <a:t>det(</a:t>
            </a:r>
            <a:r>
              <a:rPr lang="el-GR" altLang="ko-KR" dirty="0"/>
              <a:t>Θ) &gt; 0</a:t>
            </a:r>
            <a:r>
              <a:rPr lang="ko-KR" altLang="en-US" dirty="0"/>
              <a:t>이어야 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-log</a:t>
            </a:r>
            <a:r>
              <a:rPr lang="ko-KR" altLang="en-US" dirty="0" err="1"/>
              <a:t>를</a:t>
            </a:r>
            <a:r>
              <a:rPr lang="ko-KR" altLang="en-US" dirty="0"/>
              <a:t> 취해줌으로써 ∞로 보내 페널티를 크게 할 수 있음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6972300" y="3262580"/>
            <a:ext cx="419618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ko-KR" altLang="en-US" dirty="0" err="1"/>
              <a:t>트레이스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행렬의 대각선 원소들의 합</a:t>
            </a:r>
            <a:endParaRPr lang="en-US" dirty="0"/>
          </a:p>
          <a:p>
            <a:r>
              <a:rPr lang="en-US" dirty="0"/>
              <a:t>S: </a:t>
            </a:r>
            <a:r>
              <a:rPr lang="ko-KR" altLang="en-US" dirty="0"/>
              <a:t>실제 데이터에서 계산한 공분산 행렬 </a:t>
            </a:r>
            <a:br>
              <a:rPr lang="en-US" altLang="ko-KR" dirty="0"/>
            </a:br>
            <a:r>
              <a:rPr lang="el-GR" dirty="0"/>
              <a:t>Θ: </a:t>
            </a:r>
            <a:r>
              <a:rPr lang="ko-KR" altLang="en-US" dirty="0"/>
              <a:t>추정하려는 정밀도 행렬 </a:t>
            </a:r>
            <a:r>
              <a:rPr lang="en-US" altLang="ko-KR" dirty="0"/>
              <a:t>(</a:t>
            </a:r>
            <a:r>
              <a:rPr lang="ko-KR" altLang="en-US" dirty="0"/>
              <a:t>역공분산 행렬</a:t>
            </a:r>
            <a:r>
              <a:rPr lang="en-US" altLang="ko-KR" dirty="0"/>
              <a:t>) 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1638605" y="5063033"/>
            <a:ext cx="412943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l-GR" altLang="ko-KR" dirty="0"/>
              <a:t> ||Θ||₁ = </a:t>
            </a:r>
            <a:r>
              <a:rPr lang="ko-KR" altLang="en-US" dirty="0"/>
              <a:t>행렬의 모든 원소의 절댓값</a:t>
            </a:r>
            <a:endParaRPr lang="en-US" altLang="ko-KR" dirty="0"/>
          </a:p>
          <a:p>
            <a:r>
              <a:rPr lang="el-GR" altLang="ko-KR" dirty="0"/>
              <a:t>λ||Θ||₁ </a:t>
            </a:r>
            <a:r>
              <a:rPr lang="ko-KR" altLang="en-US" dirty="0"/>
              <a:t>페널티 때문에 </a:t>
            </a:r>
            <a:r>
              <a:rPr lang="el-GR" altLang="ko-KR" dirty="0"/>
              <a:t>Θ</a:t>
            </a:r>
            <a:r>
              <a:rPr lang="ko-KR" altLang="en-US" dirty="0"/>
              <a:t>의 많은 원소가 </a:t>
            </a:r>
            <a:r>
              <a:rPr lang="en-US" altLang="ko-KR" dirty="0"/>
              <a:t>0</a:t>
            </a:r>
            <a:r>
              <a:rPr lang="ko-KR" altLang="en-US" dirty="0"/>
              <a:t>이 됨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6972300" y="5063033"/>
            <a:ext cx="4053535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buFont typeface="Arial" panose="020B0604020202020204" pitchFamily="34" charset="0"/>
              <a:buChar char="•"/>
              <a:defRPr sz="1300">
                <a:solidFill>
                  <a:srgbClr val="2E405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l-GR" altLang="ko-KR" dirty="0"/>
              <a:t>Θ </a:t>
            </a:r>
            <a:r>
              <a:rPr lang="ko-KR" altLang="en-US" dirty="0"/>
              <a:t>행렬 값을 임의로 설정한 다음에 한 행</a:t>
            </a:r>
            <a:r>
              <a:rPr lang="en-US" altLang="ko-KR" dirty="0"/>
              <a:t>/</a:t>
            </a:r>
            <a:r>
              <a:rPr lang="ko-KR" altLang="en-US" dirty="0"/>
              <a:t>열씩 순서대로 업데이트 </a:t>
            </a:r>
            <a:r>
              <a:rPr lang="en-US" altLang="ko-KR" dirty="0"/>
              <a:t>(</a:t>
            </a:r>
            <a:r>
              <a:rPr lang="en" altLang="ko-KR" dirty="0"/>
              <a:t>Block Coordinate Descent</a:t>
            </a:r>
            <a:r>
              <a:rPr lang="en-US" altLang="ko-KR" dirty="0"/>
              <a:t>)</a:t>
            </a:r>
            <a:r>
              <a:rPr lang="ko-KR" altLang="en-US" dirty="0"/>
              <a:t>하면서 위 식을 </a:t>
            </a:r>
            <a:r>
              <a:rPr lang="ko-KR" altLang="en-US" dirty="0" err="1"/>
              <a:t>최소화시킴</a:t>
            </a:r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72BACC1C-0137-45CB-355E-F58D0815D298}"/>
              </a:ext>
            </a:extLst>
          </p:cNvPr>
          <p:cNvSpPr/>
          <p:nvPr/>
        </p:nvSpPr>
        <p:spPr>
          <a:xfrm>
            <a:off x="1828800" y="1229868"/>
            <a:ext cx="8534095" cy="781283"/>
          </a:xfrm>
          <a:prstGeom prst="roundRect">
            <a:avLst>
              <a:gd name="adj" fmla="val 8545"/>
            </a:avLst>
          </a:prstGeom>
          <a:solidFill>
            <a:srgbClr val="048A81">
              <a:alpha val="5000"/>
            </a:srgbClr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minimize: -log det(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F26418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+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tr(S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F26418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+ λ||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F26418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Θ</a:t>
            </a:r>
            <a:r>
              <a:rPr kumimoji="0" lang="el-GR" altLang="ko-KR" sz="3400" b="0" i="0" u="none" strike="noStrike" kern="1200" cap="none" spc="0" normalizeH="0" baseline="0" noProof="0" dirty="0">
                <a:ln>
                  <a:noFill/>
                </a:ln>
                <a:solidFill>
                  <a:srgbClr val="2E4057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||₁</a:t>
            </a:r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D8AC6638-327B-14E5-05E4-8662FAF594CA}"/>
              </a:ext>
            </a:extLst>
          </p:cNvPr>
          <p:cNvSpPr/>
          <p:nvPr/>
        </p:nvSpPr>
        <p:spPr>
          <a:xfrm>
            <a:off x="11048695" y="-761695"/>
            <a:ext cx="1904695" cy="1904695"/>
          </a:xfrm>
          <a:prstGeom prst="ellipse">
            <a:avLst/>
          </a:prstGeom>
          <a:solidFill>
            <a:srgbClr val="048A81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15E16FBC-F1A2-020F-1232-3E8F6409C53E}"/>
              </a:ext>
            </a:extLst>
          </p:cNvPr>
          <p:cNvSpPr/>
          <p:nvPr/>
        </p:nvSpPr>
        <p:spPr>
          <a:xfrm>
            <a:off x="-571500" y="5791353"/>
            <a:ext cx="1429207" cy="1429207"/>
          </a:xfrm>
          <a:prstGeom prst="ellipse">
            <a:avLst/>
          </a:prstGeom>
          <a:solidFill>
            <a:srgbClr val="F2641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D952F6-CA7F-43B3-27B3-9EDB604A036D}"/>
              </a:ext>
            </a:extLst>
          </p:cNvPr>
          <p:cNvSpPr txBox="1"/>
          <p:nvPr/>
        </p:nvSpPr>
        <p:spPr>
          <a:xfrm>
            <a:off x="4344404" y="2652217"/>
            <a:ext cx="1561097" cy="2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000">
                <a:solidFill>
                  <a:srgbClr val="5A6A7E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l-GR" altLang="ko-KR" dirty="0"/>
              <a:t>"Θ</a:t>
            </a:r>
            <a:r>
              <a:rPr lang="ko-KR" altLang="en-US" dirty="0"/>
              <a:t>가 </a:t>
            </a:r>
            <a:r>
              <a:rPr lang="en-US" altLang="ko-KR" dirty="0"/>
              <a:t>0 </a:t>
            </a:r>
            <a:r>
              <a:rPr lang="ko-KR" altLang="en-US" dirty="0"/>
              <a:t>행렬이 되면 안 돼</a:t>
            </a:r>
            <a:r>
              <a:rPr lang="en-US" altLang="ko-KR" dirty="0"/>
              <a:t>!”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9B3F0-94BD-E002-DA26-53067530CB87}"/>
              </a:ext>
            </a:extLst>
          </p:cNvPr>
          <p:cNvSpPr txBox="1"/>
          <p:nvPr/>
        </p:nvSpPr>
        <p:spPr>
          <a:xfrm>
            <a:off x="9670381" y="2652217"/>
            <a:ext cx="1561097" cy="2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000">
                <a:solidFill>
                  <a:srgbClr val="5A6A7E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l-GR" altLang="ko-KR" dirty="0"/>
              <a:t>"</a:t>
            </a:r>
            <a:r>
              <a:rPr lang="ko-KR" altLang="en-US" dirty="0"/>
              <a:t>데이터를 설명해야 해</a:t>
            </a:r>
            <a:r>
              <a:rPr lang="en-US" altLang="ko-KR" dirty="0"/>
              <a:t>!”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F61540-06A0-D55D-6A81-580C4F6C4BE7}"/>
              </a:ext>
            </a:extLst>
          </p:cNvPr>
          <p:cNvSpPr txBox="1"/>
          <p:nvPr/>
        </p:nvSpPr>
        <p:spPr>
          <a:xfrm>
            <a:off x="4344404" y="4431185"/>
            <a:ext cx="1561097" cy="20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000">
                <a:solidFill>
                  <a:srgbClr val="5A6A7E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l-GR" altLang="ko-KR" dirty="0"/>
              <a:t>"</a:t>
            </a:r>
            <a:r>
              <a:rPr lang="ko-KR" altLang="en-US" dirty="0"/>
              <a:t>너무 복잡하면 안 돼</a:t>
            </a:r>
            <a:r>
              <a:rPr lang="en-US" altLang="ko-KR" dirty="0"/>
              <a:t>!”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2037</Words>
  <Application>Microsoft Macintosh PowerPoint</Application>
  <PresentationFormat>와이드스크린</PresentationFormat>
  <Paragraphs>436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Pretendard</vt:lpstr>
      <vt:lpstr>Pretendard Light</vt:lpstr>
      <vt:lpstr>Pretendard Medium</vt:lpstr>
      <vt:lpstr>Pretendard SemiBold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희정 황</cp:lastModifiedBy>
  <cp:revision>8</cp:revision>
  <dcterms:created xsi:type="dcterms:W3CDTF">2025-11-12T04:02:51Z</dcterms:created>
  <dcterms:modified xsi:type="dcterms:W3CDTF">2025-11-25T11:58:11Z</dcterms:modified>
</cp:coreProperties>
</file>