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9" r:id="rId2"/>
    <p:sldId id="257" r:id="rId3"/>
    <p:sldId id="259" r:id="rId4"/>
    <p:sldId id="261" r:id="rId5"/>
    <p:sldId id="262" r:id="rId6"/>
    <p:sldId id="263" r:id="rId7"/>
    <p:sldId id="265" r:id="rId8"/>
    <p:sldId id="266" r:id="rId9"/>
    <p:sldId id="267" r:id="rId10"/>
    <p:sldId id="268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98"/>
    <p:restoredTop sz="94610"/>
  </p:normalViewPr>
  <p:slideViewPr>
    <p:cSldViewPr snapToGrid="0" snapToObjects="1">
      <p:cViewPr>
        <p:scale>
          <a:sx n="94" d="100"/>
          <a:sy n="94" d="100"/>
        </p:scale>
        <p:origin x="14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8666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Pretendard" panose="02000503000000020004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1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Pretendard" panose="02000503000000020004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2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Pretendard" panose="02000503000000020004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3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Pretendard" panose="02000503000000020004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4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Pretendard" panose="02000503000000020004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5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Pretendard" panose="02000503000000020004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6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Pretendard" panose="02000503000000020004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7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Pretendard" panose="02000503000000020004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8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Pretendard" panose="02000503000000020004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9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Pretendard" panose="02000503000000020004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10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ko-KR" altLang="en-US" dirty="0">
              <a:ea typeface="Pretendard" panose="02000503000000020004" pitchFamily="2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52805" y="2667305"/>
            <a:ext cx="1904695" cy="75895"/>
          </a:xfrm>
          <a:prstGeom prst="rect">
            <a:avLst/>
          </a:prstGeom>
          <a:solidFill>
            <a:srgbClr val="F26419"/>
          </a:solidFill>
          <a:ln/>
        </p:spPr>
        <p:txBody>
          <a:bodyPr/>
          <a:lstStyle/>
          <a:p>
            <a:endParaRPr lang="ko-KR" altLang="en-US" dirty="0">
              <a:ea typeface="Pretendard" panose="02000503000000020004" pitchFamily="2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952805" y="2090666"/>
            <a:ext cx="78492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FFFFFF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Identifying Diet Network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952805" y="2694737"/>
            <a:ext cx="99677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FFFFF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Through Gaussian Graphical Network Analysis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0172700" y="6229807"/>
            <a:ext cx="11960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300" dirty="0">
                <a:solidFill>
                  <a:srgbClr val="FFFFFF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[2025.12.11]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alphaModFix amt="3000"/>
          </a:blip>
          <a:srcRect l="-133" r="-133"/>
          <a:stretch/>
        </p:blipFill>
        <p:spPr>
          <a:xfrm>
            <a:off x="9305849" y="2572207"/>
            <a:ext cx="1933956" cy="17145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905902" y="-1429207"/>
            <a:ext cx="5715000" cy="5715000"/>
          </a:xfrm>
          <a:prstGeom prst="ellipse">
            <a:avLst/>
          </a:prstGeom>
          <a:solidFill>
            <a:srgbClr val="048A81">
              <a:alpha val="10000"/>
            </a:srgbClr>
          </a:solidFill>
          <a:ln/>
        </p:spPr>
        <p:txBody>
          <a:bodyPr/>
          <a:lstStyle/>
          <a:p>
            <a:endParaRPr lang="ko-KR" altLang="en-US" dirty="0">
              <a:ea typeface="Pretendard" panose="02000503000000020004" pitchFamily="2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-952805" y="4000500"/>
            <a:ext cx="3810305" cy="3810305"/>
          </a:xfrm>
          <a:prstGeom prst="ellipse">
            <a:avLst/>
          </a:prstGeom>
          <a:solidFill>
            <a:srgbClr val="048A81">
              <a:alpha val="10000"/>
            </a:srgbClr>
          </a:solidFill>
          <a:ln/>
        </p:spPr>
        <p:txBody>
          <a:bodyPr/>
          <a:lstStyle/>
          <a:p>
            <a:endParaRPr lang="ko-KR" altLang="en-US" dirty="0">
              <a:ea typeface="Pretendard" panose="02000503000000020004" pitchFamily="2" charset="-127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38A58428-C0B5-2198-347B-644D02D25CD1}"/>
              </a:ext>
            </a:extLst>
          </p:cNvPr>
          <p:cNvSpPr txBox="1"/>
          <p:nvPr/>
        </p:nvSpPr>
        <p:spPr>
          <a:xfrm>
            <a:off x="952805" y="5495544"/>
            <a:ext cx="139628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황희정</a:t>
            </a:r>
            <a:endParaRPr lang="en-US" sz="16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62C9327B-E9BD-448D-B251-608061A86064}"/>
              </a:ext>
            </a:extLst>
          </p:cNvPr>
          <p:cNvSpPr txBox="1"/>
          <p:nvPr/>
        </p:nvSpPr>
        <p:spPr>
          <a:xfrm>
            <a:off x="952805" y="5848502"/>
            <a:ext cx="359742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FFFFFF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서울대학교</a:t>
            </a:r>
            <a:r>
              <a:rPr lang="en-US" sz="1300" dirty="0">
                <a:solidFill>
                  <a:srgbClr val="FFFFFF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정밀식의학연구실</a:t>
            </a:r>
            <a:endParaRPr lang="en-US" sz="13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FB4AE620-FE6A-4A5B-8AFF-49BC845C66FE}"/>
              </a:ext>
            </a:extLst>
          </p:cNvPr>
          <p:cNvSpPr txBox="1"/>
          <p:nvPr/>
        </p:nvSpPr>
        <p:spPr>
          <a:xfrm>
            <a:off x="1012241" y="3609223"/>
            <a:ext cx="10439530" cy="391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A Sex-Age-Metabolic Syndrome Stratified Approach </a:t>
            </a:r>
            <a:r>
              <a:rPr lang="en-US" altLang="ko-KR" sz="1800" dirty="0">
                <a:solidFill>
                  <a:schemeClr val="bg1">
                    <a:lumMod val="7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to Precision Nutrition in 23,040 Korean Adults</a:t>
            </a:r>
            <a:endParaRPr lang="en-US" altLang="ko-KR" sz="1800" dirty="0">
              <a:solidFill>
                <a:schemeClr val="bg1">
                  <a:lumMod val="75000"/>
                </a:schemeClr>
              </a:solidFill>
              <a:ea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457200" y="224028"/>
            <a:ext cx="38405" cy="457200"/>
          </a:xfrm>
          <a:prstGeom prst="rect">
            <a:avLst/>
          </a:prstGeom>
          <a:solidFill>
            <a:srgbClr val="006C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 txBox="1"/>
          <p:nvPr/>
        </p:nvSpPr>
        <p:spPr>
          <a:xfrm>
            <a:off x="724205" y="243230"/>
            <a:ext cx="605332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1F293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Background &amp; </a:t>
            </a:r>
            <a:r>
              <a:rPr lang="en-US" altLang="ko-KR" sz="2200" b="1" dirty="0">
                <a:solidFill>
                  <a:srgbClr val="1F293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Research Objectives</a:t>
            </a:r>
            <a:endParaRPr lang="en-US" altLang="ko-KR" sz="2200" dirty="0"/>
          </a:p>
        </p:txBody>
      </p:sp>
      <p:sp>
        <p:nvSpPr>
          <p:cNvPr id="24" name="Text 19"/>
          <p:cNvSpPr txBox="1"/>
          <p:nvPr/>
        </p:nvSpPr>
        <p:spPr>
          <a:xfrm>
            <a:off x="10704881" y="357530"/>
            <a:ext cx="9098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Introduction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11582705" y="357530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6C6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01</a:t>
            </a:r>
            <a:endParaRPr lang="en-US" sz="10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07A151A-EA0A-20A1-7766-50EC4E02B1DB}"/>
              </a:ext>
            </a:extLst>
          </p:cNvPr>
          <p:cNvGrpSpPr/>
          <p:nvPr/>
        </p:nvGrpSpPr>
        <p:grpSpPr>
          <a:xfrm>
            <a:off x="457200" y="1228998"/>
            <a:ext cx="5535961" cy="5288185"/>
            <a:chOff x="457200" y="1228998"/>
            <a:chExt cx="5535961" cy="5288185"/>
          </a:xfrm>
        </p:grpSpPr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542A2E48-FF49-433B-8B8D-FA02272AA41F}"/>
                </a:ext>
              </a:extLst>
            </p:cNvPr>
            <p:cNvGrpSpPr/>
            <p:nvPr/>
          </p:nvGrpSpPr>
          <p:grpSpPr>
            <a:xfrm>
              <a:off x="457200" y="1228998"/>
              <a:ext cx="5535961" cy="1533448"/>
              <a:chOff x="457200" y="1042417"/>
              <a:chExt cx="5535961" cy="1533448"/>
            </a:xfrm>
          </p:grpSpPr>
          <p:pic>
            <p:nvPicPr>
              <p:cNvPr id="3" name="Image 0" descr="preencoded.png"/>
              <p:cNvPicPr>
                <a:picLocks noChangeAspect="1"/>
              </p:cNvPicPr>
              <p:nvPr/>
            </p:nvPicPr>
            <p:blipFill>
              <a:blip r:embed="rId3"/>
              <a:srcRect/>
              <a:stretch/>
            </p:blipFill>
            <p:spPr>
              <a:xfrm>
                <a:off x="457200" y="1042417"/>
                <a:ext cx="476402" cy="476402"/>
              </a:xfrm>
              <a:prstGeom prst="rect">
                <a:avLst/>
              </a:prstGeom>
            </p:spPr>
          </p:pic>
          <p:sp>
            <p:nvSpPr>
              <p:cNvPr id="4" name="Text 1"/>
              <p:cNvSpPr txBox="1"/>
              <p:nvPr/>
            </p:nvSpPr>
            <p:spPr>
              <a:xfrm>
                <a:off x="1061159" y="1147573"/>
                <a:ext cx="4932000" cy="2670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500" b="1" dirty="0">
                    <a:solidFill>
                      <a:srgbClr val="006C67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대사증후군(Metabolic Syndrome)의 </a:t>
                </a:r>
                <a:r>
                  <a:rPr lang="en-US" sz="1500" b="1" dirty="0" err="1">
                    <a:solidFill>
                      <a:srgbClr val="006C67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위협</a:t>
                </a:r>
                <a:endParaRPr lang="en-US" sz="1500" dirty="0"/>
              </a:p>
            </p:txBody>
          </p:sp>
          <p:sp>
            <p:nvSpPr>
              <p:cNvPr id="5" name="Shape 2"/>
              <p:cNvSpPr/>
              <p:nvPr/>
            </p:nvSpPr>
            <p:spPr>
              <a:xfrm>
                <a:off x="695401" y="1633119"/>
                <a:ext cx="19202" cy="942746"/>
              </a:xfrm>
              <a:prstGeom prst="rect">
                <a:avLst/>
              </a:prstGeom>
              <a:solidFill>
                <a:srgbClr val="F3F4F6"/>
              </a:solidFill>
              <a:ln/>
            </p:spPr>
            <p:txBody>
              <a:bodyPr/>
              <a:lstStyle/>
              <a:p>
                <a:endParaRPr lang="ko-KR" altLang="en-US"/>
              </a:p>
            </p:txBody>
          </p: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15704C70-49A3-49F7-8B92-F62407BD1996}"/>
                  </a:ext>
                </a:extLst>
              </p:cNvPr>
              <p:cNvGrpSpPr/>
              <p:nvPr/>
            </p:nvGrpSpPr>
            <p:grpSpPr>
              <a:xfrm>
                <a:off x="1061159" y="1680643"/>
                <a:ext cx="4932002" cy="758011"/>
                <a:chOff x="933600" y="1699821"/>
                <a:chExt cx="5115581" cy="758011"/>
              </a:xfrm>
            </p:grpSpPr>
            <p:sp>
              <p:nvSpPr>
                <p:cNvPr id="6" name="Text 3"/>
                <p:cNvSpPr txBox="1"/>
                <p:nvPr/>
              </p:nvSpPr>
              <p:spPr>
                <a:xfrm>
                  <a:off x="933600" y="1699821"/>
                  <a:ext cx="5115579" cy="49194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r>
                    <a:rPr lang="en-US" altLang="ko-KR" sz="1300" b="1" dirty="0" err="1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식이</a:t>
                  </a:r>
                  <a:r>
                    <a:rPr lang="en-US" altLang="ko-KR" sz="1300" b="1" dirty="0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b="1" dirty="0" err="1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중재</a:t>
                  </a:r>
                  <a:r>
                    <a:rPr lang="en-US" altLang="ko-KR" sz="1300" b="1" dirty="0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(Dietary Modification)</a:t>
                  </a:r>
                  <a:r>
                    <a:rPr lang="en-US" altLang="ko-KR" sz="1300" b="1" dirty="0" err="1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는</a:t>
                  </a:r>
                  <a:r>
                    <a:rPr lang="en-US" altLang="ko-KR" sz="1300" b="1" dirty="0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ko-KR" altLang="en-US" sz="1300" b="1" dirty="0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대사증후군 </a:t>
                  </a:r>
                  <a:r>
                    <a:rPr lang="en-US" altLang="ko-KR" sz="1300" b="1" dirty="0" err="1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예방과</a:t>
                  </a:r>
                  <a:r>
                    <a:rPr lang="en-US" altLang="ko-KR" sz="1300" b="1" dirty="0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b="1" dirty="0" err="1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관리의</a:t>
                  </a:r>
                  <a:r>
                    <a:rPr lang="en-US" altLang="ko-KR" sz="1300" b="1" dirty="0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b="1" dirty="0" err="1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핵심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이나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, </a:t>
                  </a:r>
                </a:p>
                <a:p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효과적인</a:t>
                  </a:r>
                  <a:r>
                    <a:rPr lang="en-US" altLang="ko-KR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실행에는</a:t>
                  </a:r>
                  <a:r>
                    <a:rPr lang="en-US" altLang="ko-KR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한계가</a:t>
                  </a:r>
                  <a:r>
                    <a:rPr lang="en-US" altLang="ko-KR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존재함</a:t>
                  </a:r>
                  <a:endParaRPr lang="en-US" altLang="ko-KR" sz="1300" dirty="0">
                    <a:solidFill>
                      <a:srgbClr val="374151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endParaRPr>
                </a:p>
              </p:txBody>
            </p:sp>
            <p:sp>
              <p:nvSpPr>
                <p:cNvPr id="8" name="Text 5"/>
                <p:cNvSpPr txBox="1"/>
                <p:nvPr/>
              </p:nvSpPr>
              <p:spPr>
                <a:xfrm>
                  <a:off x="933602" y="2318919"/>
                  <a:ext cx="5115579" cy="138913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buNone/>
                  </a:pP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세계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성인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인구의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약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25%가 </a:t>
                  </a:r>
                  <a:r>
                    <a:rPr lang="ko-KR" altLang="en-US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대사증후군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을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ko-KR" altLang="en-US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겪고있으며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,</a:t>
                  </a:r>
                  <a:r>
                    <a:rPr lang="ko-KR" altLang="en-US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endParaRPr lang="en-US" altLang="ko-KR" sz="1200" dirty="0">
                    <a:solidFill>
                      <a:srgbClr val="6B7280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endParaRPr>
                </a:p>
                <a:p>
                  <a:pPr marL="0" indent="0" algn="l">
                    <a:buNone/>
                  </a:pPr>
                  <a:r>
                    <a:rPr lang="ko-KR" altLang="en-US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대사증후군은 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제2형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당뇨병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및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심혈관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질환</a:t>
                  </a:r>
                  <a:r>
                    <a:rPr lang="ko-KR" altLang="en-US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위험을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증가시킴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.</a:t>
                  </a:r>
                </a:p>
              </p:txBody>
            </p:sp>
          </p:grp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93B54237-ABB1-42EE-8C65-44A6BE119A42}"/>
                </a:ext>
              </a:extLst>
            </p:cNvPr>
            <p:cNvGrpSpPr/>
            <p:nvPr/>
          </p:nvGrpSpPr>
          <p:grpSpPr>
            <a:xfrm>
              <a:off x="457200" y="3105667"/>
              <a:ext cx="5535961" cy="1533448"/>
              <a:chOff x="457200" y="1042417"/>
              <a:chExt cx="5535961" cy="1533448"/>
            </a:xfrm>
          </p:grpSpPr>
          <p:pic>
            <p:nvPicPr>
              <p:cNvPr id="51" name="Image 0" descr="preencoded.png">
                <a:extLst>
                  <a:ext uri="{FF2B5EF4-FFF2-40B4-BE49-F238E27FC236}">
                    <a16:creationId xmlns:a16="http://schemas.microsoft.com/office/drawing/2014/main" id="{C121462A-D318-4EBB-9650-AF05E0C9B6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/>
              <a:stretch/>
            </p:blipFill>
            <p:spPr>
              <a:xfrm>
                <a:off x="457200" y="1042417"/>
                <a:ext cx="476402" cy="476402"/>
              </a:xfrm>
              <a:prstGeom prst="rect">
                <a:avLst/>
              </a:prstGeom>
            </p:spPr>
          </p:pic>
          <p:sp>
            <p:nvSpPr>
              <p:cNvPr id="52" name="Text 1">
                <a:extLst>
                  <a:ext uri="{FF2B5EF4-FFF2-40B4-BE49-F238E27FC236}">
                    <a16:creationId xmlns:a16="http://schemas.microsoft.com/office/drawing/2014/main" id="{1640812D-192B-4D01-AF3B-B5497113F02D}"/>
                  </a:ext>
                </a:extLst>
              </p:cNvPr>
              <p:cNvSpPr txBox="1"/>
              <p:nvPr/>
            </p:nvSpPr>
            <p:spPr>
              <a:xfrm>
                <a:off x="1061159" y="1147573"/>
                <a:ext cx="4932000" cy="2670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altLang="ko-KR" sz="1500" b="1" dirty="0" err="1">
                    <a:solidFill>
                      <a:srgbClr val="006C67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전통적</a:t>
                </a:r>
                <a:r>
                  <a:rPr lang="en-US" altLang="ko-KR" sz="1500" b="1" dirty="0">
                    <a:solidFill>
                      <a:srgbClr val="006C67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 </a:t>
                </a:r>
                <a:r>
                  <a:rPr lang="en-US" altLang="ko-KR" sz="1500" b="1" dirty="0" err="1">
                    <a:solidFill>
                      <a:srgbClr val="006C67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식이</a:t>
                </a:r>
                <a:r>
                  <a:rPr lang="en-US" altLang="ko-KR" sz="1500" b="1" dirty="0">
                    <a:solidFill>
                      <a:srgbClr val="006C67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 </a:t>
                </a:r>
                <a:r>
                  <a:rPr lang="en-US" altLang="ko-KR" sz="1500" b="1" dirty="0" err="1">
                    <a:solidFill>
                      <a:srgbClr val="006C67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패턴</a:t>
                </a:r>
                <a:r>
                  <a:rPr lang="en-US" altLang="ko-KR" sz="1500" b="1" dirty="0">
                    <a:solidFill>
                      <a:srgbClr val="006C67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 </a:t>
                </a:r>
                <a:r>
                  <a:rPr lang="en-US" altLang="ko-KR" sz="1500" b="1" dirty="0" err="1">
                    <a:solidFill>
                      <a:srgbClr val="006C67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분석의</a:t>
                </a:r>
                <a:r>
                  <a:rPr lang="en-US" altLang="ko-KR" sz="1500" b="1" dirty="0">
                    <a:solidFill>
                      <a:srgbClr val="006C67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 </a:t>
                </a:r>
                <a:r>
                  <a:rPr lang="en-US" altLang="ko-KR" sz="1500" b="1" dirty="0" err="1">
                    <a:solidFill>
                      <a:srgbClr val="006C67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한계</a:t>
                </a:r>
                <a:endParaRPr lang="en-US" altLang="ko-KR" sz="1500" dirty="0"/>
              </a:p>
            </p:txBody>
          </p:sp>
          <p:sp>
            <p:nvSpPr>
              <p:cNvPr id="53" name="Shape 2">
                <a:extLst>
                  <a:ext uri="{FF2B5EF4-FFF2-40B4-BE49-F238E27FC236}">
                    <a16:creationId xmlns:a16="http://schemas.microsoft.com/office/drawing/2014/main" id="{D6769FD9-E35A-4880-9C44-0849A42311DF}"/>
                  </a:ext>
                </a:extLst>
              </p:cNvPr>
              <p:cNvSpPr/>
              <p:nvPr/>
            </p:nvSpPr>
            <p:spPr>
              <a:xfrm>
                <a:off x="695401" y="1633119"/>
                <a:ext cx="19202" cy="942746"/>
              </a:xfrm>
              <a:prstGeom prst="rect">
                <a:avLst/>
              </a:prstGeom>
              <a:solidFill>
                <a:srgbClr val="F3F4F6"/>
              </a:solidFill>
              <a:ln/>
            </p:spPr>
            <p:txBody>
              <a:bodyPr/>
              <a:lstStyle/>
              <a:p>
                <a:endParaRPr lang="ko-KR" altLang="en-US"/>
              </a:p>
            </p:txBody>
          </p:sp>
          <p:grpSp>
            <p:nvGrpSpPr>
              <p:cNvPr id="54" name="그룹 53">
                <a:extLst>
                  <a:ext uri="{FF2B5EF4-FFF2-40B4-BE49-F238E27FC236}">
                    <a16:creationId xmlns:a16="http://schemas.microsoft.com/office/drawing/2014/main" id="{408F2912-BC3D-45FA-BC06-D81266A7944C}"/>
                  </a:ext>
                </a:extLst>
              </p:cNvPr>
              <p:cNvGrpSpPr/>
              <p:nvPr/>
            </p:nvGrpSpPr>
            <p:grpSpPr>
              <a:xfrm>
                <a:off x="1061159" y="1680643"/>
                <a:ext cx="4932002" cy="847698"/>
                <a:chOff x="933600" y="1699821"/>
                <a:chExt cx="5115582" cy="847698"/>
              </a:xfrm>
            </p:grpSpPr>
            <p:sp>
              <p:nvSpPr>
                <p:cNvPr id="55" name="Text 3">
                  <a:extLst>
                    <a:ext uri="{FF2B5EF4-FFF2-40B4-BE49-F238E27FC236}">
                      <a16:creationId xmlns:a16="http://schemas.microsoft.com/office/drawing/2014/main" id="{DF5FDF42-9C45-43F4-AC9C-725791534949}"/>
                    </a:ext>
                  </a:extLst>
                </p:cNvPr>
                <p:cNvSpPr txBox="1"/>
                <p:nvPr/>
              </p:nvSpPr>
              <p:spPr>
                <a:xfrm>
                  <a:off x="933600" y="1699821"/>
                  <a:ext cx="5115580" cy="49194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단순</a:t>
                  </a:r>
                  <a:r>
                    <a:rPr lang="en-US" altLang="ko-KR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공존</a:t>
                  </a:r>
                  <a:r>
                    <a:rPr lang="en-US" altLang="ko-KR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빈도</a:t>
                  </a:r>
                  <a:r>
                    <a:rPr lang="en-US" altLang="ko-KR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(Co-occurrence)에 </a:t>
                  </a:r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의존하여</a:t>
                  </a:r>
                  <a:r>
                    <a:rPr lang="en-US" altLang="ko-KR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</a:p>
                <a:p>
                  <a:pPr marL="0" indent="0" algn="l">
                    <a:buNone/>
                  </a:pPr>
                  <a:r>
                    <a:rPr lang="en-US" altLang="ko-KR" sz="1300" b="1" dirty="0" err="1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복잡한</a:t>
                  </a:r>
                  <a:r>
                    <a:rPr lang="en-US" altLang="ko-KR" sz="1300" b="1" dirty="0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b="1" dirty="0" err="1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조건부</a:t>
                  </a:r>
                  <a:r>
                    <a:rPr lang="en-US" altLang="ko-KR" sz="1300" b="1" dirty="0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b="1" dirty="0" err="1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의존성을</a:t>
                  </a:r>
                  <a:r>
                    <a:rPr lang="en-US" altLang="ko-KR" sz="1300" b="1" dirty="0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b="1" dirty="0" err="1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간과</a:t>
                  </a:r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함</a:t>
                  </a:r>
                  <a:r>
                    <a:rPr lang="en-US" altLang="ko-KR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.</a:t>
                  </a:r>
                  <a:endParaRPr lang="en-US" altLang="ko-KR" sz="1300" dirty="0"/>
                </a:p>
              </p:txBody>
            </p:sp>
            <p:sp>
              <p:nvSpPr>
                <p:cNvPr id="56" name="Text 5">
                  <a:extLst>
                    <a:ext uri="{FF2B5EF4-FFF2-40B4-BE49-F238E27FC236}">
                      <a16:creationId xmlns:a16="http://schemas.microsoft.com/office/drawing/2014/main" id="{1940E247-3EEE-4438-8D33-79A2FA0DCB1A}"/>
                    </a:ext>
                  </a:extLst>
                </p:cNvPr>
                <p:cNvSpPr txBox="1"/>
                <p:nvPr/>
              </p:nvSpPr>
              <p:spPr>
                <a:xfrm>
                  <a:off x="933602" y="2318919"/>
                  <a:ext cx="5115580" cy="2286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buNone/>
                  </a:pP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특정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인구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집단에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맞는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구체적이고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실행</a:t>
                  </a:r>
                  <a:r>
                    <a:rPr lang="ko-KR" altLang="en-US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가능한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</a:p>
                <a:p>
                  <a:pPr marL="0" indent="0" algn="l">
                    <a:buNone/>
                  </a:pP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타깃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ko-KR" altLang="en-US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식이를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식별하는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데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실패</a:t>
                  </a:r>
                  <a:r>
                    <a:rPr lang="ko-KR" altLang="en-US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할 가능성이 큼</a:t>
                  </a:r>
                  <a:endParaRPr lang="en-US" altLang="ko-KR" sz="1200" dirty="0"/>
                </a:p>
              </p:txBody>
            </p:sp>
          </p:grpSp>
        </p:grp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36042EB1-6B3C-447C-BAAC-9678A6BD1104}"/>
                </a:ext>
              </a:extLst>
            </p:cNvPr>
            <p:cNvGrpSpPr/>
            <p:nvPr/>
          </p:nvGrpSpPr>
          <p:grpSpPr>
            <a:xfrm>
              <a:off x="466446" y="4982337"/>
              <a:ext cx="5526713" cy="1534846"/>
              <a:chOff x="228600" y="4684014"/>
              <a:chExt cx="5526713" cy="1534846"/>
            </a:xfrm>
          </p:grpSpPr>
          <p:grpSp>
            <p:nvGrpSpPr>
              <p:cNvPr id="57" name="그룹 56">
                <a:extLst>
                  <a:ext uri="{FF2B5EF4-FFF2-40B4-BE49-F238E27FC236}">
                    <a16:creationId xmlns:a16="http://schemas.microsoft.com/office/drawing/2014/main" id="{696DD674-5563-4BB9-A2A1-A8FD086B8E05}"/>
                  </a:ext>
                </a:extLst>
              </p:cNvPr>
              <p:cNvGrpSpPr/>
              <p:nvPr/>
            </p:nvGrpSpPr>
            <p:grpSpPr>
              <a:xfrm>
                <a:off x="457555" y="4790568"/>
                <a:ext cx="5297758" cy="1428292"/>
                <a:chOff x="695401" y="1147573"/>
                <a:chExt cx="5297758" cy="1428292"/>
              </a:xfrm>
            </p:grpSpPr>
            <p:sp>
              <p:nvSpPr>
                <p:cNvPr id="59" name="Text 1">
                  <a:extLst>
                    <a:ext uri="{FF2B5EF4-FFF2-40B4-BE49-F238E27FC236}">
                      <a16:creationId xmlns:a16="http://schemas.microsoft.com/office/drawing/2014/main" id="{48AEAD53-29CC-44B6-A821-ED1D9FEAED6D}"/>
                    </a:ext>
                  </a:extLst>
                </p:cNvPr>
                <p:cNvSpPr txBox="1"/>
                <p:nvPr/>
              </p:nvSpPr>
              <p:spPr>
                <a:xfrm>
                  <a:off x="1061159" y="1147573"/>
                  <a:ext cx="4932000" cy="267005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altLang="ko-KR" sz="1500" b="1" dirty="0" err="1">
                      <a:solidFill>
                        <a:srgbClr val="006C67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정밀영양</a:t>
                  </a:r>
                  <a:r>
                    <a:rPr lang="en-US" altLang="ko-KR" sz="1500" b="1" dirty="0">
                      <a:solidFill>
                        <a:srgbClr val="006C67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(Precision Nutrition)의 </a:t>
                  </a:r>
                  <a:r>
                    <a:rPr lang="en-US" altLang="ko-KR" sz="1500" b="1" dirty="0" err="1">
                      <a:solidFill>
                        <a:srgbClr val="006C67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필요성</a:t>
                  </a:r>
                  <a:endParaRPr lang="en-US" altLang="ko-KR" sz="1500" dirty="0"/>
                </a:p>
              </p:txBody>
            </p:sp>
            <p:sp>
              <p:nvSpPr>
                <p:cNvPr id="60" name="Shape 2">
                  <a:extLst>
                    <a:ext uri="{FF2B5EF4-FFF2-40B4-BE49-F238E27FC236}">
                      <a16:creationId xmlns:a16="http://schemas.microsoft.com/office/drawing/2014/main" id="{018C4CB0-D030-451B-9996-7869CF1F14D1}"/>
                    </a:ext>
                  </a:extLst>
                </p:cNvPr>
                <p:cNvSpPr/>
                <p:nvPr/>
              </p:nvSpPr>
              <p:spPr>
                <a:xfrm>
                  <a:off x="695401" y="1633119"/>
                  <a:ext cx="19202" cy="942746"/>
                </a:xfrm>
                <a:prstGeom prst="rect">
                  <a:avLst/>
                </a:prstGeom>
                <a:solidFill>
                  <a:srgbClr val="F3F4F6"/>
                </a:solidFill>
                <a:ln/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2" name="Text 3">
                  <a:extLst>
                    <a:ext uri="{FF2B5EF4-FFF2-40B4-BE49-F238E27FC236}">
                      <a16:creationId xmlns:a16="http://schemas.microsoft.com/office/drawing/2014/main" id="{1434B332-554A-4AB5-9065-D34EB14E21FD}"/>
                    </a:ext>
                  </a:extLst>
                </p:cNvPr>
                <p:cNvSpPr txBox="1"/>
                <p:nvPr/>
              </p:nvSpPr>
              <p:spPr>
                <a:xfrm>
                  <a:off x="1061159" y="1680643"/>
                  <a:ext cx="4932000" cy="49194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인구통계학적</a:t>
                  </a:r>
                  <a:r>
                    <a:rPr lang="en-US" altLang="ko-KR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및 </a:t>
                  </a:r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대사적</a:t>
                  </a:r>
                  <a:r>
                    <a:rPr lang="en-US" altLang="ko-KR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이질성을</a:t>
                  </a:r>
                  <a:r>
                    <a:rPr lang="en-US" altLang="ko-KR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고려하여</a:t>
                  </a:r>
                  <a:r>
                    <a:rPr lang="en-US" altLang="ko-KR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</a:p>
                <a:p>
                  <a:pPr marL="0" indent="0" algn="l">
                    <a:buNone/>
                  </a:pPr>
                  <a:r>
                    <a:rPr lang="en-US" altLang="ko-KR" sz="1300" b="1" dirty="0" err="1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성별</a:t>
                  </a:r>
                  <a:r>
                    <a:rPr lang="en-US" altLang="ko-KR" sz="1300" b="1" dirty="0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· </a:t>
                  </a:r>
                  <a:r>
                    <a:rPr lang="en-US" altLang="ko-KR" sz="1300" b="1" dirty="0" err="1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연령</a:t>
                  </a:r>
                  <a:r>
                    <a:rPr lang="en-US" altLang="ko-KR" sz="1300" b="1" dirty="0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· </a:t>
                  </a:r>
                  <a:r>
                    <a:rPr lang="en-US" altLang="ko-KR" sz="1300" b="1" dirty="0" err="1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대사</a:t>
                  </a:r>
                  <a:r>
                    <a:rPr lang="en-US" altLang="ko-KR" sz="1300" b="1" dirty="0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b="1" dirty="0" err="1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상태</a:t>
                  </a:r>
                  <a:r>
                    <a:rPr lang="en-US" altLang="ko-KR" sz="1300" b="1" dirty="0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(</a:t>
                  </a:r>
                  <a:r>
                    <a:rPr lang="en-US" altLang="ko-KR" sz="1300" b="1" dirty="0" err="1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MetS</a:t>
                  </a:r>
                  <a:r>
                    <a:rPr lang="en-US" altLang="ko-KR" sz="1300" b="1" dirty="0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)</a:t>
                  </a:r>
                  <a:r>
                    <a:rPr lang="en-US" altLang="ko-KR" sz="1300" b="1" dirty="0" err="1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에</a:t>
                  </a:r>
                  <a:r>
                    <a:rPr lang="en-US" altLang="ko-KR" sz="1300" b="1" dirty="0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b="1" dirty="0" err="1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따라</a:t>
                  </a:r>
                  <a:r>
                    <a:rPr lang="en-US" altLang="ko-KR" sz="1300" b="1" dirty="0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b="1" dirty="0" err="1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층화된</a:t>
                  </a:r>
                  <a:r>
                    <a:rPr lang="en-US" altLang="ko-KR" sz="1300" b="1" dirty="0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b="1" dirty="0" err="1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맞춤형</a:t>
                  </a:r>
                  <a:r>
                    <a:rPr lang="en-US" altLang="ko-KR" sz="1300" b="1" dirty="0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b="1" dirty="0" err="1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전략</a:t>
                  </a:r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이</a:t>
                  </a:r>
                  <a:r>
                    <a:rPr lang="en-US" altLang="ko-KR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필</a:t>
                  </a:r>
                  <a:r>
                    <a:rPr lang="ko-KR" altLang="en-US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요함</a:t>
                  </a:r>
                  <a:r>
                    <a:rPr lang="en-US" altLang="ko-KR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.</a:t>
                  </a:r>
                  <a:endParaRPr lang="en-US" altLang="ko-KR" sz="1300" dirty="0"/>
                </a:p>
              </p:txBody>
            </p:sp>
          </p:grpSp>
          <p:pic>
            <p:nvPicPr>
              <p:cNvPr id="64" name="Image 2" descr="preencoded.png">
                <a:extLst>
                  <a:ext uri="{FF2B5EF4-FFF2-40B4-BE49-F238E27FC236}">
                    <a16:creationId xmlns:a16="http://schemas.microsoft.com/office/drawing/2014/main" id="{8C597227-A321-41BA-BECF-744A8E1A0A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/>
              <a:stretch/>
            </p:blipFill>
            <p:spPr>
              <a:xfrm>
                <a:off x="228600" y="4684014"/>
                <a:ext cx="476402" cy="476402"/>
              </a:xfrm>
              <a:prstGeom prst="rect">
                <a:avLst/>
              </a:prstGeom>
            </p:spPr>
          </p:pic>
        </p:grpSp>
      </p:grp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EB7A96B1-AC7E-C4E9-95B2-43E04C11B0E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4071" b="-4071"/>
          <a:stretch/>
        </p:blipFill>
        <p:spPr>
          <a:xfrm>
            <a:off x="6309584" y="1223959"/>
            <a:ext cx="495605" cy="47640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86028245-1712-5781-A0BF-FAAB0051EEB0}"/>
              </a:ext>
            </a:extLst>
          </p:cNvPr>
          <p:cNvGrpSpPr/>
          <p:nvPr/>
        </p:nvGrpSpPr>
        <p:grpSpPr>
          <a:xfrm>
            <a:off x="6538234" y="1334154"/>
            <a:ext cx="5297760" cy="5183029"/>
            <a:chOff x="695401" y="1334154"/>
            <a:chExt cx="5297760" cy="5183029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8F1533E-CA0B-38FE-187B-96BA6779CF16}"/>
                </a:ext>
              </a:extLst>
            </p:cNvPr>
            <p:cNvGrpSpPr/>
            <p:nvPr/>
          </p:nvGrpSpPr>
          <p:grpSpPr>
            <a:xfrm>
              <a:off x="695401" y="1334154"/>
              <a:ext cx="5297760" cy="1428292"/>
              <a:chOff x="695401" y="1147573"/>
              <a:chExt cx="5297760" cy="1428292"/>
            </a:xfrm>
          </p:grpSpPr>
          <p:sp>
            <p:nvSpPr>
              <p:cNvPr id="28" name="Text 1">
                <a:extLst>
                  <a:ext uri="{FF2B5EF4-FFF2-40B4-BE49-F238E27FC236}">
                    <a16:creationId xmlns:a16="http://schemas.microsoft.com/office/drawing/2014/main" id="{B963638E-C8B1-6818-6867-D3ACD0113E48}"/>
                  </a:ext>
                </a:extLst>
              </p:cNvPr>
              <p:cNvSpPr txBox="1"/>
              <p:nvPr/>
            </p:nvSpPr>
            <p:spPr>
              <a:xfrm>
                <a:off x="1061159" y="1147573"/>
                <a:ext cx="4932000" cy="2670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altLang="ko-KR" sz="1500" b="1" dirty="0">
                    <a:solidFill>
                      <a:srgbClr val="006C67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Gaussian Graphical Model (GGM) </a:t>
                </a:r>
                <a:r>
                  <a:rPr lang="en-US" altLang="ko-KR" sz="1500" b="1" dirty="0" err="1">
                    <a:solidFill>
                      <a:srgbClr val="006C67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구축</a:t>
                </a:r>
                <a:endParaRPr lang="en-US" altLang="ko-KR" sz="1500" dirty="0"/>
              </a:p>
            </p:txBody>
          </p:sp>
          <p:sp>
            <p:nvSpPr>
              <p:cNvPr id="29" name="Shape 2">
                <a:extLst>
                  <a:ext uri="{FF2B5EF4-FFF2-40B4-BE49-F238E27FC236}">
                    <a16:creationId xmlns:a16="http://schemas.microsoft.com/office/drawing/2014/main" id="{C8772C99-81CA-C1AB-DD7F-D13F386BA8F3}"/>
                  </a:ext>
                </a:extLst>
              </p:cNvPr>
              <p:cNvSpPr/>
              <p:nvPr/>
            </p:nvSpPr>
            <p:spPr>
              <a:xfrm>
                <a:off x="695401" y="1633119"/>
                <a:ext cx="19202" cy="942746"/>
              </a:xfrm>
              <a:prstGeom prst="rect">
                <a:avLst/>
              </a:prstGeom>
              <a:solidFill>
                <a:srgbClr val="F3F4F6"/>
              </a:solidFill>
              <a:ln/>
            </p:spPr>
            <p:txBody>
              <a:bodyPr/>
              <a:lstStyle/>
              <a:p>
                <a:endParaRPr lang="ko-KR" altLang="en-US"/>
              </a:p>
            </p:txBody>
          </p:sp>
          <p:grpSp>
            <p:nvGrpSpPr>
              <p:cNvPr id="30" name="그룹 29">
                <a:extLst>
                  <a:ext uri="{FF2B5EF4-FFF2-40B4-BE49-F238E27FC236}">
                    <a16:creationId xmlns:a16="http://schemas.microsoft.com/office/drawing/2014/main" id="{545110D9-3393-B8D4-545D-75C8ACAB581C}"/>
                  </a:ext>
                </a:extLst>
              </p:cNvPr>
              <p:cNvGrpSpPr/>
              <p:nvPr/>
            </p:nvGrpSpPr>
            <p:grpSpPr>
              <a:xfrm>
                <a:off x="1061159" y="1680643"/>
                <a:ext cx="4932002" cy="847698"/>
                <a:chOff x="933600" y="1699821"/>
                <a:chExt cx="5115582" cy="847698"/>
              </a:xfrm>
            </p:grpSpPr>
            <p:sp>
              <p:nvSpPr>
                <p:cNvPr id="31" name="Text 3">
                  <a:extLst>
                    <a:ext uri="{FF2B5EF4-FFF2-40B4-BE49-F238E27FC236}">
                      <a16:creationId xmlns:a16="http://schemas.microsoft.com/office/drawing/2014/main" id="{F5CE96EA-3147-C7DA-56A3-440FE303B373}"/>
                    </a:ext>
                  </a:extLst>
                </p:cNvPr>
                <p:cNvSpPr txBox="1"/>
                <p:nvPr/>
              </p:nvSpPr>
              <p:spPr>
                <a:xfrm>
                  <a:off x="933600" y="1699821"/>
                  <a:ext cx="5115580" cy="49194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조건부</a:t>
                  </a:r>
                  <a:r>
                    <a:rPr lang="en-US" altLang="ko-KR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의존성을</a:t>
                  </a:r>
                  <a:r>
                    <a:rPr lang="en-US" altLang="ko-KR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모델링하여</a:t>
                  </a:r>
                  <a:r>
                    <a:rPr lang="en-US" altLang="ko-KR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식품</a:t>
                  </a:r>
                  <a:r>
                    <a:rPr lang="en-US" altLang="ko-KR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간의</a:t>
                  </a:r>
                  <a:r>
                    <a:rPr lang="en-US" altLang="ko-KR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복잡한</a:t>
                  </a:r>
                  <a:r>
                    <a:rPr lang="en-US" altLang="ko-KR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상호작용을</a:t>
                  </a:r>
                  <a:r>
                    <a:rPr lang="en-US" altLang="ko-KR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파악하는</a:t>
                  </a:r>
                  <a:endParaRPr lang="en-US" altLang="ko-KR" sz="1300" dirty="0">
                    <a:solidFill>
                      <a:srgbClr val="374151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endParaRPr>
                </a:p>
                <a:p>
                  <a:r>
                    <a:rPr lang="en-US" altLang="ko-KR" sz="1300" b="1" dirty="0" err="1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부분상관</a:t>
                  </a:r>
                  <a:r>
                    <a:rPr lang="en-US" altLang="ko-KR" sz="1300" b="1" dirty="0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(Partial Correlation) </a:t>
                  </a:r>
                  <a:r>
                    <a:rPr lang="en-US" altLang="ko-KR" sz="1300" b="1" dirty="0" err="1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기반</a:t>
                  </a:r>
                  <a:r>
                    <a:rPr lang="en-US" altLang="ko-KR" sz="1300" b="1" dirty="0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b="1" dirty="0" err="1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네트워크</a:t>
                  </a:r>
                  <a:r>
                    <a:rPr lang="en-US" altLang="ko-KR" sz="1300" b="1" dirty="0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구축</a:t>
                  </a:r>
                  <a:endParaRPr lang="en-US" altLang="ko-KR" sz="1300" dirty="0"/>
                </a:p>
              </p:txBody>
            </p:sp>
            <p:sp>
              <p:nvSpPr>
                <p:cNvPr id="32" name="Text 5">
                  <a:extLst>
                    <a:ext uri="{FF2B5EF4-FFF2-40B4-BE49-F238E27FC236}">
                      <a16:creationId xmlns:a16="http://schemas.microsoft.com/office/drawing/2014/main" id="{2E4296B4-799A-C1DB-EA54-37BF3651E23E}"/>
                    </a:ext>
                  </a:extLst>
                </p:cNvPr>
                <p:cNvSpPr txBox="1"/>
                <p:nvPr/>
              </p:nvSpPr>
              <p:spPr>
                <a:xfrm>
                  <a:off x="933602" y="2318919"/>
                  <a:ext cx="5115580" cy="2286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단순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상관관계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분석의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교란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효과를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통제하여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진정한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직접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연관성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규명</a:t>
                  </a:r>
                  <a:endParaRPr lang="en-US" altLang="ko-KR" sz="1200" dirty="0"/>
                </a:p>
              </p:txBody>
            </p:sp>
          </p:grp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D93B231A-741F-9A64-FCD7-47040FBAA551}"/>
                </a:ext>
              </a:extLst>
            </p:cNvPr>
            <p:cNvGrpSpPr/>
            <p:nvPr/>
          </p:nvGrpSpPr>
          <p:grpSpPr>
            <a:xfrm>
              <a:off x="695401" y="3210823"/>
              <a:ext cx="5297760" cy="1428292"/>
              <a:chOff x="695401" y="1147573"/>
              <a:chExt cx="5297760" cy="1428292"/>
            </a:xfrm>
          </p:grpSpPr>
          <p:sp>
            <p:nvSpPr>
              <p:cNvPr id="18" name="Text 1">
                <a:extLst>
                  <a:ext uri="{FF2B5EF4-FFF2-40B4-BE49-F238E27FC236}">
                    <a16:creationId xmlns:a16="http://schemas.microsoft.com/office/drawing/2014/main" id="{E35785F5-9741-7548-CF80-E77C9922E55F}"/>
                  </a:ext>
                </a:extLst>
              </p:cNvPr>
              <p:cNvSpPr txBox="1"/>
              <p:nvPr/>
            </p:nvSpPr>
            <p:spPr>
              <a:xfrm>
                <a:off x="1061159" y="1147573"/>
                <a:ext cx="4932000" cy="2670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altLang="ko-KR" sz="1500" b="1" dirty="0" err="1">
                    <a:solidFill>
                      <a:srgbClr val="006C67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성별·연령·MetS</a:t>
                </a:r>
                <a:r>
                  <a:rPr lang="en-US" altLang="ko-KR" sz="1500" b="1" dirty="0">
                    <a:solidFill>
                      <a:srgbClr val="006C67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 </a:t>
                </a:r>
                <a:r>
                  <a:rPr lang="en-US" altLang="ko-KR" sz="1500" b="1" dirty="0" err="1">
                    <a:solidFill>
                      <a:srgbClr val="006C67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층화</a:t>
                </a:r>
                <a:r>
                  <a:rPr lang="en-US" altLang="ko-KR" sz="1500" b="1" dirty="0">
                    <a:solidFill>
                      <a:srgbClr val="006C67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 </a:t>
                </a:r>
                <a:r>
                  <a:rPr lang="en-US" altLang="ko-KR" sz="1500" b="1" dirty="0" err="1">
                    <a:solidFill>
                      <a:srgbClr val="006C67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허브</a:t>
                </a:r>
                <a:r>
                  <a:rPr lang="en-US" altLang="ko-KR" sz="1500" b="1" dirty="0">
                    <a:solidFill>
                      <a:srgbClr val="006C67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 </a:t>
                </a:r>
                <a:r>
                  <a:rPr lang="en-US" altLang="ko-KR" sz="1500" b="1" dirty="0" err="1">
                    <a:solidFill>
                      <a:srgbClr val="006C67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식품</a:t>
                </a:r>
                <a:r>
                  <a:rPr lang="en-US" altLang="ko-KR" sz="1500" b="1" dirty="0">
                    <a:solidFill>
                      <a:srgbClr val="006C67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 </a:t>
                </a:r>
                <a:r>
                  <a:rPr lang="en-US" altLang="ko-KR" sz="1500" b="1" dirty="0" err="1">
                    <a:solidFill>
                      <a:srgbClr val="006C67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식별</a:t>
                </a:r>
                <a:endParaRPr lang="en-US" altLang="ko-KR" sz="1500" dirty="0"/>
              </a:p>
            </p:txBody>
          </p:sp>
          <p:sp>
            <p:nvSpPr>
              <p:cNvPr id="19" name="Shape 2">
                <a:extLst>
                  <a:ext uri="{FF2B5EF4-FFF2-40B4-BE49-F238E27FC236}">
                    <a16:creationId xmlns:a16="http://schemas.microsoft.com/office/drawing/2014/main" id="{A07C023E-F5A0-F52F-C742-9650EEE2ABE5}"/>
                  </a:ext>
                </a:extLst>
              </p:cNvPr>
              <p:cNvSpPr/>
              <p:nvPr/>
            </p:nvSpPr>
            <p:spPr>
              <a:xfrm>
                <a:off x="695401" y="1633119"/>
                <a:ext cx="19202" cy="942746"/>
              </a:xfrm>
              <a:prstGeom prst="rect">
                <a:avLst/>
              </a:prstGeom>
              <a:solidFill>
                <a:srgbClr val="F3F4F6"/>
              </a:solidFill>
              <a:ln/>
            </p:spPr>
            <p:txBody>
              <a:bodyPr/>
              <a:lstStyle/>
              <a:p>
                <a:endParaRPr lang="ko-KR" altLang="en-US"/>
              </a:p>
            </p:txBody>
          </p: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F5FFE903-A8BF-1E7B-A6C1-50558095AA75}"/>
                  </a:ext>
                </a:extLst>
              </p:cNvPr>
              <p:cNvGrpSpPr/>
              <p:nvPr/>
            </p:nvGrpSpPr>
            <p:grpSpPr>
              <a:xfrm>
                <a:off x="1061159" y="1680643"/>
                <a:ext cx="4932002" cy="847698"/>
                <a:chOff x="933600" y="1699821"/>
                <a:chExt cx="5115582" cy="847698"/>
              </a:xfrm>
            </p:grpSpPr>
            <p:sp>
              <p:nvSpPr>
                <p:cNvPr id="26" name="Text 3">
                  <a:extLst>
                    <a:ext uri="{FF2B5EF4-FFF2-40B4-BE49-F238E27FC236}">
                      <a16:creationId xmlns:a16="http://schemas.microsoft.com/office/drawing/2014/main" id="{CF8B6E88-95C6-CEA4-72F7-6CD2C54DF089}"/>
                    </a:ext>
                  </a:extLst>
                </p:cNvPr>
                <p:cNvSpPr txBox="1"/>
                <p:nvPr/>
              </p:nvSpPr>
              <p:spPr>
                <a:xfrm>
                  <a:off x="933600" y="1699821"/>
                  <a:ext cx="5115580" cy="49194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전체</a:t>
                  </a:r>
                  <a:r>
                    <a:rPr lang="en-US" altLang="ko-KR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인구가</a:t>
                  </a:r>
                  <a:r>
                    <a:rPr lang="en-US" altLang="ko-KR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아닌</a:t>
                  </a:r>
                  <a:r>
                    <a:rPr lang="en-US" altLang="ko-KR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b="1" dirty="0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11개 </a:t>
                  </a:r>
                  <a:r>
                    <a:rPr lang="en-US" altLang="ko-KR" sz="1300" b="1" dirty="0" err="1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하위</a:t>
                  </a:r>
                  <a:r>
                    <a:rPr lang="en-US" altLang="ko-KR" sz="1300" b="1" dirty="0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b="1" dirty="0" err="1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집단별로</a:t>
                  </a:r>
                  <a:r>
                    <a:rPr lang="en-US" altLang="ko-KR" sz="1300" b="1" dirty="0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b="1" dirty="0" err="1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층화</a:t>
                  </a:r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하여</a:t>
                  </a:r>
                  <a:r>
                    <a:rPr lang="en-US" altLang="ko-KR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</a:p>
                <a:p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네트워크</a:t>
                  </a:r>
                  <a:r>
                    <a:rPr lang="en-US" altLang="ko-KR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영향력이</a:t>
                  </a:r>
                  <a:r>
                    <a:rPr lang="en-US" altLang="ko-KR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불균형하게</a:t>
                  </a:r>
                  <a:r>
                    <a:rPr lang="en-US" altLang="ko-KR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높은</a:t>
                  </a:r>
                  <a:r>
                    <a:rPr lang="en-US" altLang="ko-KR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b="1" dirty="0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'</a:t>
                  </a:r>
                  <a:r>
                    <a:rPr lang="en-US" altLang="ko-KR" sz="1300" b="1" dirty="0" err="1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허브</a:t>
                  </a:r>
                  <a:r>
                    <a:rPr lang="en-US" altLang="ko-KR" sz="1300" b="1" dirty="0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(Hub)' </a:t>
                  </a:r>
                  <a:r>
                    <a:rPr lang="en-US" altLang="ko-KR" sz="1300" b="1" dirty="0" err="1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식품</a:t>
                  </a:r>
                  <a:r>
                    <a:rPr lang="en-US" altLang="ko-KR" sz="1300" b="1" dirty="0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탐색</a:t>
                  </a:r>
                  <a:endParaRPr lang="en-US" altLang="ko-KR" sz="1300" dirty="0"/>
                </a:p>
              </p:txBody>
            </p:sp>
            <p:sp>
              <p:nvSpPr>
                <p:cNvPr id="27" name="Text 5">
                  <a:extLst>
                    <a:ext uri="{FF2B5EF4-FFF2-40B4-BE49-F238E27FC236}">
                      <a16:creationId xmlns:a16="http://schemas.microsoft.com/office/drawing/2014/main" id="{7614BEB8-BDAE-4930-32DE-537AF4D2951C}"/>
                    </a:ext>
                  </a:extLst>
                </p:cNvPr>
                <p:cNvSpPr txBox="1"/>
                <p:nvPr/>
              </p:nvSpPr>
              <p:spPr>
                <a:xfrm>
                  <a:off x="933602" y="2318919"/>
                  <a:ext cx="5115580" cy="2286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집단별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특성에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맞는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정밀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영양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(Precision Nutrition)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타겟</a:t>
                  </a:r>
                  <a:r>
                    <a:rPr lang="en-US" altLang="ko-KR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2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설정</a:t>
                  </a:r>
                  <a:endParaRPr lang="en-US" altLang="ko-KR" sz="1200" dirty="0"/>
                </a:p>
              </p:txBody>
            </p:sp>
          </p:grp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1D0B1662-5A82-6CA7-F6D4-BBA24DE4B05D}"/>
                </a:ext>
              </a:extLst>
            </p:cNvPr>
            <p:cNvGrpSpPr/>
            <p:nvPr/>
          </p:nvGrpSpPr>
          <p:grpSpPr>
            <a:xfrm>
              <a:off x="695401" y="5088891"/>
              <a:ext cx="5297760" cy="1428292"/>
              <a:chOff x="695401" y="1147573"/>
              <a:chExt cx="5297760" cy="1428292"/>
            </a:xfrm>
          </p:grpSpPr>
          <p:sp>
            <p:nvSpPr>
              <p:cNvPr id="13" name="Text 1">
                <a:extLst>
                  <a:ext uri="{FF2B5EF4-FFF2-40B4-BE49-F238E27FC236}">
                    <a16:creationId xmlns:a16="http://schemas.microsoft.com/office/drawing/2014/main" id="{B346F17F-06E9-8A3B-A8CE-CB50038CD4B0}"/>
                  </a:ext>
                </a:extLst>
              </p:cNvPr>
              <p:cNvSpPr txBox="1"/>
              <p:nvPr/>
            </p:nvSpPr>
            <p:spPr>
              <a:xfrm>
                <a:off x="1061159" y="1147573"/>
                <a:ext cx="4932000" cy="2670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altLang="ko-KR" sz="1500" b="1" dirty="0" err="1">
                    <a:solidFill>
                      <a:srgbClr val="006C67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집단별</a:t>
                </a:r>
                <a:r>
                  <a:rPr lang="en-US" altLang="ko-KR" sz="1500" b="1" dirty="0">
                    <a:solidFill>
                      <a:srgbClr val="006C67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 </a:t>
                </a:r>
                <a:r>
                  <a:rPr lang="en-US" altLang="ko-KR" sz="1500" b="1" dirty="0" err="1">
                    <a:solidFill>
                      <a:srgbClr val="006C67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맞춤</a:t>
                </a:r>
                <a:r>
                  <a:rPr lang="en-US" altLang="ko-KR" sz="1500" b="1" dirty="0">
                    <a:solidFill>
                      <a:srgbClr val="006C67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 </a:t>
                </a:r>
                <a:r>
                  <a:rPr lang="en-US" altLang="ko-KR" sz="1500" b="1" dirty="0" err="1">
                    <a:solidFill>
                      <a:srgbClr val="006C67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식이</a:t>
                </a:r>
                <a:r>
                  <a:rPr lang="en-US" altLang="ko-KR" sz="1500" b="1" dirty="0">
                    <a:solidFill>
                      <a:srgbClr val="006C67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 </a:t>
                </a:r>
                <a:r>
                  <a:rPr lang="en-US" altLang="ko-KR" sz="1500" b="1" dirty="0" err="1">
                    <a:solidFill>
                      <a:srgbClr val="006C67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전략</a:t>
                </a:r>
                <a:r>
                  <a:rPr lang="en-US" altLang="ko-KR" sz="1500" b="1" dirty="0">
                    <a:solidFill>
                      <a:srgbClr val="006C67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 </a:t>
                </a:r>
                <a:r>
                  <a:rPr lang="en-US" altLang="ko-KR" sz="1500" b="1" dirty="0" err="1">
                    <a:solidFill>
                      <a:srgbClr val="006C67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도출</a:t>
                </a:r>
                <a:endParaRPr lang="en-US" altLang="ko-KR" sz="1500" dirty="0"/>
              </a:p>
            </p:txBody>
          </p:sp>
          <p:sp>
            <p:nvSpPr>
              <p:cNvPr id="14" name="Shape 2">
                <a:extLst>
                  <a:ext uri="{FF2B5EF4-FFF2-40B4-BE49-F238E27FC236}">
                    <a16:creationId xmlns:a16="http://schemas.microsoft.com/office/drawing/2014/main" id="{AA699586-3458-8280-02D9-0BFF4683A13E}"/>
                  </a:ext>
                </a:extLst>
              </p:cNvPr>
              <p:cNvSpPr/>
              <p:nvPr/>
            </p:nvSpPr>
            <p:spPr>
              <a:xfrm>
                <a:off x="695401" y="1633119"/>
                <a:ext cx="19202" cy="942746"/>
              </a:xfrm>
              <a:prstGeom prst="rect">
                <a:avLst/>
              </a:prstGeom>
              <a:solidFill>
                <a:srgbClr val="F3F4F6"/>
              </a:solidFill>
              <a:ln/>
            </p:spPr>
            <p:txBody>
              <a:bodyPr/>
              <a:lstStyle/>
              <a:p>
                <a:endParaRPr lang="ko-KR" altLang="en-US"/>
              </a:p>
            </p:txBody>
          </p: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8A4729AE-36DB-18E0-DAE3-838B66686F38}"/>
                  </a:ext>
                </a:extLst>
              </p:cNvPr>
              <p:cNvGrpSpPr/>
              <p:nvPr/>
            </p:nvGrpSpPr>
            <p:grpSpPr>
              <a:xfrm>
                <a:off x="1061159" y="1680643"/>
                <a:ext cx="4932002" cy="847698"/>
                <a:chOff x="933600" y="1699821"/>
                <a:chExt cx="5115582" cy="847698"/>
              </a:xfrm>
            </p:grpSpPr>
            <p:sp>
              <p:nvSpPr>
                <p:cNvPr id="16" name="Text 3">
                  <a:extLst>
                    <a:ext uri="{FF2B5EF4-FFF2-40B4-BE49-F238E27FC236}">
                      <a16:creationId xmlns:a16="http://schemas.microsoft.com/office/drawing/2014/main" id="{2C4A8485-564C-3E14-244F-CD81C66833D4}"/>
                    </a:ext>
                  </a:extLst>
                </p:cNvPr>
                <p:cNvSpPr txBox="1"/>
                <p:nvPr/>
              </p:nvSpPr>
              <p:spPr>
                <a:xfrm>
                  <a:off x="933600" y="1699821"/>
                  <a:ext cx="5115580" cy="49194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r>
                    <a:rPr lang="ko-KR" altLang="en-US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네트워크 </a:t>
                  </a:r>
                  <a:r>
                    <a:rPr lang="ko-KR" altLang="en-US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중심성</a:t>
                  </a:r>
                  <a:r>
                    <a:rPr lang="ko-KR" altLang="en-US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분석으로 식별한 핵심 식품의 </a:t>
                  </a:r>
                  <a:r>
                    <a:rPr lang="en-US" altLang="ko-KR" sz="1300" b="1" dirty="0" err="1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연쇄적</a:t>
                  </a:r>
                  <a:r>
                    <a:rPr lang="ko-KR" altLang="en-US" sz="1300" b="1" dirty="0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인</a:t>
                  </a:r>
                  <a:r>
                    <a:rPr lang="en-US" altLang="ko-KR" sz="1300" b="1" dirty="0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b="1" dirty="0" err="1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식이</a:t>
                  </a:r>
                  <a:r>
                    <a:rPr lang="en-US" altLang="ko-KR" sz="1300" b="1" dirty="0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altLang="ko-KR" sz="1300" b="1" dirty="0" err="1">
                      <a:solidFill>
                        <a:schemeClr val="accent2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변화</a:t>
                  </a:r>
                  <a:r>
                    <a:rPr lang="ko-KR" altLang="en-US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효과 </a:t>
                  </a:r>
                  <a:endParaRPr lang="en-US" altLang="ko-KR" sz="1300" dirty="0">
                    <a:solidFill>
                      <a:srgbClr val="374151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endParaRPr>
                </a:p>
                <a:p>
                  <a:r>
                    <a:rPr lang="ko-KR" altLang="en-US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및 대사</a:t>
                  </a:r>
                  <a:r>
                    <a:rPr lang="en-US" altLang="ko-KR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ko-KR" altLang="en-US" sz="1300" dirty="0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개선 </a:t>
                  </a:r>
                  <a:r>
                    <a:rPr lang="en-US" altLang="ko-KR" sz="1300" dirty="0" err="1">
                      <a:solidFill>
                        <a:srgbClr val="374151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효과</a:t>
                  </a:r>
                  <a:endParaRPr lang="en-US" altLang="ko-KR" sz="1300" dirty="0"/>
                </a:p>
              </p:txBody>
            </p:sp>
            <p:sp>
              <p:nvSpPr>
                <p:cNvPr id="17" name="Text 5">
                  <a:extLst>
                    <a:ext uri="{FF2B5EF4-FFF2-40B4-BE49-F238E27FC236}">
                      <a16:creationId xmlns:a16="http://schemas.microsoft.com/office/drawing/2014/main" id="{6A1008BA-DDCC-4FB7-2585-3A700B2C0568}"/>
                    </a:ext>
                  </a:extLst>
                </p:cNvPr>
                <p:cNvSpPr txBox="1"/>
                <p:nvPr/>
              </p:nvSpPr>
              <p:spPr>
                <a:xfrm>
                  <a:off x="933602" y="2318919"/>
                  <a:ext cx="5115580" cy="2286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ko-KR" altLang="en-US" sz="12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복잡한 식이 데이터를 분석하여 실질적인 공중보건 개입 전략 도출 가능</a:t>
                  </a:r>
                </a:p>
              </p:txBody>
            </p:sp>
          </p:grpSp>
        </p:grpSp>
      </p:grpSp>
      <p:pic>
        <p:nvPicPr>
          <p:cNvPr id="33" name="Image 1" descr="preencoded.png">
            <a:extLst>
              <a:ext uri="{FF2B5EF4-FFF2-40B4-BE49-F238E27FC236}">
                <a16:creationId xmlns:a16="http://schemas.microsoft.com/office/drawing/2014/main" id="{7A0845FE-A738-C7CD-833B-3541DD49C5A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00033" y="3107649"/>
            <a:ext cx="476402" cy="476402"/>
          </a:xfrm>
          <a:prstGeom prst="rect">
            <a:avLst/>
          </a:prstGeom>
        </p:spPr>
      </p:pic>
      <p:pic>
        <p:nvPicPr>
          <p:cNvPr id="34" name="Image 2" descr="preencoded.png">
            <a:extLst>
              <a:ext uri="{FF2B5EF4-FFF2-40B4-BE49-F238E27FC236}">
                <a16:creationId xmlns:a16="http://schemas.microsoft.com/office/drawing/2014/main" id="{68EC7910-02B2-9923-3E0E-8D786F79595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6828" b="-6828"/>
          <a:stretch/>
        </p:blipFill>
        <p:spPr>
          <a:xfrm>
            <a:off x="6300033" y="4967021"/>
            <a:ext cx="523951" cy="476402"/>
          </a:xfrm>
          <a:prstGeom prst="rect">
            <a:avLst/>
          </a:prstGeom>
        </p:spPr>
      </p:pic>
      <p:sp>
        <p:nvSpPr>
          <p:cNvPr id="35" name="Shape 10">
            <a:extLst>
              <a:ext uri="{FF2B5EF4-FFF2-40B4-BE49-F238E27FC236}">
                <a16:creationId xmlns:a16="http://schemas.microsoft.com/office/drawing/2014/main" id="{F25E4627-48D0-8244-DB80-632EE9B252C6}"/>
              </a:ext>
            </a:extLst>
          </p:cNvPr>
          <p:cNvSpPr/>
          <p:nvPr/>
        </p:nvSpPr>
        <p:spPr>
          <a:xfrm>
            <a:off x="6091428" y="1173454"/>
            <a:ext cx="9144" cy="518190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삼각형 80">
            <a:extLst>
              <a:ext uri="{FF2B5EF4-FFF2-40B4-BE49-F238E27FC236}">
                <a16:creationId xmlns:a16="http://schemas.microsoft.com/office/drawing/2014/main" id="{A24411FB-3589-2E5D-E1EE-0A9356051AD7}"/>
              </a:ext>
            </a:extLst>
          </p:cNvPr>
          <p:cNvSpPr/>
          <p:nvPr/>
        </p:nvSpPr>
        <p:spPr>
          <a:xfrm rot="16200000">
            <a:off x="3079752" y="3364002"/>
            <a:ext cx="5301235" cy="1017421"/>
          </a:xfrm>
          <a:prstGeom prst="triangle">
            <a:avLst>
              <a:gd name="adj" fmla="val 100000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rgbClr val="006C67">
                  <a:alpha val="21505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7" name="Shape 15">
            <a:extLst>
              <a:ext uri="{FF2B5EF4-FFF2-40B4-BE49-F238E27FC236}">
                <a16:creationId xmlns:a16="http://schemas.microsoft.com/office/drawing/2014/main" id="{633D2242-8316-4B6B-BF50-9927D56BCB28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23367" y="1570484"/>
            <a:ext cx="54000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423367" y="1265989"/>
            <a:ext cx="171907" cy="1901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08660" y="1227584"/>
            <a:ext cx="17053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6C6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연구 대상 및 자료원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33093" y="1666833"/>
            <a:ext cx="5040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1F293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H-PEACE Study Cohort</a:t>
            </a:r>
            <a:endParaRPr lang="en-US" altLang="ko-KR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강남검진센터의</a:t>
            </a:r>
            <a:r>
              <a:rPr lang="en-US" sz="1200" dirty="0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대규모 코호트 연구 데이터(H-PEACE)를 </a:t>
            </a:r>
            <a:r>
              <a:rPr lang="en-US" sz="1200" dirty="0" err="1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활용하여</a:t>
            </a:r>
            <a:r>
              <a:rPr lang="en-US" sz="1200" dirty="0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Metabolic Syndrome</a:t>
            </a:r>
            <a:r>
              <a:rPr lang="ko-KR" altLang="en-US" sz="1200" dirty="0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정보가 있는 </a:t>
            </a:r>
            <a:r>
              <a:rPr lang="en-US" altLang="ko-KR" sz="1200" dirty="0" err="1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한국</a:t>
            </a:r>
            <a:r>
              <a:rPr lang="en-US" altLang="ko-KR" sz="1200" dirty="0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altLang="ko-KR" sz="1200" dirty="0" err="1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성인을</a:t>
            </a:r>
            <a:r>
              <a:rPr lang="en-US" altLang="ko-KR" sz="1200" dirty="0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altLang="ko-KR" sz="1200" dirty="0" err="1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대상으로</a:t>
            </a:r>
            <a:r>
              <a:rPr lang="en-US" altLang="ko-KR" sz="1200" dirty="0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altLang="ko-KR" sz="1200" dirty="0" err="1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분석을</a:t>
            </a:r>
            <a:r>
              <a:rPr lang="en-US" altLang="ko-KR" sz="1200" dirty="0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altLang="ko-KR" sz="1200" dirty="0" err="1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수행함</a:t>
            </a:r>
            <a:r>
              <a:rPr lang="en-US" altLang="ko-KR" sz="1200" dirty="0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  <a:endParaRPr lang="en-US" altLang="ko-KR" sz="1200" dirty="0"/>
          </a:p>
        </p:txBody>
      </p:sp>
      <p:sp>
        <p:nvSpPr>
          <p:cNvPr id="10" name="Shape 7"/>
          <p:cNvSpPr/>
          <p:nvPr/>
        </p:nvSpPr>
        <p:spPr>
          <a:xfrm>
            <a:off x="371246" y="3053901"/>
            <a:ext cx="54000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371246" y="2745488"/>
            <a:ext cx="219456" cy="19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5002" y="2707083"/>
            <a:ext cx="32104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6C6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Gaussian Graphical Model (GGM)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364846" y="5707795"/>
            <a:ext cx="54000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4846" y="5402002"/>
            <a:ext cx="190195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69341" y="5363597"/>
            <a:ext cx="16578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6C6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네트워크 분석 지표</a:t>
            </a:r>
            <a:endParaRPr lang="en-US" sz="1500" dirty="0"/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84F3FDC6-876A-3E87-AFE1-63B3E207B406}"/>
              </a:ext>
            </a:extLst>
          </p:cNvPr>
          <p:cNvGrpSpPr/>
          <p:nvPr/>
        </p:nvGrpSpPr>
        <p:grpSpPr>
          <a:xfrm>
            <a:off x="528972" y="6078705"/>
            <a:ext cx="4947930" cy="324000"/>
            <a:chOff x="440741" y="6191098"/>
            <a:chExt cx="4214469" cy="286207"/>
          </a:xfrm>
        </p:grpSpPr>
        <p:sp>
          <p:nvSpPr>
            <p:cNvPr id="18" name="Shape 13"/>
            <p:cNvSpPr/>
            <p:nvPr/>
          </p:nvSpPr>
          <p:spPr>
            <a:xfrm>
              <a:off x="440741" y="6191098"/>
              <a:ext cx="1276502" cy="286207"/>
            </a:xfrm>
            <a:prstGeom prst="roundRect">
              <a:avLst>
                <a:gd name="adj" fmla="val 319489"/>
              </a:avLst>
            </a:prstGeom>
            <a:noFill/>
            <a:ln w="12700">
              <a:solidFill>
                <a:srgbClr val="E5E7EB"/>
              </a:solidFill>
              <a:prstDash val="solid"/>
            </a:ln>
          </p:spPr>
          <p:txBody>
            <a:bodyPr lIns="0" tIns="0" rIns="0" bIns="0" anchor="ctr" anchorCtr="0"/>
            <a:lstStyle/>
            <a:p>
              <a:pPr algn="ctr"/>
              <a:r>
                <a:rPr lang="en-US" altLang="ko-KR" sz="1000" dirty="0">
                  <a:solidFill>
                    <a:srgbClr val="111827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Precision Matrix</a:t>
              </a:r>
            </a:p>
          </p:txBody>
        </p:sp>
        <p:sp>
          <p:nvSpPr>
            <p:cNvPr id="19" name="Shape 14"/>
            <p:cNvSpPr/>
            <p:nvPr/>
          </p:nvSpPr>
          <p:spPr>
            <a:xfrm>
              <a:off x="1792224" y="6191098"/>
              <a:ext cx="1429207" cy="286207"/>
            </a:xfrm>
            <a:prstGeom prst="roundRect">
              <a:avLst>
                <a:gd name="adj" fmla="val 319489"/>
              </a:avLst>
            </a:prstGeom>
            <a:noFill/>
            <a:ln w="12700">
              <a:solidFill>
                <a:srgbClr val="E5E7EB"/>
              </a:solidFill>
              <a:prstDash val="solid"/>
            </a:ln>
          </p:spPr>
          <p:txBody>
            <a:bodyPr lIns="0" tIns="0" rIns="0" bIns="0" anchor="ctr" anchorCtr="0"/>
            <a:lstStyle/>
            <a:p>
              <a:pPr algn="ctr"/>
              <a:r>
                <a:rPr lang="en-US" altLang="ko-KR" sz="1000">
                  <a:solidFill>
                    <a:srgbClr val="111827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Partial Correlation</a:t>
              </a:r>
              <a:endParaRPr lang="en-US" altLang="ko-KR" sz="1000" dirty="0">
                <a:solidFill>
                  <a:srgbClr val="11182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</p:txBody>
        </p:sp>
        <p:sp>
          <p:nvSpPr>
            <p:cNvPr id="20" name="Shape 15"/>
            <p:cNvSpPr/>
            <p:nvPr/>
          </p:nvSpPr>
          <p:spPr>
            <a:xfrm>
              <a:off x="3292754" y="6191098"/>
              <a:ext cx="1362456" cy="286207"/>
            </a:xfrm>
            <a:prstGeom prst="roundRect">
              <a:avLst>
                <a:gd name="adj" fmla="val 319489"/>
              </a:avLst>
            </a:prstGeom>
            <a:noFill/>
            <a:ln w="12700">
              <a:solidFill>
                <a:srgbClr val="E5E7EB"/>
              </a:solidFill>
              <a:prstDash val="solid"/>
            </a:ln>
          </p:spPr>
          <p:txBody>
            <a:bodyPr lIns="0" tIns="0" rIns="0" bIns="0" anchor="ctr" anchorCtr="0"/>
            <a:lstStyle/>
            <a:p>
              <a:pPr algn="ctr"/>
              <a:r>
                <a:rPr lang="en-US" altLang="ko-KR" sz="1000" dirty="0">
                  <a:solidFill>
                    <a:srgbClr val="111827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Degree Centrality</a:t>
              </a:r>
            </a:p>
          </p:txBody>
        </p:sp>
      </p:grpSp>
      <p:sp>
        <p:nvSpPr>
          <p:cNvPr id="49" name="Shape 41"/>
          <p:cNvSpPr/>
          <p:nvPr/>
        </p:nvSpPr>
        <p:spPr>
          <a:xfrm>
            <a:off x="457200" y="224028"/>
            <a:ext cx="38405" cy="457200"/>
          </a:xfrm>
          <a:prstGeom prst="rect">
            <a:avLst/>
          </a:prstGeom>
          <a:solidFill>
            <a:srgbClr val="006C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2"/>
          <p:cNvSpPr txBox="1"/>
          <p:nvPr/>
        </p:nvSpPr>
        <p:spPr>
          <a:xfrm>
            <a:off x="724205" y="243230"/>
            <a:ext cx="565373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Study Design &amp; Methods</a:t>
            </a:r>
            <a:endParaRPr lang="en-US" sz="2200" dirty="0"/>
          </a:p>
        </p:txBody>
      </p:sp>
      <p:sp>
        <p:nvSpPr>
          <p:cNvPr id="51" name="Text 43"/>
          <p:cNvSpPr txBox="1"/>
          <p:nvPr/>
        </p:nvSpPr>
        <p:spPr>
          <a:xfrm>
            <a:off x="10956341" y="357530"/>
            <a:ext cx="6528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Methods</a:t>
            </a:r>
            <a:endParaRPr lang="en-US" sz="1000" dirty="0"/>
          </a:p>
        </p:txBody>
      </p:sp>
      <p:sp>
        <p:nvSpPr>
          <p:cNvPr id="52" name="Text 44"/>
          <p:cNvSpPr txBox="1"/>
          <p:nvPr/>
        </p:nvSpPr>
        <p:spPr>
          <a:xfrm>
            <a:off x="11582705" y="357530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6C6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02</a:t>
            </a:r>
            <a:endParaRPr lang="en-US" sz="10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D5C67AE-BC46-B015-A756-F8313684B4A3}"/>
              </a:ext>
            </a:extLst>
          </p:cNvPr>
          <p:cNvGrpSpPr/>
          <p:nvPr/>
        </p:nvGrpSpPr>
        <p:grpSpPr>
          <a:xfrm>
            <a:off x="533093" y="3135079"/>
            <a:ext cx="5318979" cy="1992933"/>
            <a:chOff x="612039" y="3357676"/>
            <a:chExt cx="5318979" cy="1992933"/>
          </a:xfrm>
        </p:grpSpPr>
        <p:sp>
          <p:nvSpPr>
            <p:cNvPr id="13" name="Text 9"/>
            <p:cNvSpPr txBox="1"/>
            <p:nvPr/>
          </p:nvSpPr>
          <p:spPr>
            <a:xfrm>
              <a:off x="612040" y="3357676"/>
              <a:ext cx="5318978" cy="59088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1450" indent="-17145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37415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Semiparametric Gaussian Copula : 비정규 분포 데이터 처리를 </a:t>
              </a:r>
              <a:r>
                <a:rPr lang="en-US" sz="1200" dirty="0" err="1">
                  <a:solidFill>
                    <a:srgbClr val="37415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위한</a:t>
              </a:r>
              <a:r>
                <a:rPr lang="en-US" sz="1200" dirty="0">
                  <a:solidFill>
                    <a:srgbClr val="37415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sz="1200" dirty="0" err="1">
                  <a:solidFill>
                    <a:srgbClr val="37415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접근법</a:t>
              </a:r>
              <a:r>
                <a:rPr lang="en-US" sz="1200" dirty="0">
                  <a:solidFill>
                    <a:srgbClr val="37415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sz="1200" dirty="0" err="1">
                  <a:solidFill>
                    <a:srgbClr val="37415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적용</a:t>
              </a:r>
              <a:endParaRPr lang="en-US" sz="1200" dirty="0">
                <a:solidFill>
                  <a:srgbClr val="37415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solidFill>
                    <a:srgbClr val="37415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Graphical Lasso : </a:t>
              </a:r>
              <a:r>
                <a:rPr lang="en-US" altLang="ko-KR" sz="1200" dirty="0" err="1">
                  <a:solidFill>
                    <a:srgbClr val="37415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희소성</a:t>
              </a:r>
              <a:r>
                <a:rPr lang="en-US" altLang="ko-KR" sz="1200" dirty="0">
                  <a:solidFill>
                    <a:srgbClr val="37415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(Sparsity)</a:t>
              </a:r>
              <a:r>
                <a:rPr lang="en-US" altLang="ko-KR" sz="1200" dirty="0" err="1">
                  <a:solidFill>
                    <a:srgbClr val="37415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을</a:t>
              </a:r>
              <a:r>
                <a:rPr lang="en-US" altLang="ko-KR" sz="1200" dirty="0">
                  <a:solidFill>
                    <a:srgbClr val="37415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37415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유도하여</a:t>
              </a:r>
              <a:r>
                <a:rPr lang="en-US" altLang="ko-KR" sz="1200" dirty="0">
                  <a:solidFill>
                    <a:srgbClr val="37415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37415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핵심적인</a:t>
              </a:r>
              <a:r>
                <a:rPr lang="en-US" altLang="ko-KR" sz="1200" dirty="0">
                  <a:solidFill>
                    <a:srgbClr val="37415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37415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네트워크</a:t>
              </a:r>
              <a:r>
                <a:rPr lang="en-US" altLang="ko-KR" sz="1200" dirty="0">
                  <a:solidFill>
                    <a:srgbClr val="37415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37415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구조</a:t>
              </a:r>
              <a:r>
                <a:rPr lang="en-US" altLang="ko-KR" sz="1200" dirty="0">
                  <a:solidFill>
                    <a:srgbClr val="37415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37415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추정</a:t>
              </a:r>
              <a:endParaRPr lang="en-US" altLang="ko-KR" sz="1200" dirty="0"/>
            </a:p>
          </p:txBody>
        </p:sp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04A395AC-577E-4EF6-9E05-64BB58B1AF1F}"/>
                </a:ext>
              </a:extLst>
            </p:cNvPr>
            <p:cNvGrpSpPr/>
            <p:nvPr/>
          </p:nvGrpSpPr>
          <p:grpSpPr>
            <a:xfrm>
              <a:off x="612039" y="4050744"/>
              <a:ext cx="4943809" cy="338144"/>
              <a:chOff x="612039" y="4161737"/>
              <a:chExt cx="5873456" cy="401730"/>
            </a:xfrm>
          </p:grpSpPr>
          <p:sp>
            <p:nvSpPr>
              <p:cNvPr id="58" name="Shape 23">
                <a:extLst>
                  <a:ext uri="{FF2B5EF4-FFF2-40B4-BE49-F238E27FC236}">
                    <a16:creationId xmlns:a16="http://schemas.microsoft.com/office/drawing/2014/main" id="{0A2711F8-51D0-4F3A-BC6E-153D819DB010}"/>
                  </a:ext>
                </a:extLst>
              </p:cNvPr>
              <p:cNvSpPr/>
              <p:nvPr/>
            </p:nvSpPr>
            <p:spPr>
              <a:xfrm>
                <a:off x="612039" y="4161737"/>
                <a:ext cx="5873456" cy="401730"/>
              </a:xfrm>
              <a:prstGeom prst="roundRect">
                <a:avLst>
                  <a:gd name="adj" fmla="val 22836"/>
                </a:avLst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rgbClr val="E5E7EB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9" name="Shape 24">
                <a:extLst>
                  <a:ext uri="{FF2B5EF4-FFF2-40B4-BE49-F238E27FC236}">
                    <a16:creationId xmlns:a16="http://schemas.microsoft.com/office/drawing/2014/main" id="{DC5C77B9-CCC5-41EF-9232-92A439DCACDA}"/>
                  </a:ext>
                </a:extLst>
              </p:cNvPr>
              <p:cNvSpPr/>
              <p:nvPr/>
            </p:nvSpPr>
            <p:spPr>
              <a:xfrm>
                <a:off x="736398" y="4209897"/>
                <a:ext cx="304495" cy="304495"/>
              </a:xfrm>
              <a:prstGeom prst="roundRect">
                <a:avLst>
                  <a:gd name="adj" fmla="val 300300"/>
                </a:avLst>
              </a:prstGeom>
              <a:solidFill>
                <a:srgbClr val="006C67"/>
              </a:solidFill>
              <a:ln/>
            </p:spPr>
            <p:txBody>
              <a:bodyPr lIns="0" tIns="0" rIns="0" bIns="0" anchor="ctr" anchorCtr="0"/>
              <a:lstStyle/>
              <a:p>
                <a:pPr algn="ctr"/>
                <a:r>
                  <a:rPr lang="en-US" altLang="ko-KR" sz="800" b="1" dirty="0">
                    <a:solidFill>
                      <a:srgbClr val="FFFFFF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1</a:t>
                </a:r>
                <a:endParaRPr lang="ko-KR" altLang="en-US" sz="800" b="1" dirty="0">
                  <a:solidFill>
                    <a:srgbClr val="FFFFFF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endParaRPr>
              </a:p>
            </p:txBody>
          </p:sp>
          <p:sp>
            <p:nvSpPr>
              <p:cNvPr id="67" name="Text 33">
                <a:extLst>
                  <a:ext uri="{FF2B5EF4-FFF2-40B4-BE49-F238E27FC236}">
                    <a16:creationId xmlns:a16="http://schemas.microsoft.com/office/drawing/2014/main" id="{313C240E-B6CE-4829-B9B4-9BFAD28E0A4A}"/>
                  </a:ext>
                </a:extLst>
              </p:cNvPr>
              <p:cNvSpPr txBox="1"/>
              <p:nvPr/>
            </p:nvSpPr>
            <p:spPr>
              <a:xfrm>
                <a:off x="1155193" y="4267504"/>
                <a:ext cx="3168000" cy="1911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50" dirty="0">
                    <a:solidFill>
                      <a:srgbClr val="374151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Stratified GGM Network Construction</a:t>
                </a:r>
                <a:endParaRPr lang="en-US" sz="1050" dirty="0"/>
              </a:p>
            </p:txBody>
          </p:sp>
        </p:grp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5CFFB1D4-2C71-4F5C-9CC5-12A53D2294AA}"/>
                </a:ext>
              </a:extLst>
            </p:cNvPr>
            <p:cNvGrpSpPr/>
            <p:nvPr/>
          </p:nvGrpSpPr>
          <p:grpSpPr>
            <a:xfrm>
              <a:off x="612039" y="4531604"/>
              <a:ext cx="4943809" cy="338144"/>
              <a:chOff x="612039" y="5209639"/>
              <a:chExt cx="5873456" cy="401730"/>
            </a:xfrm>
          </p:grpSpPr>
          <p:sp>
            <p:nvSpPr>
              <p:cNvPr id="61" name="Shape 26">
                <a:extLst>
                  <a:ext uri="{FF2B5EF4-FFF2-40B4-BE49-F238E27FC236}">
                    <a16:creationId xmlns:a16="http://schemas.microsoft.com/office/drawing/2014/main" id="{94872C6E-7BB9-44E9-9582-1523CA43E5A7}"/>
                  </a:ext>
                </a:extLst>
              </p:cNvPr>
              <p:cNvSpPr/>
              <p:nvPr/>
            </p:nvSpPr>
            <p:spPr>
              <a:xfrm>
                <a:off x="612039" y="5209639"/>
                <a:ext cx="5873456" cy="401730"/>
              </a:xfrm>
              <a:prstGeom prst="roundRect">
                <a:avLst>
                  <a:gd name="adj" fmla="val 22836"/>
                </a:avLst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rgbClr val="E5E7EB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2" name="Shape 27">
                <a:extLst>
                  <a:ext uri="{FF2B5EF4-FFF2-40B4-BE49-F238E27FC236}">
                    <a16:creationId xmlns:a16="http://schemas.microsoft.com/office/drawing/2014/main" id="{D6B2B85C-2FD9-44E2-8D5F-B5A219453194}"/>
                  </a:ext>
                </a:extLst>
              </p:cNvPr>
              <p:cNvSpPr/>
              <p:nvPr/>
            </p:nvSpPr>
            <p:spPr>
              <a:xfrm>
                <a:off x="736398" y="5257799"/>
                <a:ext cx="304495" cy="304495"/>
              </a:xfrm>
              <a:prstGeom prst="roundRect">
                <a:avLst>
                  <a:gd name="adj" fmla="val 300300"/>
                </a:avLst>
              </a:prstGeom>
              <a:solidFill>
                <a:srgbClr val="006C67"/>
              </a:solidFill>
              <a:ln/>
            </p:spPr>
            <p:txBody>
              <a:bodyPr lIns="0" tIns="0" rIns="0" bIns="0" anchor="ctr" anchorCtr="0"/>
              <a:lstStyle/>
              <a:p>
                <a:pPr algn="ctr"/>
                <a:r>
                  <a:rPr lang="en-US" altLang="ko-KR" sz="800" b="1" dirty="0">
                    <a:solidFill>
                      <a:srgbClr val="FFFFFF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2</a:t>
                </a:r>
                <a:endParaRPr lang="ko-KR" altLang="en-US" sz="800" b="1" dirty="0">
                  <a:solidFill>
                    <a:srgbClr val="FFFFFF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endParaRPr>
              </a:p>
            </p:txBody>
          </p:sp>
          <p:sp>
            <p:nvSpPr>
              <p:cNvPr id="69" name="Text 34">
                <a:extLst>
                  <a:ext uri="{FF2B5EF4-FFF2-40B4-BE49-F238E27FC236}">
                    <a16:creationId xmlns:a16="http://schemas.microsoft.com/office/drawing/2014/main" id="{7284A07D-29EE-4D02-941E-A8364F81489B}"/>
                  </a:ext>
                </a:extLst>
              </p:cNvPr>
              <p:cNvSpPr txBox="1"/>
              <p:nvPr/>
            </p:nvSpPr>
            <p:spPr>
              <a:xfrm>
                <a:off x="1155192" y="5315407"/>
                <a:ext cx="3168000" cy="1911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50" dirty="0">
                    <a:solidFill>
                      <a:srgbClr val="374151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Hub Food Identification</a:t>
                </a:r>
                <a:endParaRPr lang="en-US" sz="1050" dirty="0"/>
              </a:p>
            </p:txBody>
          </p: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9A09847B-49F8-4B04-84C1-F2ECD81127B3}"/>
                </a:ext>
              </a:extLst>
            </p:cNvPr>
            <p:cNvGrpSpPr/>
            <p:nvPr/>
          </p:nvGrpSpPr>
          <p:grpSpPr>
            <a:xfrm>
              <a:off x="612039" y="5012465"/>
              <a:ext cx="4943809" cy="338144"/>
              <a:chOff x="612039" y="5182511"/>
              <a:chExt cx="5873456" cy="401730"/>
            </a:xfrm>
          </p:grpSpPr>
          <p:sp>
            <p:nvSpPr>
              <p:cNvPr id="64" name="Shape 29">
                <a:extLst>
                  <a:ext uri="{FF2B5EF4-FFF2-40B4-BE49-F238E27FC236}">
                    <a16:creationId xmlns:a16="http://schemas.microsoft.com/office/drawing/2014/main" id="{B54B070E-009A-4807-AC70-589DBE3E4016}"/>
                  </a:ext>
                </a:extLst>
              </p:cNvPr>
              <p:cNvSpPr/>
              <p:nvPr/>
            </p:nvSpPr>
            <p:spPr>
              <a:xfrm>
                <a:off x="612039" y="5182511"/>
                <a:ext cx="5873456" cy="401730"/>
              </a:xfrm>
              <a:prstGeom prst="roundRect">
                <a:avLst>
                  <a:gd name="adj" fmla="val 22836"/>
                </a:avLst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rgbClr val="E5E7EB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5" name="Shape 30">
                <a:extLst>
                  <a:ext uri="{FF2B5EF4-FFF2-40B4-BE49-F238E27FC236}">
                    <a16:creationId xmlns:a16="http://schemas.microsoft.com/office/drawing/2014/main" id="{D01F622F-86D2-4821-BDEA-CD7318D4A3A1}"/>
                  </a:ext>
                </a:extLst>
              </p:cNvPr>
              <p:cNvSpPr/>
              <p:nvPr/>
            </p:nvSpPr>
            <p:spPr>
              <a:xfrm>
                <a:off x="736398" y="5230671"/>
                <a:ext cx="304495" cy="304495"/>
              </a:xfrm>
              <a:prstGeom prst="roundRect">
                <a:avLst>
                  <a:gd name="adj" fmla="val 300300"/>
                </a:avLst>
              </a:prstGeom>
              <a:solidFill>
                <a:srgbClr val="006C67"/>
              </a:solidFill>
              <a:ln/>
            </p:spPr>
            <p:txBody>
              <a:bodyPr lIns="0" tIns="0" rIns="0" bIns="0" anchor="ctr" anchorCtr="0"/>
              <a:lstStyle/>
              <a:p>
                <a:pPr algn="ctr"/>
                <a:r>
                  <a:rPr lang="en-US" altLang="ko-KR" sz="800" b="1" dirty="0">
                    <a:solidFill>
                      <a:srgbClr val="FFFFFF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3</a:t>
                </a:r>
                <a:endParaRPr lang="ko-KR" altLang="en-US" sz="800" b="1" dirty="0">
                  <a:solidFill>
                    <a:srgbClr val="FFFFFF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endParaRPr>
              </a:p>
            </p:txBody>
          </p:sp>
          <p:sp>
            <p:nvSpPr>
              <p:cNvPr id="71" name="Text 35">
                <a:extLst>
                  <a:ext uri="{FF2B5EF4-FFF2-40B4-BE49-F238E27FC236}">
                    <a16:creationId xmlns:a16="http://schemas.microsoft.com/office/drawing/2014/main" id="{7ADBF00F-15C7-4844-97DE-3DD48277C274}"/>
                  </a:ext>
                </a:extLst>
              </p:cNvPr>
              <p:cNvSpPr txBox="1"/>
              <p:nvPr/>
            </p:nvSpPr>
            <p:spPr>
              <a:xfrm>
                <a:off x="1155193" y="5287364"/>
                <a:ext cx="3168000" cy="1911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50" dirty="0">
                    <a:solidFill>
                      <a:srgbClr val="374151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Dual Leverage Pattern</a:t>
                </a:r>
                <a:endParaRPr lang="en-US" sz="1050" dirty="0"/>
              </a:p>
            </p:txBody>
          </p:sp>
        </p:grpSp>
        <p:pic>
          <p:nvPicPr>
            <p:cNvPr id="68" name="Image 3" descr="preencoded.png">
              <a:extLst>
                <a:ext uri="{FF2B5EF4-FFF2-40B4-BE49-F238E27FC236}">
                  <a16:creationId xmlns:a16="http://schemas.microsoft.com/office/drawing/2014/main" id="{65F4A8DA-BBC9-415F-BEFD-7BE5EEAC1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-1773" r="-1773"/>
            <a:stretch/>
          </p:blipFill>
          <p:spPr>
            <a:xfrm>
              <a:off x="787687" y="4387897"/>
              <a:ext cx="112371" cy="144698"/>
            </a:xfrm>
            <a:prstGeom prst="rect">
              <a:avLst/>
            </a:prstGeom>
          </p:spPr>
        </p:pic>
        <p:pic>
          <p:nvPicPr>
            <p:cNvPr id="70" name="Image 4" descr="preencoded.png">
              <a:extLst>
                <a:ext uri="{FF2B5EF4-FFF2-40B4-BE49-F238E27FC236}">
                  <a16:creationId xmlns:a16="http://schemas.microsoft.com/office/drawing/2014/main" id="{0CA36DC3-99BC-4FCD-814C-756928C36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-1773" r="-1773"/>
            <a:stretch/>
          </p:blipFill>
          <p:spPr>
            <a:xfrm>
              <a:off x="787687" y="4868757"/>
              <a:ext cx="112371" cy="144698"/>
            </a:xfrm>
            <a:prstGeom prst="rect">
              <a:avLst/>
            </a:prstGeom>
          </p:spPr>
        </p:pic>
      </p:grpSp>
      <p:sp>
        <p:nvSpPr>
          <p:cNvPr id="26" name="Shape 1">
            <a:extLst>
              <a:ext uri="{FF2B5EF4-FFF2-40B4-BE49-F238E27FC236}">
                <a16:creationId xmlns:a16="http://schemas.microsoft.com/office/drawing/2014/main" id="{36CBFBD9-46B5-0AA6-DBED-A0E3A19E7A18}"/>
              </a:ext>
            </a:extLst>
          </p:cNvPr>
          <p:cNvSpPr/>
          <p:nvPr/>
        </p:nvSpPr>
        <p:spPr>
          <a:xfrm>
            <a:off x="6557381" y="1564998"/>
            <a:ext cx="54000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BF97BA89-8AAF-5760-A183-28AB5A28957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2115" r="-2115"/>
          <a:stretch/>
        </p:blipFill>
        <p:spPr>
          <a:xfrm>
            <a:off x="6537960" y="1260503"/>
            <a:ext cx="247802" cy="190195"/>
          </a:xfrm>
          <a:prstGeom prst="rect">
            <a:avLst/>
          </a:prstGeom>
        </p:spPr>
      </p:pic>
      <p:sp>
        <p:nvSpPr>
          <p:cNvPr id="28" name="Text 2">
            <a:extLst>
              <a:ext uri="{FF2B5EF4-FFF2-40B4-BE49-F238E27FC236}">
                <a16:creationId xmlns:a16="http://schemas.microsoft.com/office/drawing/2014/main" id="{EA6375F1-F3D5-223F-E777-01E3C4703D84}"/>
              </a:ext>
            </a:extLst>
          </p:cNvPr>
          <p:cNvSpPr txBox="1"/>
          <p:nvPr/>
        </p:nvSpPr>
        <p:spPr>
          <a:xfrm>
            <a:off x="6890004" y="1222098"/>
            <a:ext cx="28008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6C6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인구학적 특성 (Demographics)</a:t>
            </a:r>
            <a:endParaRPr lang="en-US" sz="150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4CE43CED-3BD0-EF4A-A668-D3D3A979B4EA}"/>
              </a:ext>
            </a:extLst>
          </p:cNvPr>
          <p:cNvSpPr txBox="1"/>
          <p:nvPr/>
        </p:nvSpPr>
        <p:spPr>
          <a:xfrm>
            <a:off x="6661860" y="1666833"/>
            <a:ext cx="5040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7415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Total Participants: 23,040 Korean Adults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37415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Age Distribution: 20–79 Years (Mean Age: 51.2 ± 12.8)</a:t>
            </a: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37415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Gender Distribution: Males 13,406 (58.2%), Females 9,634 (41.8%)</a:t>
            </a:r>
            <a:endParaRPr lang="en-US" altLang="ko-KR" sz="1200" dirty="0"/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468CC7D4-2BBD-0713-04A3-03F103FA818E}"/>
              </a:ext>
            </a:extLst>
          </p:cNvPr>
          <p:cNvSpPr/>
          <p:nvPr/>
        </p:nvSpPr>
        <p:spPr>
          <a:xfrm>
            <a:off x="6546408" y="3053901"/>
            <a:ext cx="54000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1" descr="preencoded.png">
            <a:extLst>
              <a:ext uri="{FF2B5EF4-FFF2-40B4-BE49-F238E27FC236}">
                <a16:creationId xmlns:a16="http://schemas.microsoft.com/office/drawing/2014/main" id="{857A576A-F279-7B50-A0E3-AB44DCFB9D9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2644" r="-2644"/>
          <a:stretch/>
        </p:blipFill>
        <p:spPr>
          <a:xfrm>
            <a:off x="6526987" y="2745488"/>
            <a:ext cx="200254" cy="190195"/>
          </a:xfrm>
          <a:prstGeom prst="rect">
            <a:avLst/>
          </a:prstGeom>
        </p:spPr>
      </p:pic>
      <p:sp>
        <p:nvSpPr>
          <p:cNvPr id="36" name="Text 8">
            <a:extLst>
              <a:ext uri="{FF2B5EF4-FFF2-40B4-BE49-F238E27FC236}">
                <a16:creationId xmlns:a16="http://schemas.microsoft.com/office/drawing/2014/main" id="{8E1EC8E4-C990-CB18-7ED0-BC245E6165E9}"/>
              </a:ext>
            </a:extLst>
          </p:cNvPr>
          <p:cNvSpPr txBox="1"/>
          <p:nvPr/>
        </p:nvSpPr>
        <p:spPr>
          <a:xfrm>
            <a:off x="6831482" y="2707083"/>
            <a:ext cx="2734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6C6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대사증후군 분포 (MetS Status)</a:t>
            </a:r>
            <a:endParaRPr lang="en-US" sz="1500" dirty="0"/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8B8358F4-37CB-2838-7101-EF9EDDE98BC4}"/>
              </a:ext>
            </a:extLst>
          </p:cNvPr>
          <p:cNvGrpSpPr/>
          <p:nvPr/>
        </p:nvGrpSpPr>
        <p:grpSpPr>
          <a:xfrm>
            <a:off x="6602882" y="3198097"/>
            <a:ext cx="2375611" cy="1047902"/>
            <a:chOff x="6602882" y="3389224"/>
            <a:chExt cx="2375611" cy="1047902"/>
          </a:xfrm>
        </p:grpSpPr>
        <p:sp>
          <p:nvSpPr>
            <p:cNvPr id="37" name="Shape 9">
              <a:extLst>
                <a:ext uri="{FF2B5EF4-FFF2-40B4-BE49-F238E27FC236}">
                  <a16:creationId xmlns:a16="http://schemas.microsoft.com/office/drawing/2014/main" id="{C86BB6EF-D846-3AF4-2D08-7135CFA4FAAA}"/>
                </a:ext>
              </a:extLst>
            </p:cNvPr>
            <p:cNvSpPr/>
            <p:nvPr/>
          </p:nvSpPr>
          <p:spPr>
            <a:xfrm>
              <a:off x="6602882" y="3389224"/>
              <a:ext cx="2375611" cy="1047902"/>
            </a:xfrm>
            <a:prstGeom prst="roundRect">
              <a:avLst>
                <a:gd name="adj" fmla="val 6346"/>
              </a:avLst>
            </a:prstGeom>
            <a:solidFill>
              <a:srgbClr val="ECFDF5"/>
            </a:solidFill>
            <a:ln w="12700">
              <a:solidFill>
                <a:srgbClr val="D1FAE5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/>
            </a:p>
          </p:txBody>
        </p:sp>
        <p:sp>
          <p:nvSpPr>
            <p:cNvPr id="39" name="Text 11">
              <a:extLst>
                <a:ext uri="{FF2B5EF4-FFF2-40B4-BE49-F238E27FC236}">
                  <a16:creationId xmlns:a16="http://schemas.microsoft.com/office/drawing/2014/main" id="{38203F90-0D35-5D8E-CD97-BC39E0DC7562}"/>
                </a:ext>
              </a:extLst>
            </p:cNvPr>
            <p:cNvSpPr txBox="1"/>
            <p:nvPr/>
          </p:nvSpPr>
          <p:spPr>
            <a:xfrm>
              <a:off x="7221473" y="3551072"/>
              <a:ext cx="113842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65F46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MetS- (Healthy)</a:t>
              </a:r>
              <a:endParaRPr lang="en-US" sz="1000" dirty="0"/>
            </a:p>
          </p:txBody>
        </p:sp>
        <p:sp>
          <p:nvSpPr>
            <p:cNvPr id="40" name="Text 12">
              <a:extLst>
                <a:ext uri="{FF2B5EF4-FFF2-40B4-BE49-F238E27FC236}">
                  <a16:creationId xmlns:a16="http://schemas.microsoft.com/office/drawing/2014/main" id="{276326C3-CA61-ED62-2B47-23E09C50C41D}"/>
                </a:ext>
              </a:extLst>
            </p:cNvPr>
            <p:cNvSpPr txBox="1"/>
            <p:nvPr/>
          </p:nvSpPr>
          <p:spPr>
            <a:xfrm>
              <a:off x="7197699" y="3741268"/>
              <a:ext cx="1185977" cy="419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047857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17,101</a:t>
              </a:r>
              <a:endParaRPr lang="en-US" sz="2200" dirty="0"/>
            </a:p>
          </p:txBody>
        </p:sp>
        <p:sp>
          <p:nvSpPr>
            <p:cNvPr id="41" name="Text 13">
              <a:extLst>
                <a:ext uri="{FF2B5EF4-FFF2-40B4-BE49-F238E27FC236}">
                  <a16:creationId xmlns:a16="http://schemas.microsoft.com/office/drawing/2014/main" id="{F51A49E7-33BD-5A48-7600-B3F7E9CDE404}"/>
                </a:ext>
              </a:extLst>
            </p:cNvPr>
            <p:cNvSpPr txBox="1"/>
            <p:nvPr/>
          </p:nvSpPr>
          <p:spPr>
            <a:xfrm>
              <a:off x="7190384" y="4112514"/>
              <a:ext cx="1200607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05966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74.2% of Population</a:t>
              </a:r>
              <a:endParaRPr lang="en-US" sz="900" dirty="0"/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85F8A318-214F-1CB7-0E0F-6558A948F3D7}"/>
              </a:ext>
            </a:extLst>
          </p:cNvPr>
          <p:cNvGrpSpPr/>
          <p:nvPr/>
        </p:nvGrpSpPr>
        <p:grpSpPr>
          <a:xfrm>
            <a:off x="9462243" y="3198097"/>
            <a:ext cx="2375611" cy="1047902"/>
            <a:chOff x="9816084" y="3389224"/>
            <a:chExt cx="2375611" cy="1047902"/>
          </a:xfrm>
        </p:grpSpPr>
        <p:sp>
          <p:nvSpPr>
            <p:cNvPr id="38" name="Shape 10">
              <a:extLst>
                <a:ext uri="{FF2B5EF4-FFF2-40B4-BE49-F238E27FC236}">
                  <a16:creationId xmlns:a16="http://schemas.microsoft.com/office/drawing/2014/main" id="{132E7A28-5E64-30E3-80EB-7807E7295469}"/>
                </a:ext>
              </a:extLst>
            </p:cNvPr>
            <p:cNvSpPr/>
            <p:nvPr/>
          </p:nvSpPr>
          <p:spPr>
            <a:xfrm>
              <a:off x="9816084" y="3389224"/>
              <a:ext cx="2375611" cy="1047902"/>
            </a:xfrm>
            <a:prstGeom prst="roundRect">
              <a:avLst>
                <a:gd name="adj" fmla="val 6346"/>
              </a:avLst>
            </a:prstGeom>
            <a:solidFill>
              <a:srgbClr val="FEF2F2"/>
            </a:solidFill>
            <a:ln w="12700">
              <a:solidFill>
                <a:srgbClr val="FEE2E2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/>
            </a:p>
          </p:txBody>
        </p:sp>
        <p:sp>
          <p:nvSpPr>
            <p:cNvPr id="42" name="Text 14">
              <a:extLst>
                <a:ext uri="{FF2B5EF4-FFF2-40B4-BE49-F238E27FC236}">
                  <a16:creationId xmlns:a16="http://schemas.microsoft.com/office/drawing/2014/main" id="{F5F5BC1E-7488-54F6-60F4-F328055BE436}"/>
                </a:ext>
              </a:extLst>
            </p:cNvPr>
            <p:cNvSpPr txBox="1"/>
            <p:nvPr/>
          </p:nvSpPr>
          <p:spPr>
            <a:xfrm>
              <a:off x="10339120" y="3551072"/>
              <a:ext cx="132953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991B1B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MetS+ (Syndrome)</a:t>
              </a:r>
              <a:endParaRPr lang="en-US" sz="1000" dirty="0"/>
            </a:p>
          </p:txBody>
        </p:sp>
        <p:sp>
          <p:nvSpPr>
            <p:cNvPr id="43" name="Text 15">
              <a:extLst>
                <a:ext uri="{FF2B5EF4-FFF2-40B4-BE49-F238E27FC236}">
                  <a16:creationId xmlns:a16="http://schemas.microsoft.com/office/drawing/2014/main" id="{118DF05E-193B-6D87-AE96-15645A09DECA}"/>
                </a:ext>
              </a:extLst>
            </p:cNvPr>
            <p:cNvSpPr txBox="1"/>
            <p:nvPr/>
          </p:nvSpPr>
          <p:spPr>
            <a:xfrm>
              <a:off x="10496397" y="3741268"/>
              <a:ext cx="1014984" cy="419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B91C1C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5,939</a:t>
              </a:r>
              <a:endParaRPr lang="en-US" sz="2200" dirty="0"/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07413772-72E4-4406-0D05-242B2C246764}"/>
                </a:ext>
              </a:extLst>
            </p:cNvPr>
            <p:cNvSpPr txBox="1"/>
            <p:nvPr/>
          </p:nvSpPr>
          <p:spPr>
            <a:xfrm>
              <a:off x="10403586" y="4112514"/>
              <a:ext cx="1200607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DC2626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25.8% of Population</a:t>
              </a:r>
              <a:endParaRPr lang="en-US" sz="900" dirty="0"/>
            </a:p>
          </p:txBody>
        </p:sp>
      </p:grpSp>
      <p:sp>
        <p:nvSpPr>
          <p:cNvPr id="45" name="Text 17">
            <a:extLst>
              <a:ext uri="{FF2B5EF4-FFF2-40B4-BE49-F238E27FC236}">
                <a16:creationId xmlns:a16="http://schemas.microsoft.com/office/drawing/2014/main" id="{18BEFFB9-18AA-7B0C-42F6-4CD664C8B729}"/>
              </a:ext>
            </a:extLst>
          </p:cNvPr>
          <p:cNvSpPr txBox="1"/>
          <p:nvPr/>
        </p:nvSpPr>
        <p:spPr>
          <a:xfrm>
            <a:off x="6602883" y="4783955"/>
            <a:ext cx="5233112" cy="371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MetS+ </a:t>
            </a:r>
            <a:r>
              <a:rPr lang="en-US" sz="1000" dirty="0" err="1">
                <a:solidFill>
                  <a:srgbClr val="4B5563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그룹은</a:t>
            </a:r>
            <a:r>
              <a:rPr lang="en-US" sz="1000" dirty="0">
                <a:solidFill>
                  <a:srgbClr val="4B5563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sz="1000" dirty="0" err="1">
                <a:solidFill>
                  <a:srgbClr val="4B5563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MetS</a:t>
            </a:r>
            <a:r>
              <a:rPr lang="en-US" sz="1000" dirty="0">
                <a:solidFill>
                  <a:srgbClr val="4B5563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</a:t>
            </a:r>
            <a:r>
              <a:rPr lang="ko-KR" altLang="en-US" sz="1000" dirty="0">
                <a:solidFill>
                  <a:srgbClr val="4B5563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그룹에 비하여 </a:t>
            </a:r>
            <a:r>
              <a:rPr lang="en-US" sz="1000" dirty="0" err="1">
                <a:solidFill>
                  <a:srgbClr val="4B5563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허리둘레</a:t>
            </a:r>
            <a:r>
              <a:rPr lang="en-US" sz="1000" dirty="0">
                <a:solidFill>
                  <a:srgbClr val="4B5563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중성지방(TG), HDL-콜레스테롤, 공복혈당, </a:t>
            </a:r>
            <a:r>
              <a:rPr lang="en-US" sz="1000" dirty="0" err="1">
                <a:solidFill>
                  <a:srgbClr val="4B5563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혈압</a:t>
            </a:r>
            <a:r>
              <a:rPr lang="en-US" sz="1000" dirty="0">
                <a:solidFill>
                  <a:srgbClr val="4B5563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등</a:t>
            </a:r>
          </a:p>
          <a:p>
            <a:pPr algn="ctr"/>
            <a:r>
              <a:rPr lang="en-US" altLang="ko-KR" sz="1000" dirty="0" err="1">
                <a:solidFill>
                  <a:srgbClr val="4B5563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주요</a:t>
            </a:r>
            <a:r>
              <a:rPr lang="en-US" altLang="ko-KR" sz="1000" dirty="0">
                <a:solidFill>
                  <a:srgbClr val="4B5563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1000" dirty="0" err="1">
                <a:solidFill>
                  <a:srgbClr val="4B5563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대사지표가</a:t>
            </a:r>
            <a:r>
              <a:rPr lang="en-US" altLang="ko-KR" sz="1000" dirty="0">
                <a:solidFill>
                  <a:srgbClr val="4B5563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1000" dirty="0" err="1">
                <a:solidFill>
                  <a:srgbClr val="4B5563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현저히</a:t>
            </a:r>
            <a:r>
              <a:rPr lang="en-US" altLang="ko-KR" sz="1000" dirty="0">
                <a:solidFill>
                  <a:srgbClr val="4B5563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1000" dirty="0" err="1">
                <a:solidFill>
                  <a:srgbClr val="4B5563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악화된</a:t>
            </a:r>
            <a:r>
              <a:rPr lang="en-US" altLang="ko-KR" sz="1000" dirty="0">
                <a:solidFill>
                  <a:srgbClr val="4B5563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1000" dirty="0" err="1">
                <a:solidFill>
                  <a:srgbClr val="4B5563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양상을</a:t>
            </a:r>
            <a:r>
              <a:rPr lang="en-US" altLang="ko-KR" sz="1000" dirty="0">
                <a:solidFill>
                  <a:srgbClr val="4B5563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1000" dirty="0" err="1">
                <a:solidFill>
                  <a:srgbClr val="4B5563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보임</a:t>
            </a:r>
            <a:r>
              <a:rPr lang="en-US" altLang="ko-KR" sz="1000" dirty="0">
                <a:solidFill>
                  <a:srgbClr val="4B5563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en-US" altLang="ko-KR" sz="1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7" name="Shape 19">
            <a:extLst>
              <a:ext uri="{FF2B5EF4-FFF2-40B4-BE49-F238E27FC236}">
                <a16:creationId xmlns:a16="http://schemas.microsoft.com/office/drawing/2014/main" id="{0440126D-70FF-A626-1C0D-E848F340C57C}"/>
              </a:ext>
            </a:extLst>
          </p:cNvPr>
          <p:cNvSpPr/>
          <p:nvPr/>
        </p:nvSpPr>
        <p:spPr>
          <a:xfrm>
            <a:off x="6525377" y="5707795"/>
            <a:ext cx="54000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2" descr="preencoded.png">
            <a:extLst>
              <a:ext uri="{FF2B5EF4-FFF2-40B4-BE49-F238E27FC236}">
                <a16:creationId xmlns:a16="http://schemas.microsoft.com/office/drawing/2014/main" id="{7ACFD46F-8ADF-E8A1-D863-DC6CF860513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1282" r="-1282"/>
          <a:stretch/>
        </p:blipFill>
        <p:spPr>
          <a:xfrm>
            <a:off x="6505956" y="5402002"/>
            <a:ext cx="219456" cy="190195"/>
          </a:xfrm>
          <a:prstGeom prst="rect">
            <a:avLst/>
          </a:prstGeom>
        </p:spPr>
      </p:pic>
      <p:sp>
        <p:nvSpPr>
          <p:cNvPr id="53" name="Text 20">
            <a:extLst>
              <a:ext uri="{FF2B5EF4-FFF2-40B4-BE49-F238E27FC236}">
                <a16:creationId xmlns:a16="http://schemas.microsoft.com/office/drawing/2014/main" id="{56744ADB-5295-2523-EFF8-9C9A6FA8D475}"/>
              </a:ext>
            </a:extLst>
          </p:cNvPr>
          <p:cNvSpPr txBox="1"/>
          <p:nvPr/>
        </p:nvSpPr>
        <p:spPr>
          <a:xfrm>
            <a:off x="6839712" y="5363597"/>
            <a:ext cx="2734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6C6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분석 그룹 층화 (Stratification)</a:t>
            </a:r>
            <a:endParaRPr lang="en-US" sz="1500" dirty="0"/>
          </a:p>
        </p:txBody>
      </p:sp>
      <p:sp>
        <p:nvSpPr>
          <p:cNvPr id="60" name="Text 24">
            <a:extLst>
              <a:ext uri="{FF2B5EF4-FFF2-40B4-BE49-F238E27FC236}">
                <a16:creationId xmlns:a16="http://schemas.microsoft.com/office/drawing/2014/main" id="{8516C993-27C5-24CD-0D8F-E52013E32C99}"/>
              </a:ext>
            </a:extLst>
          </p:cNvPr>
          <p:cNvSpPr txBox="1"/>
          <p:nvPr/>
        </p:nvSpPr>
        <p:spPr>
          <a:xfrm>
            <a:off x="6534442" y="5764837"/>
            <a:ext cx="3296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총 11개 하위 그룹으로 세분화하여 정밀 </a:t>
            </a:r>
            <a:r>
              <a:rPr lang="en-US" sz="1200" dirty="0" err="1">
                <a:solidFill>
                  <a:srgbClr val="37415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분석</a:t>
            </a:r>
            <a:r>
              <a:rPr lang="en-US" sz="1200" dirty="0">
                <a:solidFill>
                  <a:srgbClr val="37415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수행</a:t>
            </a:r>
            <a:endParaRPr lang="en-US" sz="1200" dirty="0"/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A00A207D-F6B5-A6B8-A62E-CCCDC2C952B5}"/>
              </a:ext>
            </a:extLst>
          </p:cNvPr>
          <p:cNvGrpSpPr/>
          <p:nvPr/>
        </p:nvGrpSpPr>
        <p:grpSpPr>
          <a:xfrm>
            <a:off x="6582765" y="6113708"/>
            <a:ext cx="5328000" cy="324000"/>
            <a:chOff x="6582765" y="6172658"/>
            <a:chExt cx="4588459" cy="267005"/>
          </a:xfrm>
        </p:grpSpPr>
        <p:sp>
          <p:nvSpPr>
            <p:cNvPr id="54" name="Shape 21">
              <a:extLst>
                <a:ext uri="{FF2B5EF4-FFF2-40B4-BE49-F238E27FC236}">
                  <a16:creationId xmlns:a16="http://schemas.microsoft.com/office/drawing/2014/main" id="{5FE840A7-F5F8-0312-42F1-01A4673FB033}"/>
                </a:ext>
              </a:extLst>
            </p:cNvPr>
            <p:cNvSpPr/>
            <p:nvPr/>
          </p:nvSpPr>
          <p:spPr>
            <a:xfrm>
              <a:off x="6582765" y="6172658"/>
              <a:ext cx="1410005" cy="267005"/>
            </a:xfrm>
            <a:prstGeom prst="roundRect">
              <a:avLst>
                <a:gd name="adj" fmla="val 48924"/>
              </a:avLst>
            </a:prstGeom>
            <a:solidFill>
              <a:srgbClr val="F3F4F6"/>
            </a:solidFill>
            <a:ln/>
          </p:spPr>
          <p:txBody>
            <a:bodyPr lIns="0" tIns="0" rIns="0" bIns="0" anchor="ctr" anchorCtr="0"/>
            <a:lstStyle/>
            <a:p>
              <a:pPr algn="ctr"/>
              <a:r>
                <a:rPr lang="en-US" altLang="ko-KR" sz="1000" dirty="0">
                  <a:solidFill>
                    <a:srgbClr val="111827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Sex (Male/Female)</a:t>
              </a:r>
            </a:p>
          </p:txBody>
        </p:sp>
        <p:sp>
          <p:nvSpPr>
            <p:cNvPr id="55" name="Shape 22">
              <a:extLst>
                <a:ext uri="{FF2B5EF4-FFF2-40B4-BE49-F238E27FC236}">
                  <a16:creationId xmlns:a16="http://schemas.microsoft.com/office/drawing/2014/main" id="{FFD3BA33-C60E-C7FC-46DB-DD8FF50395FA}"/>
                </a:ext>
              </a:extLst>
            </p:cNvPr>
            <p:cNvSpPr/>
            <p:nvPr/>
          </p:nvSpPr>
          <p:spPr>
            <a:xfrm>
              <a:off x="8293608" y="6172658"/>
              <a:ext cx="1762049" cy="267005"/>
            </a:xfrm>
            <a:prstGeom prst="roundRect">
              <a:avLst>
                <a:gd name="adj" fmla="val 48924"/>
              </a:avLst>
            </a:prstGeom>
            <a:solidFill>
              <a:srgbClr val="F3F4F6"/>
            </a:solidFill>
            <a:ln/>
          </p:spPr>
          <p:txBody>
            <a:bodyPr lIns="0" tIns="0" rIns="0" bIns="0" anchor="ctr" anchorCtr="0"/>
            <a:lstStyle/>
            <a:p>
              <a:pPr algn="ctr"/>
              <a:r>
                <a:rPr lang="en-US" altLang="ko-KR" sz="1000" dirty="0">
                  <a:solidFill>
                    <a:srgbClr val="111827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Age (</a:t>
              </a:r>
              <a:r>
                <a:rPr lang="en-US" altLang="ko-KR" sz="1000">
                  <a:solidFill>
                    <a:srgbClr val="111827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20-39/40-59/60-79)</a:t>
              </a:r>
              <a:endParaRPr lang="en-US" altLang="ko-KR" sz="1000" dirty="0">
                <a:solidFill>
                  <a:srgbClr val="11182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</p:txBody>
        </p:sp>
        <p:sp>
          <p:nvSpPr>
            <p:cNvPr id="56" name="Shape 23">
              <a:extLst>
                <a:ext uri="{FF2B5EF4-FFF2-40B4-BE49-F238E27FC236}">
                  <a16:creationId xmlns:a16="http://schemas.microsoft.com/office/drawing/2014/main" id="{69ECE763-48C0-3F51-7465-B91A9102F03C}"/>
                </a:ext>
              </a:extLst>
            </p:cNvPr>
            <p:cNvSpPr/>
            <p:nvPr/>
          </p:nvSpPr>
          <p:spPr>
            <a:xfrm>
              <a:off x="10351922" y="6172658"/>
              <a:ext cx="819302" cy="267005"/>
            </a:xfrm>
            <a:prstGeom prst="roundRect">
              <a:avLst>
                <a:gd name="adj" fmla="val 48924"/>
              </a:avLst>
            </a:prstGeom>
            <a:solidFill>
              <a:srgbClr val="F3F4F6"/>
            </a:solidFill>
            <a:ln/>
          </p:spPr>
          <p:txBody>
            <a:bodyPr lIns="0" tIns="0" rIns="0" bIns="0" anchor="ctr" anchorCtr="0"/>
            <a:lstStyle/>
            <a:p>
              <a:pPr algn="ctr"/>
              <a:r>
                <a:rPr lang="en-US" altLang="ko-KR" sz="1000">
                  <a:solidFill>
                    <a:srgbClr val="111827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MetS (±)</a:t>
              </a:r>
              <a:endParaRPr lang="en-US" altLang="ko-KR" sz="1000" dirty="0">
                <a:solidFill>
                  <a:srgbClr val="11182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</p:txBody>
        </p:sp>
        <p:sp>
          <p:nvSpPr>
            <p:cNvPr id="66" name="Text 26">
              <a:extLst>
                <a:ext uri="{FF2B5EF4-FFF2-40B4-BE49-F238E27FC236}">
                  <a16:creationId xmlns:a16="http://schemas.microsoft.com/office/drawing/2014/main" id="{20733635-F6F7-A8B1-3DBB-F784BE7B22DA}"/>
                </a:ext>
              </a:extLst>
            </p:cNvPr>
            <p:cNvSpPr txBox="1"/>
            <p:nvPr/>
          </p:nvSpPr>
          <p:spPr>
            <a:xfrm>
              <a:off x="8065008" y="6191860"/>
              <a:ext cx="2770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9CA3AF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×</a:t>
              </a:r>
              <a:endParaRPr lang="en-US" sz="1200" dirty="0"/>
            </a:p>
          </p:txBody>
        </p:sp>
        <p:sp>
          <p:nvSpPr>
            <p:cNvPr id="76" name="Text 28">
              <a:extLst>
                <a:ext uri="{FF2B5EF4-FFF2-40B4-BE49-F238E27FC236}">
                  <a16:creationId xmlns:a16="http://schemas.microsoft.com/office/drawing/2014/main" id="{16A651FD-96DD-0ACC-69B4-403C459855B2}"/>
                </a:ext>
              </a:extLst>
            </p:cNvPr>
            <p:cNvSpPr txBox="1"/>
            <p:nvPr/>
          </p:nvSpPr>
          <p:spPr>
            <a:xfrm>
              <a:off x="10123322" y="6191860"/>
              <a:ext cx="2770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9CA3AF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×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15">
            <a:extLst>
              <a:ext uri="{FF2B5EF4-FFF2-40B4-BE49-F238E27FC236}">
                <a16:creationId xmlns:a16="http://schemas.microsoft.com/office/drawing/2014/main" id="{64DAD9F9-5358-409F-B2FE-6FD3981BBE3B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BAC2CF7-813B-A316-C716-04C740E8678F}"/>
              </a:ext>
            </a:extLst>
          </p:cNvPr>
          <p:cNvGrpSpPr/>
          <p:nvPr/>
        </p:nvGrpSpPr>
        <p:grpSpPr>
          <a:xfrm>
            <a:off x="206207" y="5133870"/>
            <a:ext cx="10312681" cy="311823"/>
            <a:chOff x="351434" y="6100696"/>
            <a:chExt cx="10312681" cy="311823"/>
          </a:xfrm>
        </p:grpSpPr>
        <p:sp>
          <p:nvSpPr>
            <p:cNvPr id="12" name="Text 10"/>
            <p:cNvSpPr txBox="1"/>
            <p:nvPr/>
          </p:nvSpPr>
          <p:spPr>
            <a:xfrm>
              <a:off x="351434" y="6100696"/>
              <a:ext cx="3564350" cy="10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06C67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Figure 1. Dietary Network Visualizations</a:t>
              </a:r>
              <a:endParaRPr lang="en-US" sz="1200" dirty="0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351434" y="6252376"/>
              <a:ext cx="10312681" cy="1601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4B5563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성별·연령·대사증후군(MetS) 상태에 따라 층화된 식이 네트워크 구조. 노드 크기는 차수 중심성(Degree Centrality)을, </a:t>
              </a:r>
              <a:r>
                <a:rPr lang="en-US" sz="1100" dirty="0" err="1">
                  <a:solidFill>
                    <a:srgbClr val="4B5563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엣지</a:t>
              </a:r>
              <a:r>
                <a:rPr lang="en-US" sz="1100" dirty="0">
                  <a:solidFill>
                    <a:srgbClr val="4B5563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두께는 부분상관(Partial Correlation) 강도를 나타냄. </a:t>
              </a:r>
              <a:endParaRPr lang="en-US" sz="11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  <p:sp>
        <p:nvSpPr>
          <p:cNvPr id="48" name="Text 5">
            <a:extLst>
              <a:ext uri="{FF2B5EF4-FFF2-40B4-BE49-F238E27FC236}">
                <a16:creationId xmlns:a16="http://schemas.microsoft.com/office/drawing/2014/main" id="{9DE73FEB-C7A5-46B2-94CD-82ED89129866}"/>
              </a:ext>
            </a:extLst>
          </p:cNvPr>
          <p:cNvSpPr txBox="1"/>
          <p:nvPr/>
        </p:nvSpPr>
        <p:spPr>
          <a:xfrm>
            <a:off x="724205" y="242316"/>
            <a:ext cx="618683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Network Structure Results</a:t>
            </a:r>
            <a:endParaRPr lang="en-US" sz="2200" dirty="0"/>
          </a:p>
        </p:txBody>
      </p:sp>
      <p:sp>
        <p:nvSpPr>
          <p:cNvPr id="49" name="Text 6">
            <a:extLst>
              <a:ext uri="{FF2B5EF4-FFF2-40B4-BE49-F238E27FC236}">
                <a16:creationId xmlns:a16="http://schemas.microsoft.com/office/drawing/2014/main" id="{50A5276F-EB7A-49EC-A864-3169EEDFFD44}"/>
              </a:ext>
            </a:extLst>
          </p:cNvPr>
          <p:cNvSpPr txBox="1"/>
          <p:nvPr/>
        </p:nvSpPr>
        <p:spPr>
          <a:xfrm>
            <a:off x="11044123" y="362636"/>
            <a:ext cx="566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Results</a:t>
            </a:r>
            <a:endParaRPr lang="en-US" sz="1000" dirty="0"/>
          </a:p>
        </p:txBody>
      </p:sp>
      <p:sp>
        <p:nvSpPr>
          <p:cNvPr id="50" name="Text 7">
            <a:extLst>
              <a:ext uri="{FF2B5EF4-FFF2-40B4-BE49-F238E27FC236}">
                <a16:creationId xmlns:a16="http://schemas.microsoft.com/office/drawing/2014/main" id="{9EA69189-3AE7-4A0F-9BC8-C6DAB63D2B84}"/>
              </a:ext>
            </a:extLst>
          </p:cNvPr>
          <p:cNvSpPr txBox="1"/>
          <p:nvPr/>
        </p:nvSpPr>
        <p:spPr>
          <a:xfrm>
            <a:off x="11582705" y="362636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6C6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03</a:t>
            </a:r>
            <a:endParaRPr lang="en-US" sz="1000" dirty="0"/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95A350BF-F5B0-4C04-A873-3FB379594293}"/>
              </a:ext>
            </a:extLst>
          </p:cNvPr>
          <p:cNvGrpSpPr/>
          <p:nvPr/>
        </p:nvGrpSpPr>
        <p:grpSpPr>
          <a:xfrm>
            <a:off x="206206" y="5694103"/>
            <a:ext cx="2278171" cy="967599"/>
            <a:chOff x="8610296" y="1057620"/>
            <a:chExt cx="3314394" cy="645330"/>
          </a:xfrm>
        </p:grpSpPr>
        <p:sp>
          <p:nvSpPr>
            <p:cNvPr id="51" name="Shape 15">
              <a:extLst>
                <a:ext uri="{FF2B5EF4-FFF2-40B4-BE49-F238E27FC236}">
                  <a16:creationId xmlns:a16="http://schemas.microsoft.com/office/drawing/2014/main" id="{22A280E3-9F8E-4A30-9D52-C73FEFA6DF0C}"/>
                </a:ext>
              </a:extLst>
            </p:cNvPr>
            <p:cNvSpPr/>
            <p:nvPr/>
          </p:nvSpPr>
          <p:spPr>
            <a:xfrm>
              <a:off x="8610296" y="1057620"/>
              <a:ext cx="3314394" cy="645330"/>
            </a:xfrm>
            <a:prstGeom prst="rect">
              <a:avLst/>
            </a:prstGeom>
            <a:solidFill>
              <a:srgbClr val="006C67"/>
            </a:solidFill>
            <a:ln/>
          </p:spPr>
          <p:txBody>
            <a:bodyPr/>
            <a:lstStyle/>
            <a:p>
              <a:endParaRPr lang="ko-KR" altLang="en-US" dirty="0"/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9CA68915-EE22-4280-9A91-8151514FDB9D}"/>
                </a:ext>
              </a:extLst>
            </p:cNvPr>
            <p:cNvGrpSpPr/>
            <p:nvPr/>
          </p:nvGrpSpPr>
          <p:grpSpPr>
            <a:xfrm>
              <a:off x="8881947" y="1108285"/>
              <a:ext cx="2573871" cy="407945"/>
              <a:chOff x="9381742" y="1032389"/>
              <a:chExt cx="2573871" cy="407945"/>
            </a:xfrm>
          </p:grpSpPr>
          <p:sp>
            <p:nvSpPr>
              <p:cNvPr id="54" name="Text 31">
                <a:extLst>
                  <a:ext uri="{FF2B5EF4-FFF2-40B4-BE49-F238E27FC236}">
                    <a16:creationId xmlns:a16="http://schemas.microsoft.com/office/drawing/2014/main" id="{F7641D00-BDF1-4C81-9F72-9706C32721FA}"/>
                  </a:ext>
                </a:extLst>
              </p:cNvPr>
              <p:cNvSpPr txBox="1"/>
              <p:nvPr/>
            </p:nvSpPr>
            <p:spPr>
              <a:xfrm>
                <a:off x="9381743" y="1252698"/>
                <a:ext cx="2573870" cy="18763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00" dirty="0">
                    <a:solidFill>
                      <a:srgbClr val="FFFFFF">
                        <a:alpha val="80000"/>
                      </a:srgbClr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Network Heterogeneity Analysis</a:t>
                </a:r>
                <a:endParaRPr lang="en-US" sz="900" dirty="0"/>
              </a:p>
            </p:txBody>
          </p:sp>
          <p:sp>
            <p:nvSpPr>
              <p:cNvPr id="55" name="Text 18">
                <a:extLst>
                  <a:ext uri="{FF2B5EF4-FFF2-40B4-BE49-F238E27FC236}">
                    <a16:creationId xmlns:a16="http://schemas.microsoft.com/office/drawing/2014/main" id="{C8C25EA1-363F-442B-BCFB-73964EA82564}"/>
                  </a:ext>
                </a:extLst>
              </p:cNvPr>
              <p:cNvSpPr txBox="1"/>
              <p:nvPr/>
            </p:nvSpPr>
            <p:spPr>
              <a:xfrm>
                <a:off x="9381742" y="1032389"/>
                <a:ext cx="2573871" cy="2478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300" b="1" dirty="0">
                    <a:solidFill>
                      <a:srgbClr val="FFFFFF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Key Metrics</a:t>
                </a:r>
                <a:endParaRPr lang="en-US" sz="1300" dirty="0"/>
              </a:p>
            </p:txBody>
          </p:sp>
        </p:grpSp>
      </p:grpSp>
      <p:pic>
        <p:nvPicPr>
          <p:cNvPr id="15" name="Image 0" descr="preencoded.png"/>
          <p:cNvPicPr>
            <a:picLocks noChangeAspect="1"/>
          </p:cNvPicPr>
          <p:nvPr/>
        </p:nvPicPr>
        <p:blipFill rotWithShape="1">
          <a:blip r:embed="rId3"/>
          <a:srcRect t="53" b="50734"/>
          <a:stretch/>
        </p:blipFill>
        <p:spPr>
          <a:xfrm>
            <a:off x="206206" y="1057716"/>
            <a:ext cx="5928325" cy="3901046"/>
          </a:xfrm>
          <a:prstGeom prst="rect">
            <a:avLst/>
          </a:prstGeom>
        </p:spPr>
      </p:pic>
      <p:sp>
        <p:nvSpPr>
          <p:cNvPr id="5" name="Shape 41">
            <a:extLst>
              <a:ext uri="{FF2B5EF4-FFF2-40B4-BE49-F238E27FC236}">
                <a16:creationId xmlns:a16="http://schemas.microsoft.com/office/drawing/2014/main" id="{09601F0F-F33A-A1DF-6ED1-80A99AF51232}"/>
              </a:ext>
            </a:extLst>
          </p:cNvPr>
          <p:cNvSpPr/>
          <p:nvPr/>
        </p:nvSpPr>
        <p:spPr>
          <a:xfrm>
            <a:off x="457200" y="224028"/>
            <a:ext cx="38405" cy="457200"/>
          </a:xfrm>
          <a:prstGeom prst="rect">
            <a:avLst/>
          </a:prstGeom>
          <a:solidFill>
            <a:srgbClr val="006C67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6BD6E141-467D-75B1-69C7-1085C3584131}"/>
              </a:ext>
            </a:extLst>
          </p:cNvPr>
          <p:cNvGrpSpPr/>
          <p:nvPr/>
        </p:nvGrpSpPr>
        <p:grpSpPr>
          <a:xfrm>
            <a:off x="2601757" y="5694105"/>
            <a:ext cx="9384037" cy="967598"/>
            <a:chOff x="2883551" y="5629087"/>
            <a:chExt cx="9384037" cy="967598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EC6901F1-3725-D67C-1824-75640D20A519}"/>
                </a:ext>
              </a:extLst>
            </p:cNvPr>
            <p:cNvGrpSpPr/>
            <p:nvPr/>
          </p:nvGrpSpPr>
          <p:grpSpPr>
            <a:xfrm>
              <a:off x="9217829" y="5629087"/>
              <a:ext cx="3049759" cy="967598"/>
              <a:chOff x="8746383" y="5629087"/>
              <a:chExt cx="3049759" cy="967598"/>
            </a:xfrm>
          </p:grpSpPr>
          <p:sp>
            <p:nvSpPr>
              <p:cNvPr id="66" name="Shape 32">
                <a:extLst>
                  <a:ext uri="{FF2B5EF4-FFF2-40B4-BE49-F238E27FC236}">
                    <a16:creationId xmlns:a16="http://schemas.microsoft.com/office/drawing/2014/main" id="{17454452-53C1-4EE5-8D19-7A0517C04CCD}"/>
                  </a:ext>
                </a:extLst>
              </p:cNvPr>
              <p:cNvSpPr/>
              <p:nvPr/>
            </p:nvSpPr>
            <p:spPr>
              <a:xfrm>
                <a:off x="8746383" y="5629087"/>
                <a:ext cx="3049759" cy="967598"/>
              </a:xfrm>
              <a:prstGeom prst="roundRect">
                <a:avLst>
                  <a:gd name="adj" fmla="val 5609"/>
                </a:avLst>
              </a:prstGeom>
              <a:solidFill>
                <a:srgbClr val="F9FAFB"/>
              </a:solidFill>
              <a:ln w="12700">
                <a:solidFill>
                  <a:srgbClr val="F3F4F6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DC16746A-FA6A-449E-BECA-991E941C2D95}"/>
                  </a:ext>
                </a:extLst>
              </p:cNvPr>
              <p:cNvGrpSpPr/>
              <p:nvPr/>
            </p:nvGrpSpPr>
            <p:grpSpPr>
              <a:xfrm>
                <a:off x="8951285" y="5700948"/>
                <a:ext cx="2348712" cy="822503"/>
                <a:chOff x="8815198" y="4172407"/>
                <a:chExt cx="2348712" cy="822503"/>
              </a:xfrm>
            </p:grpSpPr>
            <p:grpSp>
              <p:nvGrpSpPr>
                <p:cNvPr id="59" name="그룹 58">
                  <a:extLst>
                    <a:ext uri="{FF2B5EF4-FFF2-40B4-BE49-F238E27FC236}">
                      <a16:creationId xmlns:a16="http://schemas.microsoft.com/office/drawing/2014/main" id="{CBF327FD-5F20-4939-8FA6-E46D2A575830}"/>
                    </a:ext>
                  </a:extLst>
                </p:cNvPr>
                <p:cNvGrpSpPr/>
                <p:nvPr/>
              </p:nvGrpSpPr>
              <p:grpSpPr>
                <a:xfrm>
                  <a:off x="8815198" y="4172407"/>
                  <a:ext cx="1848917" cy="162763"/>
                  <a:chOff x="8833486" y="4172407"/>
                  <a:chExt cx="1848917" cy="162763"/>
                </a:xfrm>
              </p:grpSpPr>
              <p:pic>
                <p:nvPicPr>
                  <p:cNvPr id="23" name="Image 3" descr="preencoded.png"/>
                  <p:cNvPicPr>
                    <a:picLocks noChangeAspect="1"/>
                  </p:cNvPicPr>
                  <p:nvPr/>
                </p:nvPicPr>
                <p:blipFill>
                  <a:blip r:embed="rId4"/>
                  <a:srcRect t="-43" b="-43"/>
                  <a:stretch/>
                </p:blipFill>
                <p:spPr>
                  <a:xfrm>
                    <a:off x="8833486" y="4177436"/>
                    <a:ext cx="133502" cy="152705"/>
                  </a:xfrm>
                  <a:prstGeom prst="rect">
                    <a:avLst/>
                  </a:prstGeom>
                </p:spPr>
              </p:pic>
              <p:sp>
                <p:nvSpPr>
                  <p:cNvPr id="32" name="Text 26"/>
                  <p:cNvSpPr txBox="1"/>
                  <p:nvPr/>
                </p:nvSpPr>
                <p:spPr>
                  <a:xfrm>
                    <a:off x="9043798" y="4172407"/>
                    <a:ext cx="1638605" cy="162763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900" b="1" dirty="0">
                        <a:solidFill>
                          <a:srgbClr val="DC2626"/>
                        </a:solidFill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rPr>
                      <a:t>CORRELATION STRENGTH</a:t>
                    </a:r>
                    <a:endParaRPr lang="en-US" sz="900" dirty="0"/>
                  </a:p>
                </p:txBody>
              </p:sp>
            </p:grpSp>
            <p:sp>
              <p:nvSpPr>
                <p:cNvPr id="33" name="Text 27"/>
                <p:cNvSpPr txBox="1"/>
                <p:nvPr/>
              </p:nvSpPr>
              <p:spPr>
                <a:xfrm>
                  <a:off x="8815198" y="4374490"/>
                  <a:ext cx="2348712" cy="41971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2200" b="1" dirty="0">
                      <a:solidFill>
                        <a:srgbClr val="1F2937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0.1 </a:t>
                  </a:r>
                  <a:r>
                    <a:rPr lang="ko-KR" altLang="en-US" sz="2200" b="1" dirty="0">
                      <a:solidFill>
                        <a:srgbClr val="1F2937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≤ </a:t>
                  </a:r>
                  <a:r>
                    <a:rPr lang="en-US" sz="2200" b="1" dirty="0">
                      <a:solidFill>
                        <a:srgbClr val="1F2937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|ρ| </a:t>
                  </a:r>
                  <a:r>
                    <a:rPr lang="ko-KR" altLang="en-US" sz="2200" b="1" dirty="0">
                      <a:solidFill>
                        <a:srgbClr val="1F2937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≤</a:t>
                  </a:r>
                  <a:r>
                    <a:rPr lang="en-US" sz="2200" b="1" dirty="0">
                      <a:solidFill>
                        <a:srgbClr val="1F2937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0.78</a:t>
                  </a:r>
                  <a:endParaRPr lang="en-US" sz="2200" dirty="0"/>
                </a:p>
              </p:txBody>
            </p:sp>
            <p:sp>
              <p:nvSpPr>
                <p:cNvPr id="36" name="Text 30"/>
                <p:cNvSpPr txBox="1"/>
                <p:nvPr/>
              </p:nvSpPr>
              <p:spPr>
                <a:xfrm>
                  <a:off x="8815198" y="4832147"/>
                  <a:ext cx="1495958" cy="162763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9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강한 </a:t>
                  </a:r>
                  <a:r>
                    <a:rPr lang="en-US" sz="9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조건부</a:t>
                  </a:r>
                  <a:r>
                    <a:rPr lang="en-US" sz="9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sz="9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의존성</a:t>
                  </a:r>
                  <a:r>
                    <a:rPr lang="ko-KR" altLang="en-US" sz="9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이 </a:t>
                  </a:r>
                  <a:r>
                    <a:rPr lang="en-US" sz="9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확인</a:t>
                  </a:r>
                  <a:r>
                    <a:rPr lang="ko-KR" altLang="en-US" sz="9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됨</a:t>
                  </a:r>
                  <a:endParaRPr lang="en-US" sz="900" dirty="0"/>
                </a:p>
              </p:txBody>
            </p:sp>
          </p:grp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F4213F2E-BF56-2D8A-62A0-984B23C23B69}"/>
                </a:ext>
              </a:extLst>
            </p:cNvPr>
            <p:cNvGrpSpPr/>
            <p:nvPr/>
          </p:nvGrpSpPr>
          <p:grpSpPr>
            <a:xfrm>
              <a:off x="2883551" y="5629087"/>
              <a:ext cx="3049759" cy="967598"/>
              <a:chOff x="1914630" y="5629087"/>
              <a:chExt cx="3049759" cy="967598"/>
            </a:xfrm>
          </p:grpSpPr>
          <p:sp>
            <p:nvSpPr>
              <p:cNvPr id="8" name="Shape 32">
                <a:extLst>
                  <a:ext uri="{FF2B5EF4-FFF2-40B4-BE49-F238E27FC236}">
                    <a16:creationId xmlns:a16="http://schemas.microsoft.com/office/drawing/2014/main" id="{03135A7D-E25F-5113-A253-82B4BDA4CCC1}"/>
                  </a:ext>
                </a:extLst>
              </p:cNvPr>
              <p:cNvSpPr/>
              <p:nvPr/>
            </p:nvSpPr>
            <p:spPr>
              <a:xfrm>
                <a:off x="1914630" y="5629087"/>
                <a:ext cx="3049759" cy="967598"/>
              </a:xfrm>
              <a:prstGeom prst="roundRect">
                <a:avLst>
                  <a:gd name="adj" fmla="val 5609"/>
                </a:avLst>
              </a:prstGeom>
              <a:solidFill>
                <a:srgbClr val="F9FAFB"/>
              </a:solidFill>
              <a:ln w="12700">
                <a:solidFill>
                  <a:srgbClr val="F3F4F6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924F0C57-4B0E-1254-C666-D01DDE727F04}"/>
                  </a:ext>
                </a:extLst>
              </p:cNvPr>
              <p:cNvGrpSpPr/>
              <p:nvPr/>
            </p:nvGrpSpPr>
            <p:grpSpPr>
              <a:xfrm>
                <a:off x="2119532" y="5700492"/>
                <a:ext cx="2563063" cy="824788"/>
                <a:chOff x="8815198" y="1895551"/>
                <a:chExt cx="2563063" cy="824788"/>
              </a:xfrm>
            </p:grpSpPr>
            <p:grpSp>
              <p:nvGrpSpPr>
                <p:cNvPr id="10" name="그룹 9">
                  <a:extLst>
                    <a:ext uri="{FF2B5EF4-FFF2-40B4-BE49-F238E27FC236}">
                      <a16:creationId xmlns:a16="http://schemas.microsoft.com/office/drawing/2014/main" id="{95414C66-BFF8-6480-551E-F9D2BE78FB22}"/>
                    </a:ext>
                  </a:extLst>
                </p:cNvPr>
                <p:cNvGrpSpPr/>
                <p:nvPr/>
              </p:nvGrpSpPr>
              <p:grpSpPr>
                <a:xfrm>
                  <a:off x="8815198" y="1895551"/>
                  <a:ext cx="1200607" cy="162763"/>
                  <a:chOff x="8833486" y="1895551"/>
                  <a:chExt cx="1200607" cy="162763"/>
                </a:xfrm>
              </p:grpSpPr>
              <p:pic>
                <p:nvPicPr>
                  <p:cNvPr id="17" name="Image 1" descr="preencoded.png">
                    <a:extLst>
                      <a:ext uri="{FF2B5EF4-FFF2-40B4-BE49-F238E27FC236}">
                        <a16:creationId xmlns:a16="http://schemas.microsoft.com/office/drawing/2014/main" id="{3ADF4402-2DCB-BA2B-DFCE-F4B7C32C050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rcRect l="-33" r="-33"/>
                  <a:stretch/>
                </p:blipFill>
                <p:spPr>
                  <a:xfrm>
                    <a:off x="8833486" y="1900580"/>
                    <a:ext cx="171907" cy="152705"/>
                  </a:xfrm>
                  <a:prstGeom prst="rect">
                    <a:avLst/>
                  </a:prstGeom>
                </p:spPr>
              </p:pic>
              <p:sp>
                <p:nvSpPr>
                  <p:cNvPr id="18" name="Text 19">
                    <a:extLst>
                      <a:ext uri="{FF2B5EF4-FFF2-40B4-BE49-F238E27FC236}">
                        <a16:creationId xmlns:a16="http://schemas.microsoft.com/office/drawing/2014/main" id="{DFA4D662-23A7-1849-746B-54F1DA5A889F}"/>
                      </a:ext>
                    </a:extLst>
                  </p:cNvPr>
                  <p:cNvSpPr txBox="1"/>
                  <p:nvPr/>
                </p:nvSpPr>
                <p:spPr>
                  <a:xfrm>
                    <a:off x="9081288" y="1895551"/>
                    <a:ext cx="952805" cy="162763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900" b="1" dirty="0">
                        <a:solidFill>
                          <a:srgbClr val="006C67"/>
                        </a:solidFill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rPr>
                      <a:t>EDGE COUNTS</a:t>
                    </a:r>
                    <a:endParaRPr lang="en-US" sz="900" dirty="0"/>
                  </a:p>
                </p:txBody>
              </p:sp>
            </p:grpSp>
            <p:sp>
              <p:nvSpPr>
                <p:cNvPr id="11" name="Text 20">
                  <a:extLst>
                    <a:ext uri="{FF2B5EF4-FFF2-40B4-BE49-F238E27FC236}">
                      <a16:creationId xmlns:a16="http://schemas.microsoft.com/office/drawing/2014/main" id="{952FF7F0-50A8-C542-31FD-28D89B50A091}"/>
                    </a:ext>
                  </a:extLst>
                </p:cNvPr>
                <p:cNvSpPr txBox="1"/>
                <p:nvPr/>
              </p:nvSpPr>
              <p:spPr>
                <a:xfrm>
                  <a:off x="8815198" y="2095805"/>
                  <a:ext cx="1205179" cy="41971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2200" b="1" dirty="0">
                      <a:solidFill>
                        <a:srgbClr val="1F2937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10 – 18</a:t>
                  </a:r>
                  <a:endParaRPr lang="en-US" sz="2200" dirty="0"/>
                </a:p>
              </p:txBody>
            </p:sp>
            <p:sp>
              <p:nvSpPr>
                <p:cNvPr id="14" name="Text 21">
                  <a:extLst>
                    <a:ext uri="{FF2B5EF4-FFF2-40B4-BE49-F238E27FC236}">
                      <a16:creationId xmlns:a16="http://schemas.microsoft.com/office/drawing/2014/main" id="{68A93FAE-69CC-F7D9-6600-0BA13AF016A2}"/>
                    </a:ext>
                  </a:extLst>
                </p:cNvPr>
                <p:cNvSpPr txBox="1"/>
                <p:nvPr/>
              </p:nvSpPr>
              <p:spPr>
                <a:xfrm>
                  <a:off x="9894190" y="2295144"/>
                  <a:ext cx="1124712" cy="162763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9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Edges per Network</a:t>
                  </a:r>
                  <a:endParaRPr lang="en-US" sz="900" dirty="0"/>
                </a:p>
              </p:txBody>
            </p:sp>
            <p:sp>
              <p:nvSpPr>
                <p:cNvPr id="16" name="Text 22">
                  <a:extLst>
                    <a:ext uri="{FF2B5EF4-FFF2-40B4-BE49-F238E27FC236}">
                      <a16:creationId xmlns:a16="http://schemas.microsoft.com/office/drawing/2014/main" id="{5C9AB941-4E16-BA3D-D756-9387F4B39518}"/>
                    </a:ext>
                  </a:extLst>
                </p:cNvPr>
                <p:cNvSpPr txBox="1"/>
                <p:nvPr/>
              </p:nvSpPr>
              <p:spPr>
                <a:xfrm>
                  <a:off x="8815198" y="2557576"/>
                  <a:ext cx="2563063" cy="162763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9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네트워크 복잡도가 그룹별로 </a:t>
                  </a:r>
                  <a:r>
                    <a:rPr lang="en-US" sz="9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다양하게</a:t>
                  </a:r>
                  <a:r>
                    <a:rPr lang="en-US" sz="9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sz="9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나타남</a:t>
                  </a:r>
                  <a:endParaRPr lang="en-US" sz="900" dirty="0"/>
                </a:p>
              </p:txBody>
            </p:sp>
          </p:grp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2A296F15-393B-6DA4-7AD9-19FDD1D6B0F7}"/>
                </a:ext>
              </a:extLst>
            </p:cNvPr>
            <p:cNvGrpSpPr/>
            <p:nvPr/>
          </p:nvGrpSpPr>
          <p:grpSpPr>
            <a:xfrm>
              <a:off x="6050690" y="5629087"/>
              <a:ext cx="3049759" cy="967598"/>
              <a:chOff x="5329538" y="5629087"/>
              <a:chExt cx="3049759" cy="967598"/>
            </a:xfrm>
          </p:grpSpPr>
          <p:sp>
            <p:nvSpPr>
              <p:cNvPr id="22" name="Shape 32">
                <a:extLst>
                  <a:ext uri="{FF2B5EF4-FFF2-40B4-BE49-F238E27FC236}">
                    <a16:creationId xmlns:a16="http://schemas.microsoft.com/office/drawing/2014/main" id="{8684EDD5-8D33-BC60-89D1-10F96A3C7874}"/>
                  </a:ext>
                </a:extLst>
              </p:cNvPr>
              <p:cNvSpPr/>
              <p:nvPr/>
            </p:nvSpPr>
            <p:spPr>
              <a:xfrm>
                <a:off x="5329538" y="5629087"/>
                <a:ext cx="3049759" cy="967598"/>
              </a:xfrm>
              <a:prstGeom prst="roundRect">
                <a:avLst>
                  <a:gd name="adj" fmla="val 5609"/>
                </a:avLst>
              </a:prstGeom>
              <a:solidFill>
                <a:srgbClr val="F9FAFB"/>
              </a:solidFill>
              <a:ln w="12700">
                <a:solidFill>
                  <a:srgbClr val="F3F4F6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DB55D85D-8CCC-7ACF-2133-A43934066BC3}"/>
                  </a:ext>
                </a:extLst>
              </p:cNvPr>
              <p:cNvGrpSpPr/>
              <p:nvPr/>
            </p:nvGrpSpPr>
            <p:grpSpPr>
              <a:xfrm>
                <a:off x="5534440" y="5696755"/>
                <a:ext cx="2067458" cy="823874"/>
                <a:chOff x="8815198" y="2967228"/>
                <a:chExt cx="2067458" cy="823874"/>
              </a:xfrm>
            </p:grpSpPr>
            <p:grpSp>
              <p:nvGrpSpPr>
                <p:cNvPr id="34" name="그룹 33">
                  <a:extLst>
                    <a:ext uri="{FF2B5EF4-FFF2-40B4-BE49-F238E27FC236}">
                      <a16:creationId xmlns:a16="http://schemas.microsoft.com/office/drawing/2014/main" id="{E49381E8-6B16-5519-34B1-2FDD62F0FDBF}"/>
                    </a:ext>
                  </a:extLst>
                </p:cNvPr>
                <p:cNvGrpSpPr/>
                <p:nvPr/>
              </p:nvGrpSpPr>
              <p:grpSpPr>
                <a:xfrm>
                  <a:off x="8815198" y="2967228"/>
                  <a:ext cx="1495958" cy="162763"/>
                  <a:chOff x="8833486" y="2967228"/>
                  <a:chExt cx="1495958" cy="162763"/>
                </a:xfrm>
              </p:grpSpPr>
              <p:pic>
                <p:nvPicPr>
                  <p:cNvPr id="39" name="Image 2" descr="preencoded.png">
                    <a:extLst>
                      <a:ext uri="{FF2B5EF4-FFF2-40B4-BE49-F238E27FC236}">
                        <a16:creationId xmlns:a16="http://schemas.microsoft.com/office/drawing/2014/main" id="{514FF577-6FE2-5ECA-DD7A-08B1A1519DE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rcRect/>
                  <a:stretch/>
                </p:blipFill>
                <p:spPr>
                  <a:xfrm>
                    <a:off x="8833486" y="2972257"/>
                    <a:ext cx="152705" cy="152705"/>
                  </a:xfrm>
                  <a:prstGeom prst="rect">
                    <a:avLst/>
                  </a:prstGeom>
                </p:spPr>
              </p:pic>
              <p:sp>
                <p:nvSpPr>
                  <p:cNvPr id="40" name="Text 23">
                    <a:extLst>
                      <a:ext uri="{FF2B5EF4-FFF2-40B4-BE49-F238E27FC236}">
                        <a16:creationId xmlns:a16="http://schemas.microsoft.com/office/drawing/2014/main" id="{17B5BAB4-BC9C-0F54-B1C6-DBFB1978A16E}"/>
                      </a:ext>
                    </a:extLst>
                  </p:cNvPr>
                  <p:cNvSpPr txBox="1"/>
                  <p:nvPr/>
                </p:nvSpPr>
                <p:spPr>
                  <a:xfrm>
                    <a:off x="9062086" y="2967228"/>
                    <a:ext cx="1267358" cy="162763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900" b="1" dirty="0">
                        <a:solidFill>
                          <a:srgbClr val="2563EB"/>
                        </a:solidFill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rPr>
                      <a:t>NETWORK DENSITY</a:t>
                    </a:r>
                    <a:endParaRPr lang="en-US" sz="900" dirty="0"/>
                  </a:p>
                </p:txBody>
              </p:sp>
            </p:grpSp>
            <p:sp>
              <p:nvSpPr>
                <p:cNvPr id="35" name="Text 24">
                  <a:extLst>
                    <a:ext uri="{FF2B5EF4-FFF2-40B4-BE49-F238E27FC236}">
                      <a16:creationId xmlns:a16="http://schemas.microsoft.com/office/drawing/2014/main" id="{57925C68-A684-2FCE-8D73-4D1CC910B8E3}"/>
                    </a:ext>
                  </a:extLst>
                </p:cNvPr>
                <p:cNvSpPr txBox="1"/>
                <p:nvPr/>
              </p:nvSpPr>
              <p:spPr>
                <a:xfrm>
                  <a:off x="8815198" y="3167482"/>
                  <a:ext cx="1739189" cy="41971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2200" b="1" dirty="0">
                      <a:solidFill>
                        <a:srgbClr val="1F2937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0.15 - 0.27</a:t>
                  </a:r>
                  <a:endParaRPr lang="en-US" sz="2200" dirty="0"/>
                </a:p>
              </p:txBody>
            </p:sp>
            <p:sp>
              <p:nvSpPr>
                <p:cNvPr id="37" name="Text 25">
                  <a:extLst>
                    <a:ext uri="{FF2B5EF4-FFF2-40B4-BE49-F238E27FC236}">
                      <a16:creationId xmlns:a16="http://schemas.microsoft.com/office/drawing/2014/main" id="{8A9129F2-34D4-FD41-1A5B-ED6CD08ECD06}"/>
                    </a:ext>
                  </a:extLst>
                </p:cNvPr>
                <p:cNvSpPr txBox="1"/>
                <p:nvPr/>
              </p:nvSpPr>
              <p:spPr>
                <a:xfrm>
                  <a:off x="8815198" y="3628339"/>
                  <a:ext cx="2067458" cy="162763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9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식품 간 연결 밀집도의 </a:t>
                  </a:r>
                  <a:r>
                    <a:rPr lang="en-US" sz="9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상당한</a:t>
                  </a:r>
                  <a:r>
                    <a:rPr lang="en-US" sz="9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sz="9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변동성</a:t>
                  </a:r>
                  <a:r>
                    <a:rPr lang="ko-KR" altLang="en-US" sz="9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이</a:t>
                  </a:r>
                  <a:r>
                    <a:rPr lang="en-US" sz="9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 </a:t>
                  </a:r>
                  <a:r>
                    <a:rPr lang="en-US" sz="900" dirty="0" err="1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관찰</a:t>
                  </a:r>
                  <a:r>
                    <a:rPr lang="ko-KR" altLang="en-US" sz="900" dirty="0">
                      <a:solidFill>
                        <a:srgbClr val="6B7280"/>
                      </a:solidFill>
                      <a:latin typeface="Pretendard Medium" panose="02000603000000020004" pitchFamily="2" charset="-127"/>
                      <a:ea typeface="Pretendard Medium" panose="02000603000000020004" pitchFamily="2" charset="-127"/>
                      <a:cs typeface="Pretendard Medium" panose="02000603000000020004" pitchFamily="2" charset="-127"/>
                    </a:rPr>
                    <a:t>됨</a:t>
                  </a:r>
                  <a:endParaRPr lang="en-US" sz="900" dirty="0"/>
                </a:p>
              </p:txBody>
            </p:sp>
          </p:grpSp>
        </p:grpSp>
      </p:grpSp>
      <p:pic>
        <p:nvPicPr>
          <p:cNvPr id="52" name="그림 51" descr="스크린샷, 크리스마스 트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5E3927-F668-D2E2-8AAC-5FA618ECCD2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0000"/>
          <a:stretch>
            <a:fillRect/>
          </a:stretch>
        </p:blipFill>
        <p:spPr>
          <a:xfrm>
            <a:off x="6008044" y="1057716"/>
            <a:ext cx="5928325" cy="39621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15">
            <a:extLst>
              <a:ext uri="{FF2B5EF4-FFF2-40B4-BE49-F238E27FC236}">
                <a16:creationId xmlns:a16="http://schemas.microsoft.com/office/drawing/2014/main" id="{FE21909C-6F03-4D7C-8A92-3140E06DFA2B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224028"/>
            <a:ext cx="38405" cy="457200"/>
          </a:xfrm>
          <a:prstGeom prst="rect">
            <a:avLst/>
          </a:prstGeom>
          <a:solidFill>
            <a:srgbClr val="006C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24205" y="243230"/>
            <a:ext cx="802568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Hub Food Rankings by Subgroups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71492" y="914400"/>
            <a:ext cx="9144" cy="518190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00380" y="1638605"/>
            <a:ext cx="3448202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300380" y="1333195"/>
            <a:ext cx="219456" cy="19019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33221" y="1295705"/>
            <a:ext cx="17053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6C6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순위 변동 패턴 분석</a:t>
            </a:r>
            <a:endParaRPr lang="en-US" sz="1500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7956D28E-92CD-4CE1-9144-F62F3E87EEFC}"/>
              </a:ext>
            </a:extLst>
          </p:cNvPr>
          <p:cNvGrpSpPr/>
          <p:nvPr/>
        </p:nvGrpSpPr>
        <p:grpSpPr>
          <a:xfrm>
            <a:off x="376275" y="2011680"/>
            <a:ext cx="3434486" cy="748044"/>
            <a:chOff x="376275" y="1800454"/>
            <a:chExt cx="3434486" cy="748044"/>
          </a:xfrm>
        </p:grpSpPr>
        <p:sp>
          <p:nvSpPr>
            <p:cNvPr id="16" name="Text 13"/>
            <p:cNvSpPr txBox="1"/>
            <p:nvPr/>
          </p:nvSpPr>
          <p:spPr>
            <a:xfrm>
              <a:off x="376275" y="1800454"/>
              <a:ext cx="2358000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300" b="1" dirty="0" err="1">
                  <a:solidFill>
                    <a:srgbClr val="1F2937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튀김식품</a:t>
              </a:r>
              <a:r>
                <a:rPr lang="en-US" altLang="ko-KR" sz="1300" b="1" dirty="0">
                  <a:solidFill>
                    <a:srgbClr val="1F2937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(Fried Foods)</a:t>
              </a:r>
              <a:endParaRPr lang="en-US" altLang="ko-KR" sz="1300" dirty="0"/>
            </a:p>
          </p:txBody>
        </p:sp>
        <p:sp>
          <p:nvSpPr>
            <p:cNvPr id="19" name="Text 16"/>
            <p:cNvSpPr txBox="1"/>
            <p:nvPr/>
          </p:nvSpPr>
          <p:spPr>
            <a:xfrm>
              <a:off x="376275" y="2152498"/>
              <a:ext cx="3434486" cy="396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보편적 1위: 성별, 연령, 대사증후군 유무와 </a:t>
              </a:r>
              <a:r>
                <a:rPr lang="en-US" sz="10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관계없이</a:t>
              </a:r>
              <a:r>
                <a:rPr lang="en-US" sz="10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</a:p>
            <a:p>
              <a:pPr marL="0" indent="0" algn="l">
                <a:buNone/>
              </a:pPr>
              <a:r>
                <a:rPr lang="ko-KR" altLang="en-US" sz="10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전체 </a:t>
              </a:r>
              <a:r>
                <a:rPr lang="en-US" altLang="ko-KR" sz="10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11</a:t>
              </a:r>
              <a:r>
                <a:rPr lang="ko-KR" altLang="en-US" sz="10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개 하위집단</a:t>
              </a:r>
              <a:r>
                <a:rPr lang="en-US" altLang="ko-KR" sz="10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(100%)</a:t>
              </a:r>
              <a:r>
                <a:rPr lang="ko-KR" altLang="en-US" sz="10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에서 가장 빈번한 허브로 식별됨</a:t>
              </a:r>
              <a:endParaRPr lang="en-US" sz="1000" dirty="0"/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DBA2947-3AF5-49D6-9501-325896BBED60}"/>
              </a:ext>
            </a:extLst>
          </p:cNvPr>
          <p:cNvGrpSpPr/>
          <p:nvPr/>
        </p:nvGrpSpPr>
        <p:grpSpPr>
          <a:xfrm>
            <a:off x="376275" y="3181442"/>
            <a:ext cx="3215030" cy="737496"/>
            <a:chOff x="376275" y="2725761"/>
            <a:chExt cx="3215030" cy="737496"/>
          </a:xfrm>
        </p:grpSpPr>
        <p:sp>
          <p:nvSpPr>
            <p:cNvPr id="17" name="Text 14"/>
            <p:cNvSpPr txBox="1"/>
            <p:nvPr/>
          </p:nvSpPr>
          <p:spPr>
            <a:xfrm>
              <a:off x="376275" y="2725761"/>
              <a:ext cx="2358000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300" b="1" dirty="0" err="1">
                  <a:solidFill>
                    <a:srgbClr val="1F2937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가공식품</a:t>
              </a:r>
              <a:r>
                <a:rPr lang="en-US" altLang="ko-KR" sz="1300" b="1" dirty="0">
                  <a:solidFill>
                    <a:srgbClr val="1F2937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(Processed Foods)</a:t>
              </a:r>
              <a:endParaRPr lang="en-US" altLang="ko-KR" sz="1300" dirty="0"/>
            </a:p>
          </p:txBody>
        </p:sp>
        <p:sp>
          <p:nvSpPr>
            <p:cNvPr id="20" name="Text 17"/>
            <p:cNvSpPr txBox="1"/>
            <p:nvPr/>
          </p:nvSpPr>
          <p:spPr>
            <a:xfrm>
              <a:off x="376275" y="3067257"/>
              <a:ext cx="3215030" cy="396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주요 2위: </a:t>
              </a:r>
              <a:r>
                <a:rPr lang="en-US" altLang="ko-KR" sz="10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10</a:t>
              </a:r>
              <a:r>
                <a:rPr lang="ko-KR" altLang="en-US" sz="10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개 그룹</a:t>
              </a:r>
              <a:r>
                <a:rPr lang="en-US" altLang="ko-KR" sz="10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(91%)</a:t>
              </a:r>
              <a:r>
                <a:rPr lang="ko-KR" altLang="en-US" sz="10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에서 허브로 식별되며</a:t>
              </a:r>
              <a:endParaRPr lang="en-US" altLang="ko-KR" sz="1000" dirty="0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  <a:p>
              <a:r>
                <a:rPr lang="ko-KR" altLang="en-US" sz="10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튀김식품과 높은 동시 출현 패턴을 보임</a:t>
              </a:r>
              <a:endParaRPr lang="en-US" sz="1000" dirty="0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8022116C-0048-4622-B6C0-ED0D527352D9}"/>
              </a:ext>
            </a:extLst>
          </p:cNvPr>
          <p:cNvGrpSpPr/>
          <p:nvPr/>
        </p:nvGrpSpPr>
        <p:grpSpPr>
          <a:xfrm>
            <a:off x="376274" y="4340656"/>
            <a:ext cx="3681833" cy="749384"/>
            <a:chOff x="376274" y="3733495"/>
            <a:chExt cx="3681833" cy="749384"/>
          </a:xfrm>
        </p:grpSpPr>
        <p:sp>
          <p:nvSpPr>
            <p:cNvPr id="18" name="Text 15"/>
            <p:cNvSpPr txBox="1"/>
            <p:nvPr/>
          </p:nvSpPr>
          <p:spPr>
            <a:xfrm>
              <a:off x="376274" y="3733495"/>
              <a:ext cx="2358000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1300" b="1" dirty="0">
                  <a:solidFill>
                    <a:srgbClr val="1F2937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가당 </a:t>
              </a:r>
              <a:r>
                <a:rPr lang="en-US" sz="1300" b="1" dirty="0" err="1">
                  <a:solidFill>
                    <a:srgbClr val="1F2937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음료</a:t>
              </a:r>
              <a:endParaRPr lang="en-US" sz="1300" dirty="0"/>
            </a:p>
          </p:txBody>
        </p:sp>
        <p:sp>
          <p:nvSpPr>
            <p:cNvPr id="22" name="Text 19"/>
            <p:cNvSpPr txBox="1"/>
            <p:nvPr/>
          </p:nvSpPr>
          <p:spPr>
            <a:xfrm>
              <a:off x="376275" y="4086879"/>
              <a:ext cx="3681832" cy="396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10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주요 </a:t>
              </a:r>
              <a:r>
                <a:rPr lang="en-US" altLang="ko-KR" sz="10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3</a:t>
              </a:r>
              <a:r>
                <a:rPr lang="ko-KR" altLang="en-US" sz="10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위</a:t>
              </a:r>
              <a:r>
                <a:rPr lang="en-US" altLang="ko-KR" sz="10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:</a:t>
              </a:r>
              <a:r>
                <a:rPr lang="ko-KR" altLang="en-US" sz="10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10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9</a:t>
              </a:r>
              <a:r>
                <a:rPr lang="ko-KR" altLang="en-US" sz="10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개 그룹</a:t>
              </a:r>
              <a:r>
                <a:rPr lang="en-US" altLang="ko-KR" sz="10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(82%)</a:t>
              </a:r>
              <a:r>
                <a:rPr lang="ko-KR" altLang="en-US" sz="10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에서 허브로 식별되며</a:t>
              </a:r>
              <a:r>
                <a:rPr lang="en-US" altLang="ko-KR" sz="10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, </a:t>
              </a:r>
              <a:r>
                <a:rPr lang="ko-KR" altLang="en-US" sz="10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특히 젊은 층과 </a:t>
              </a:r>
              <a:r>
                <a:rPr lang="en-US" sz="10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MetS</a:t>
              </a:r>
              <a:r>
                <a:rPr lang="en-US" sz="10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+ </a:t>
              </a:r>
              <a:r>
                <a:rPr lang="ko-KR" altLang="en-US" sz="10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그룹에서 높은 빈도를 보임</a:t>
              </a:r>
              <a:r>
                <a:rPr lang="en-US" altLang="ko-KR" sz="10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. </a:t>
              </a:r>
              <a:r>
                <a:rPr lang="ko-KR" altLang="en-US" sz="10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가공식품 및 당류 식품과 강한 연결성을 나타냄</a:t>
              </a:r>
              <a:r>
                <a:rPr lang="en-US" altLang="ko-KR" sz="10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.</a:t>
              </a:r>
              <a:endParaRPr lang="en-US" sz="1000" dirty="0"/>
            </a:p>
          </p:txBody>
        </p:sp>
      </p:grpSp>
      <p:sp>
        <p:nvSpPr>
          <p:cNvPr id="23" name="Shape 20"/>
          <p:cNvSpPr/>
          <p:nvPr/>
        </p:nvSpPr>
        <p:spPr>
          <a:xfrm>
            <a:off x="317753" y="5858561"/>
            <a:ext cx="3448202" cy="705002"/>
          </a:xfrm>
          <a:prstGeom prst="roundRect">
            <a:avLst>
              <a:gd name="adj" fmla="val 14022"/>
            </a:avLst>
          </a:prstGeom>
          <a:solidFill>
            <a:srgbClr val="F0FDFA"/>
          </a:solidFill>
          <a:ln w="12700">
            <a:solidFill>
              <a:srgbClr val="E5E7EB"/>
            </a:solidFill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4D49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MetS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4D49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+ (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4D49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대사증후군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4D49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4D49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그룹에서는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4D49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4D49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허브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4D49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4D49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식품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4D49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4D49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간의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4D49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4D49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연결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4D49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4D49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강도가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4D49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4D49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증폭되어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4D49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1-3위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4D49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4D49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4D49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격차가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4D49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4D49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줄어드는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4D49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4D49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경향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4D49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을 보임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6">
            <a:extLst>
              <a:ext uri="{FF2B5EF4-FFF2-40B4-BE49-F238E27FC236}">
                <a16:creationId xmlns:a16="http://schemas.microsoft.com/office/drawing/2014/main" id="{8931C8C5-8A59-5B50-5ABF-94C635EAC10C}"/>
              </a:ext>
            </a:extLst>
          </p:cNvPr>
          <p:cNvSpPr txBox="1"/>
          <p:nvPr/>
        </p:nvSpPr>
        <p:spPr>
          <a:xfrm>
            <a:off x="11044123" y="362636"/>
            <a:ext cx="566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Results</a:t>
            </a:r>
            <a:endParaRPr lang="en-US" sz="1000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A5DA4C20-7E4F-4E0D-9DBB-66DBCB6A6D7F}"/>
              </a:ext>
            </a:extLst>
          </p:cNvPr>
          <p:cNvSpPr txBox="1"/>
          <p:nvPr/>
        </p:nvSpPr>
        <p:spPr>
          <a:xfrm>
            <a:off x="11582705" y="362636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6C6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03</a:t>
            </a:r>
            <a:endParaRPr lang="en-US" sz="1000" dirty="0"/>
          </a:p>
        </p:txBody>
      </p:sp>
      <p:pic>
        <p:nvPicPr>
          <p:cNvPr id="26" name="그림 25" descr="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C4A418-8E35-6632-ACF5-E226F72BE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7563" y="1295705"/>
            <a:ext cx="7772400" cy="47875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15">
            <a:extLst>
              <a:ext uri="{FF2B5EF4-FFF2-40B4-BE49-F238E27FC236}">
                <a16:creationId xmlns:a16="http://schemas.microsoft.com/office/drawing/2014/main" id="{C0FEB4FF-97B2-95E1-2F81-C94EC47FD544}"/>
              </a:ext>
            </a:extLst>
          </p:cNvPr>
          <p:cNvSpPr/>
          <p:nvPr/>
        </p:nvSpPr>
        <p:spPr>
          <a:xfrm>
            <a:off x="6353088" y="2438141"/>
            <a:ext cx="5400000" cy="1152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15">
            <a:extLst>
              <a:ext uri="{FF2B5EF4-FFF2-40B4-BE49-F238E27FC236}">
                <a16:creationId xmlns:a16="http://schemas.microsoft.com/office/drawing/2014/main" id="{0712F402-EADD-4BD4-86E0-0509C60254FE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38912" y="1522956"/>
            <a:ext cx="54000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BE503965-7155-464A-93EB-E57DE6D559FE}"/>
              </a:ext>
            </a:extLst>
          </p:cNvPr>
          <p:cNvGrpSpPr/>
          <p:nvPr/>
        </p:nvGrpSpPr>
        <p:grpSpPr>
          <a:xfrm>
            <a:off x="438912" y="1187008"/>
            <a:ext cx="4430268" cy="267005"/>
            <a:chOff x="438912" y="1100023"/>
            <a:chExt cx="4430268" cy="267005"/>
          </a:xfrm>
        </p:grpSpPr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438912" y="1138428"/>
              <a:ext cx="237744" cy="190195"/>
            </a:xfrm>
            <a:prstGeom prst="rect">
              <a:avLst/>
            </a:prstGeom>
          </p:spPr>
        </p:pic>
        <p:sp>
          <p:nvSpPr>
            <p:cNvPr id="5" name="Text 2"/>
            <p:cNvSpPr txBox="1"/>
            <p:nvPr/>
          </p:nvSpPr>
          <p:spPr>
            <a:xfrm>
              <a:off x="791870" y="1100023"/>
              <a:ext cx="4077310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b="1" dirty="0">
                  <a:solidFill>
                    <a:srgbClr val="006C67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Diet Leverage</a:t>
              </a:r>
            </a:p>
          </p:txBody>
        </p:sp>
      </p:grpSp>
      <p:sp>
        <p:nvSpPr>
          <p:cNvPr id="7" name="Text 4"/>
          <p:cNvSpPr txBox="1"/>
          <p:nvPr/>
        </p:nvSpPr>
        <p:spPr>
          <a:xfrm>
            <a:off x="438911" y="1597543"/>
            <a:ext cx="5400001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허브 식품의 섭취량을 조절할 때, 네트워크상 연결된 다른 식품군들의 섭취 변화가 연쇄적으로 일어날 수 있음. (</a:t>
            </a:r>
            <a:r>
              <a:rPr lang="en-US" sz="1200" dirty="0" err="1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예</a:t>
            </a:r>
            <a:r>
              <a:rPr lang="en-US" sz="1200" dirty="0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 튀김 음식 섭취 감소는 </a:t>
            </a:r>
            <a:r>
              <a:rPr lang="en-US" sz="1200" dirty="0" err="1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가공식품</a:t>
            </a:r>
            <a:r>
              <a:rPr lang="en-US" sz="1200" dirty="0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섭취의</a:t>
            </a:r>
            <a:r>
              <a:rPr lang="en-US" sz="1200" dirty="0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동반</a:t>
            </a:r>
            <a:r>
              <a:rPr lang="en-US" sz="1200" dirty="0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감소</a:t>
            </a:r>
            <a:r>
              <a:rPr lang="en-US" sz="1200" dirty="0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유발</a:t>
            </a:r>
            <a:r>
              <a:rPr lang="en-US" sz="1200" dirty="0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091428" y="1258999"/>
            <a:ext cx="9144" cy="52669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438912" y="2438141"/>
            <a:ext cx="5400000" cy="1152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>
            <a:alphaModFix amt="10000"/>
          </a:blip>
          <a:srcRect l="-347" r="-347"/>
          <a:stretch/>
        </p:blipFill>
        <p:spPr>
          <a:xfrm>
            <a:off x="4922215" y="2544929"/>
            <a:ext cx="647395" cy="5715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76656" y="2564068"/>
            <a:ext cx="1677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900" b="1">
                <a:solidFill>
                  <a:srgbClr val="9CA3AF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r>
              <a:rPr lang="en-US"/>
              <a:t>Cascading Effects</a:t>
            </a:r>
            <a:endParaRPr lang="en-US" dirty="0"/>
          </a:p>
        </p:txBody>
      </p:sp>
      <p:sp>
        <p:nvSpPr>
          <p:cNvPr id="22" name="Text 17"/>
          <p:cNvSpPr txBox="1"/>
          <p:nvPr/>
        </p:nvSpPr>
        <p:spPr>
          <a:xfrm>
            <a:off x="676656" y="2680385"/>
            <a:ext cx="11530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6C6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24</a:t>
            </a:r>
            <a:r>
              <a:rPr lang="en-US" altLang="ko-KR" sz="3600" b="1" dirty="0">
                <a:solidFill>
                  <a:srgbClr val="006C6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7</a:t>
            </a:r>
            <a:endParaRPr lang="en-US" sz="3600" dirty="0"/>
          </a:p>
        </p:txBody>
      </p:sp>
      <p:sp>
        <p:nvSpPr>
          <p:cNvPr id="23" name="Text 18"/>
          <p:cNvSpPr txBox="1"/>
          <p:nvPr/>
        </p:nvSpPr>
        <p:spPr>
          <a:xfrm>
            <a:off x="1554480" y="2977898"/>
            <a:ext cx="11247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B728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/ 352 Total</a:t>
            </a:r>
            <a:endParaRPr lang="en-US" sz="1500" dirty="0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66197230-84BC-EDA6-2A83-8D83CD7DBBFF}"/>
              </a:ext>
            </a:extLst>
          </p:cNvPr>
          <p:cNvGrpSpPr/>
          <p:nvPr/>
        </p:nvGrpSpPr>
        <p:grpSpPr>
          <a:xfrm>
            <a:off x="692435" y="3372446"/>
            <a:ext cx="4892954" cy="89751"/>
            <a:chOff x="676656" y="3372446"/>
            <a:chExt cx="3838651" cy="75895"/>
          </a:xfrm>
        </p:grpSpPr>
        <p:sp>
          <p:nvSpPr>
            <p:cNvPr id="24" name="Shape 19"/>
            <p:cNvSpPr/>
            <p:nvPr/>
          </p:nvSpPr>
          <p:spPr>
            <a:xfrm>
              <a:off x="676656" y="3372446"/>
              <a:ext cx="3838651" cy="75895"/>
            </a:xfrm>
            <a:prstGeom prst="roundRect">
              <a:avLst>
                <a:gd name="adj" fmla="val 1204822"/>
              </a:avLst>
            </a:prstGeom>
            <a:solidFill>
              <a:srgbClr val="F3F4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Shape 20"/>
            <p:cNvSpPr/>
            <p:nvPr/>
          </p:nvSpPr>
          <p:spPr>
            <a:xfrm>
              <a:off x="676656" y="3372446"/>
              <a:ext cx="2609698" cy="75895"/>
            </a:xfrm>
            <a:prstGeom prst="rect">
              <a:avLst/>
            </a:prstGeom>
            <a:solidFill>
              <a:srgbClr val="006C67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6" name="Text 21"/>
          <p:cNvSpPr txBox="1"/>
          <p:nvPr/>
        </p:nvSpPr>
        <p:spPr>
          <a:xfrm>
            <a:off x="4137679" y="3321766"/>
            <a:ext cx="14355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ko-KR" sz="1000" b="1" dirty="0">
                <a:solidFill>
                  <a:srgbClr val="006C6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70</a:t>
            </a:r>
            <a:r>
              <a:rPr lang="en-US" sz="1000" b="1" dirty="0">
                <a:solidFill>
                  <a:srgbClr val="006C6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% Significance Rate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438912" y="3896506"/>
            <a:ext cx="5400000" cy="1152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5">
            <a:alphaModFix amt="10000"/>
          </a:blip>
          <a:srcRect t="-16" b="-16"/>
          <a:stretch/>
        </p:blipFill>
        <p:spPr>
          <a:xfrm>
            <a:off x="4855464" y="4061599"/>
            <a:ext cx="714146" cy="5715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76656" y="4030607"/>
            <a:ext cx="2039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MEAN STANDARDIZED EFFECT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676656" y="4138750"/>
            <a:ext cx="2105863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40AF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β = 0.1</a:t>
            </a:r>
            <a:r>
              <a:rPr lang="en-US" altLang="ko-KR" sz="3600" b="1" dirty="0">
                <a:solidFill>
                  <a:srgbClr val="1E40AF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1</a:t>
            </a:r>
            <a:endParaRPr lang="en-US" sz="3600" dirty="0"/>
          </a:p>
        </p:txBody>
      </p:sp>
      <p:sp>
        <p:nvSpPr>
          <p:cNvPr id="31" name="Text 25"/>
          <p:cNvSpPr txBox="1"/>
          <p:nvPr/>
        </p:nvSpPr>
        <p:spPr>
          <a:xfrm>
            <a:off x="676656" y="4779861"/>
            <a:ext cx="16194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Consistent across subgroups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438912" y="5361361"/>
            <a:ext cx="5400000" cy="1152000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6">
            <a:alphaModFix amt="10000"/>
          </a:blip>
          <a:srcRect l="-347" r="-347"/>
          <a:stretch/>
        </p:blipFill>
        <p:spPr>
          <a:xfrm>
            <a:off x="4922215" y="5523210"/>
            <a:ext cx="647395" cy="57150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676656" y="5487288"/>
            <a:ext cx="15627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METS+ GROUP IMPACT</a:t>
            </a:r>
            <a:endParaRPr lang="en-US" sz="900" dirty="0"/>
          </a:p>
        </p:txBody>
      </p:sp>
      <p:sp>
        <p:nvSpPr>
          <p:cNvPr id="37" name="Text 29"/>
          <p:cNvSpPr txBox="1"/>
          <p:nvPr/>
        </p:nvSpPr>
        <p:spPr>
          <a:xfrm>
            <a:off x="676657" y="5818561"/>
            <a:ext cx="365928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" altLang="ko-KR" sz="3600" b="1" dirty="0">
                <a:solidFill>
                  <a:srgbClr val="DC2626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78% </a:t>
            </a:r>
            <a:r>
              <a:rPr lang="en" altLang="ko-KR" sz="1500" b="1" dirty="0">
                <a:solidFill>
                  <a:srgbClr val="6B728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positive associations</a:t>
            </a:r>
            <a:endParaRPr lang="en-US" sz="1500" b="1" dirty="0">
              <a:solidFill>
                <a:srgbClr val="6B728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8" name="Text 30"/>
          <p:cNvSpPr txBox="1"/>
          <p:nvPr/>
        </p:nvSpPr>
        <p:spPr>
          <a:xfrm>
            <a:off x="679427" y="6202542"/>
            <a:ext cx="1834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900">
                <a:solidFill>
                  <a:srgbClr val="9CA3AF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r>
              <a:rPr lang="en" altLang="ko-KR" dirty="0"/>
              <a:t>22% negative associations</a:t>
            </a:r>
            <a:endParaRPr lang="en-US" dirty="0"/>
          </a:p>
        </p:txBody>
      </p:sp>
      <p:sp>
        <p:nvSpPr>
          <p:cNvPr id="41" name="Shape 33"/>
          <p:cNvSpPr/>
          <p:nvPr/>
        </p:nvSpPr>
        <p:spPr>
          <a:xfrm>
            <a:off x="457200" y="224028"/>
            <a:ext cx="38405" cy="457200"/>
          </a:xfrm>
          <a:prstGeom prst="rect">
            <a:avLst/>
          </a:prstGeom>
          <a:solidFill>
            <a:srgbClr val="006C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4"/>
          <p:cNvSpPr txBox="1"/>
          <p:nvPr/>
        </p:nvSpPr>
        <p:spPr>
          <a:xfrm>
            <a:off x="724205" y="243230"/>
            <a:ext cx="680587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Dual Leverage Findings</a:t>
            </a:r>
            <a:endParaRPr lang="en-US" sz="2200" dirty="0"/>
          </a:p>
        </p:txBody>
      </p:sp>
      <p:sp>
        <p:nvSpPr>
          <p:cNvPr id="43" name="Text 35"/>
          <p:cNvSpPr txBox="1"/>
          <p:nvPr/>
        </p:nvSpPr>
        <p:spPr>
          <a:xfrm>
            <a:off x="11044123" y="357530"/>
            <a:ext cx="566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Results</a:t>
            </a:r>
            <a:endParaRPr lang="en-US" sz="1000" dirty="0"/>
          </a:p>
        </p:txBody>
      </p:sp>
      <p:sp>
        <p:nvSpPr>
          <p:cNvPr id="44" name="Text 36"/>
          <p:cNvSpPr txBox="1"/>
          <p:nvPr/>
        </p:nvSpPr>
        <p:spPr>
          <a:xfrm>
            <a:off x="11582705" y="357530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6C6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03</a:t>
            </a:r>
            <a:endParaRPr lang="en-US" sz="1000" dirty="0"/>
          </a:p>
        </p:txBody>
      </p:sp>
      <p:pic>
        <p:nvPicPr>
          <p:cNvPr id="46" name="Image 0" descr="preencoded.png">
            <a:extLst>
              <a:ext uri="{FF2B5EF4-FFF2-40B4-BE49-F238E27FC236}">
                <a16:creationId xmlns:a16="http://schemas.microsoft.com/office/drawing/2014/main" id="{61FE5A13-0B00-19E9-7D0E-82C96DD2629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3419" r="-3419"/>
          <a:stretch/>
        </p:blipFill>
        <p:spPr>
          <a:xfrm>
            <a:off x="6353088" y="1225413"/>
            <a:ext cx="228600" cy="190195"/>
          </a:xfrm>
          <a:prstGeom prst="rect">
            <a:avLst/>
          </a:prstGeom>
        </p:spPr>
      </p:pic>
      <p:sp>
        <p:nvSpPr>
          <p:cNvPr id="47" name="Text 2">
            <a:extLst>
              <a:ext uri="{FF2B5EF4-FFF2-40B4-BE49-F238E27FC236}">
                <a16:creationId xmlns:a16="http://schemas.microsoft.com/office/drawing/2014/main" id="{4C096CF1-E3E5-CD3D-3C53-C8F4F88DAF86}"/>
              </a:ext>
            </a:extLst>
          </p:cNvPr>
          <p:cNvSpPr txBox="1"/>
          <p:nvPr/>
        </p:nvSpPr>
        <p:spPr>
          <a:xfrm>
            <a:off x="6686844" y="1187008"/>
            <a:ext cx="2991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b="1">
                <a:solidFill>
                  <a:srgbClr val="006C6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r>
              <a:rPr lang="en-US" altLang="ko-KR"/>
              <a:t>Health Leverage</a:t>
            </a:r>
            <a:endParaRPr lang="en-US" dirty="0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48840255-C7A1-E260-527B-FE3BE2A031B6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10000"/>
          </a:blip>
          <a:srcRect/>
          <a:stretch/>
        </p:blipFill>
        <p:spPr>
          <a:xfrm>
            <a:off x="10905896" y="2599990"/>
            <a:ext cx="571500" cy="571500"/>
          </a:xfrm>
          <a:prstGeom prst="rect">
            <a:avLst/>
          </a:prstGeom>
        </p:spPr>
      </p:pic>
      <p:sp>
        <p:nvSpPr>
          <p:cNvPr id="54" name="Text 25">
            <a:extLst>
              <a:ext uri="{FF2B5EF4-FFF2-40B4-BE49-F238E27FC236}">
                <a16:creationId xmlns:a16="http://schemas.microsoft.com/office/drawing/2014/main" id="{3C282997-C2C6-70E4-28D5-3E3E97198CB7}"/>
              </a:ext>
            </a:extLst>
          </p:cNvPr>
          <p:cNvSpPr txBox="1"/>
          <p:nvPr/>
        </p:nvSpPr>
        <p:spPr>
          <a:xfrm>
            <a:off x="6590832" y="2560141"/>
            <a:ext cx="1953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SIGNIFICANT ASSOCIATIONS</a:t>
            </a:r>
            <a:endParaRPr lang="en-US" sz="900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CC216DC7-306E-5209-773C-23AB8BC25916}"/>
              </a:ext>
            </a:extLst>
          </p:cNvPr>
          <p:cNvSpPr txBox="1"/>
          <p:nvPr/>
        </p:nvSpPr>
        <p:spPr>
          <a:xfrm>
            <a:off x="6590832" y="2680385"/>
            <a:ext cx="14676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3600" b="1" dirty="0">
                <a:solidFill>
                  <a:srgbClr val="006C6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13</a:t>
            </a:r>
            <a:r>
              <a:rPr lang="en-US" sz="3600" b="1" dirty="0">
                <a:solidFill>
                  <a:srgbClr val="006C6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%</a:t>
            </a:r>
            <a:endParaRPr lang="en-US" sz="3600" dirty="0"/>
          </a:p>
        </p:txBody>
      </p:sp>
      <p:sp>
        <p:nvSpPr>
          <p:cNvPr id="56" name="Text 27">
            <a:extLst>
              <a:ext uri="{FF2B5EF4-FFF2-40B4-BE49-F238E27FC236}">
                <a16:creationId xmlns:a16="http://schemas.microsoft.com/office/drawing/2014/main" id="{AD1E9870-0BEB-85F4-6205-5092AFF957F1}"/>
              </a:ext>
            </a:extLst>
          </p:cNvPr>
          <p:cNvSpPr txBox="1"/>
          <p:nvPr/>
        </p:nvSpPr>
        <p:spPr>
          <a:xfrm>
            <a:off x="7790525" y="3004181"/>
            <a:ext cx="810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(2</a:t>
            </a:r>
            <a:r>
              <a:rPr lang="en-US" altLang="ko-KR" sz="1200" dirty="0">
                <a:solidFill>
                  <a:srgbClr val="6B728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9</a:t>
            </a:r>
            <a:r>
              <a:rPr lang="en-US" sz="1200" dirty="0">
                <a:solidFill>
                  <a:srgbClr val="6B728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/ 224)</a:t>
            </a:r>
            <a:endParaRPr lang="en-US" sz="1200" dirty="0"/>
          </a:p>
        </p:txBody>
      </p:sp>
      <p:sp>
        <p:nvSpPr>
          <p:cNvPr id="57" name="Shape 28">
            <a:extLst>
              <a:ext uri="{FF2B5EF4-FFF2-40B4-BE49-F238E27FC236}">
                <a16:creationId xmlns:a16="http://schemas.microsoft.com/office/drawing/2014/main" id="{BE0C31ED-8919-2492-9A68-DF082264E6EE}"/>
              </a:ext>
            </a:extLst>
          </p:cNvPr>
          <p:cNvSpPr/>
          <p:nvPr/>
        </p:nvSpPr>
        <p:spPr>
          <a:xfrm>
            <a:off x="6590832" y="3410534"/>
            <a:ext cx="3838651" cy="57607"/>
          </a:xfrm>
          <a:prstGeom prst="roundRect">
            <a:avLst>
              <a:gd name="adj" fmla="val 1587307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9">
            <a:extLst>
              <a:ext uri="{FF2B5EF4-FFF2-40B4-BE49-F238E27FC236}">
                <a16:creationId xmlns:a16="http://schemas.microsoft.com/office/drawing/2014/main" id="{3CFF7AAE-F69A-634D-2512-DC3A69A9C178}"/>
              </a:ext>
            </a:extLst>
          </p:cNvPr>
          <p:cNvSpPr/>
          <p:nvPr/>
        </p:nvSpPr>
        <p:spPr>
          <a:xfrm>
            <a:off x="6590832" y="3410534"/>
            <a:ext cx="3838651" cy="57607"/>
          </a:xfrm>
          <a:prstGeom prst="rect">
            <a:avLst/>
          </a:prstGeom>
          <a:solidFill>
            <a:srgbClr val="006C67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93658D6C-0F62-988B-FEDC-A62775F0851D}"/>
              </a:ext>
            </a:extLst>
          </p:cNvPr>
          <p:cNvGrpSpPr/>
          <p:nvPr/>
        </p:nvGrpSpPr>
        <p:grpSpPr>
          <a:xfrm>
            <a:off x="6353088" y="5361073"/>
            <a:ext cx="5400000" cy="1152000"/>
            <a:chOff x="6353088" y="3896506"/>
            <a:chExt cx="5400000" cy="1152000"/>
          </a:xfrm>
        </p:grpSpPr>
        <p:sp>
          <p:nvSpPr>
            <p:cNvPr id="82" name="Shape 22">
              <a:extLst>
                <a:ext uri="{FF2B5EF4-FFF2-40B4-BE49-F238E27FC236}">
                  <a16:creationId xmlns:a16="http://schemas.microsoft.com/office/drawing/2014/main" id="{E09460D8-3487-11B2-1842-70DD0B4A58F0}"/>
                </a:ext>
              </a:extLst>
            </p:cNvPr>
            <p:cNvSpPr/>
            <p:nvPr/>
          </p:nvSpPr>
          <p:spPr>
            <a:xfrm>
              <a:off x="6353088" y="3896506"/>
              <a:ext cx="5400000" cy="11520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2700" dist="12700" dir="16200000" algn="bl" rotWithShape="0">
                <a:srgbClr val="000000">
                  <a:alpha val="7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61" name="Image 4" descr="preencoded.png">
              <a:extLst>
                <a:ext uri="{FF2B5EF4-FFF2-40B4-BE49-F238E27FC236}">
                  <a16:creationId xmlns:a16="http://schemas.microsoft.com/office/drawing/2014/main" id="{00F2138F-4E13-B97D-0184-C4988AD7DDB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alphaModFix amt="10000"/>
            </a:blip>
            <a:srcRect l="-347" r="-347"/>
            <a:stretch/>
          </p:blipFill>
          <p:spPr>
            <a:xfrm>
              <a:off x="10867949" y="4030607"/>
              <a:ext cx="647395" cy="571500"/>
            </a:xfrm>
            <a:prstGeom prst="rect">
              <a:avLst/>
            </a:prstGeom>
          </p:spPr>
        </p:pic>
        <p:sp>
          <p:nvSpPr>
            <p:cNvPr id="62" name="Text 32">
              <a:extLst>
                <a:ext uri="{FF2B5EF4-FFF2-40B4-BE49-F238E27FC236}">
                  <a16:creationId xmlns:a16="http://schemas.microsoft.com/office/drawing/2014/main" id="{A55EE017-3D8D-1498-7568-3909C5712D1B}"/>
                </a:ext>
              </a:extLst>
            </p:cNvPr>
            <p:cNvSpPr txBox="1"/>
            <p:nvPr/>
          </p:nvSpPr>
          <p:spPr>
            <a:xfrm>
              <a:off x="6590832" y="4030607"/>
              <a:ext cx="178125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9CA3AF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AMPLIFICATION IN METS+</a:t>
              </a:r>
              <a:endParaRPr lang="en-US" sz="900" dirty="0"/>
            </a:p>
          </p:txBody>
        </p:sp>
        <p:sp>
          <p:nvSpPr>
            <p:cNvPr id="63" name="Text 33">
              <a:extLst>
                <a:ext uri="{FF2B5EF4-FFF2-40B4-BE49-F238E27FC236}">
                  <a16:creationId xmlns:a16="http://schemas.microsoft.com/office/drawing/2014/main" id="{D4E4471F-6762-E75E-77B3-72BE071E69CD}"/>
                </a:ext>
              </a:extLst>
            </p:cNvPr>
            <p:cNvSpPr txBox="1"/>
            <p:nvPr/>
          </p:nvSpPr>
          <p:spPr>
            <a:xfrm>
              <a:off x="6590832" y="4138750"/>
              <a:ext cx="2143354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DC2626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1.</a:t>
              </a:r>
              <a:r>
                <a:rPr lang="en-US" altLang="ko-KR" sz="3600" b="1" dirty="0">
                  <a:solidFill>
                    <a:srgbClr val="DC2626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85</a:t>
              </a:r>
              <a:r>
                <a:rPr lang="en-US" sz="3600" b="1" dirty="0">
                  <a:solidFill>
                    <a:srgbClr val="DC2626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x</a:t>
              </a:r>
              <a:endParaRPr lang="en-US" sz="3600" dirty="0"/>
            </a:p>
          </p:txBody>
        </p:sp>
        <p:sp>
          <p:nvSpPr>
            <p:cNvPr id="64" name="Text 34">
              <a:extLst>
                <a:ext uri="{FF2B5EF4-FFF2-40B4-BE49-F238E27FC236}">
                  <a16:creationId xmlns:a16="http://schemas.microsoft.com/office/drawing/2014/main" id="{F939A08A-1DFF-881D-5832-786391752622}"/>
                </a:ext>
              </a:extLst>
            </p:cNvPr>
            <p:cNvSpPr txBox="1"/>
            <p:nvPr/>
          </p:nvSpPr>
          <p:spPr>
            <a:xfrm>
              <a:off x="7834958" y="4508060"/>
              <a:ext cx="875712" cy="14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Fold</a:t>
              </a:r>
              <a:endParaRPr lang="en-US" sz="1200" dirty="0"/>
            </a:p>
          </p:txBody>
        </p:sp>
        <p:sp>
          <p:nvSpPr>
            <p:cNvPr id="65" name="Text 35">
              <a:extLst>
                <a:ext uri="{FF2B5EF4-FFF2-40B4-BE49-F238E27FC236}">
                  <a16:creationId xmlns:a16="http://schemas.microsoft.com/office/drawing/2014/main" id="{F9511C30-68BC-ACF2-7596-99A94E1E400D}"/>
                </a:ext>
              </a:extLst>
            </p:cNvPr>
            <p:cNvSpPr txBox="1"/>
            <p:nvPr/>
          </p:nvSpPr>
          <p:spPr>
            <a:xfrm>
              <a:off x="6590832" y="4785615"/>
              <a:ext cx="2100377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indent="0">
                <a:buNone/>
                <a:defRPr sz="900">
                  <a:solidFill>
                    <a:srgbClr val="9CA3AF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defRPr>
              </a:lvl1pPr>
            </a:lstStyle>
            <a:p>
              <a:r>
                <a:rPr lang="en-US" dirty="0"/>
                <a:t>Stronger Impact in </a:t>
              </a:r>
              <a:r>
                <a:rPr lang="en-US"/>
                <a:t>Risk Groups</a:t>
              </a:r>
              <a:endParaRPr lang="en-US" dirty="0"/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9A0DEA1A-6BDF-EC05-06B1-97B180D3E2A7}"/>
              </a:ext>
            </a:extLst>
          </p:cNvPr>
          <p:cNvGrpSpPr/>
          <p:nvPr/>
        </p:nvGrpSpPr>
        <p:grpSpPr>
          <a:xfrm>
            <a:off x="6353088" y="3899607"/>
            <a:ext cx="5400000" cy="1152000"/>
            <a:chOff x="6353088" y="5361361"/>
            <a:chExt cx="5400000" cy="1152000"/>
          </a:xfrm>
        </p:grpSpPr>
        <p:sp>
          <p:nvSpPr>
            <p:cNvPr id="83" name="Shape 26">
              <a:extLst>
                <a:ext uri="{FF2B5EF4-FFF2-40B4-BE49-F238E27FC236}">
                  <a16:creationId xmlns:a16="http://schemas.microsoft.com/office/drawing/2014/main" id="{12B58979-6B5F-AE61-9C86-400C31F211CC}"/>
                </a:ext>
              </a:extLst>
            </p:cNvPr>
            <p:cNvSpPr/>
            <p:nvPr/>
          </p:nvSpPr>
          <p:spPr>
            <a:xfrm>
              <a:off x="6353088" y="5361361"/>
              <a:ext cx="5400000" cy="1152000"/>
            </a:xfrm>
            <a:prstGeom prst="roundRect">
              <a:avLst>
                <a:gd name="adj" fmla="val 7739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2700" dist="12700" dir="16200000" algn="bl" rotWithShape="0">
                <a:srgbClr val="000000">
                  <a:alpha val="7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6" name="Text 36">
              <a:extLst>
                <a:ext uri="{FF2B5EF4-FFF2-40B4-BE49-F238E27FC236}">
                  <a16:creationId xmlns:a16="http://schemas.microsoft.com/office/drawing/2014/main" id="{D8C579E1-658E-CD31-9795-419FEB3D2BA0}"/>
                </a:ext>
              </a:extLst>
            </p:cNvPr>
            <p:cNvSpPr txBox="1"/>
            <p:nvPr/>
          </p:nvSpPr>
          <p:spPr>
            <a:xfrm>
              <a:off x="6590832" y="5487288"/>
              <a:ext cx="1534363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indent="0">
                <a:buNone/>
                <a:defRPr sz="900" b="1">
                  <a:solidFill>
                    <a:srgbClr val="9CA3AF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defRPr>
              </a:lvl1pPr>
            </a:lstStyle>
            <a:p>
              <a:r>
                <a:rPr lang="en-US" dirty="0"/>
                <a:t>Compared to </a:t>
              </a:r>
              <a:r>
                <a:rPr lang="en-US"/>
                <a:t>MetS- groups</a:t>
              </a:r>
              <a:endParaRPr lang="en-US" dirty="0"/>
            </a:p>
          </p:txBody>
        </p:sp>
        <p:pic>
          <p:nvPicPr>
            <p:cNvPr id="68" name="Image 5" descr="preencoded.png">
              <a:extLst>
                <a:ext uri="{FF2B5EF4-FFF2-40B4-BE49-F238E27FC236}">
                  <a16:creationId xmlns:a16="http://schemas.microsoft.com/office/drawing/2014/main" id="{0DF2D5C1-5E25-6BE4-1AE3-DA38951CE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alphaModFix amt="10000"/>
            </a:blip>
            <a:srcRect/>
            <a:stretch/>
          </p:blipFill>
          <p:spPr>
            <a:xfrm>
              <a:off x="10905896" y="5586403"/>
              <a:ext cx="571500" cy="571500"/>
            </a:xfrm>
            <a:prstGeom prst="rect">
              <a:avLst/>
            </a:prstGeom>
          </p:spPr>
        </p:pic>
        <p:sp>
          <p:nvSpPr>
            <p:cNvPr id="69" name="Text 38">
              <a:extLst>
                <a:ext uri="{FF2B5EF4-FFF2-40B4-BE49-F238E27FC236}">
                  <a16:creationId xmlns:a16="http://schemas.microsoft.com/office/drawing/2014/main" id="{01F26EBF-1838-10E6-B813-1781669BA1A6}"/>
                </a:ext>
              </a:extLst>
            </p:cNvPr>
            <p:cNvSpPr txBox="1"/>
            <p:nvPr/>
          </p:nvSpPr>
          <p:spPr>
            <a:xfrm>
              <a:off x="6590832" y="6266734"/>
              <a:ext cx="223845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9CA3AF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TARGET METABOLIC INDICATORS</a:t>
              </a:r>
              <a:endParaRPr lang="en-US" sz="900" dirty="0"/>
            </a:p>
          </p:txBody>
        </p:sp>
        <p:grpSp>
          <p:nvGrpSpPr>
            <p:cNvPr id="84" name="그룹 83">
              <a:extLst>
                <a:ext uri="{FF2B5EF4-FFF2-40B4-BE49-F238E27FC236}">
                  <a16:creationId xmlns:a16="http://schemas.microsoft.com/office/drawing/2014/main" id="{FA9D2737-5911-4562-BA6C-D6044679E85E}"/>
                </a:ext>
              </a:extLst>
            </p:cNvPr>
            <p:cNvGrpSpPr/>
            <p:nvPr/>
          </p:nvGrpSpPr>
          <p:grpSpPr>
            <a:xfrm>
              <a:off x="6590832" y="5810775"/>
              <a:ext cx="4062548" cy="286207"/>
              <a:chOff x="6590832" y="6542882"/>
              <a:chExt cx="3180284" cy="286207"/>
            </a:xfrm>
          </p:grpSpPr>
          <p:sp>
            <p:nvSpPr>
              <p:cNvPr id="70" name="Shape 39">
                <a:extLst>
                  <a:ext uri="{FF2B5EF4-FFF2-40B4-BE49-F238E27FC236}">
                    <a16:creationId xmlns:a16="http://schemas.microsoft.com/office/drawing/2014/main" id="{659E0BA4-8239-F9FF-95F7-577AF3679EA1}"/>
                  </a:ext>
                </a:extLst>
              </p:cNvPr>
              <p:cNvSpPr/>
              <p:nvPr/>
            </p:nvSpPr>
            <p:spPr>
              <a:xfrm>
                <a:off x="6590832" y="6542882"/>
                <a:ext cx="609905" cy="286207"/>
              </a:xfrm>
              <a:prstGeom prst="roundRect">
                <a:avLst>
                  <a:gd name="adj" fmla="val 85197"/>
                </a:avLst>
              </a:prstGeom>
              <a:solidFill>
                <a:srgbClr val="EFF6FF"/>
              </a:solidFill>
              <a:ln w="12700">
                <a:solidFill>
                  <a:srgbClr val="DBEAFE"/>
                </a:solidFill>
                <a:prstDash val="solid"/>
              </a:ln>
            </p:spPr>
            <p:txBody>
              <a:bodyPr lIns="0" tIns="0" rIns="0" bIns="0" anchor="ctr" anchorCtr="0"/>
              <a:lstStyle/>
              <a:p>
                <a:pPr algn="ctr"/>
                <a:r>
                  <a:rPr lang="en-US" altLang="ko-KR" sz="1000" b="1" dirty="0">
                    <a:solidFill>
                      <a:srgbClr val="1E40AF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Waist</a:t>
                </a:r>
              </a:p>
            </p:txBody>
          </p:sp>
          <p:sp>
            <p:nvSpPr>
              <p:cNvPr id="72" name="Shape 41">
                <a:extLst>
                  <a:ext uri="{FF2B5EF4-FFF2-40B4-BE49-F238E27FC236}">
                    <a16:creationId xmlns:a16="http://schemas.microsoft.com/office/drawing/2014/main" id="{AE7968CF-7F14-3C62-2F65-32DCD914500C}"/>
                  </a:ext>
                </a:extLst>
              </p:cNvPr>
              <p:cNvSpPr/>
              <p:nvPr/>
            </p:nvSpPr>
            <p:spPr>
              <a:xfrm>
                <a:off x="7272060" y="6542882"/>
                <a:ext cx="428854" cy="286207"/>
              </a:xfrm>
              <a:prstGeom prst="roundRect">
                <a:avLst>
                  <a:gd name="adj" fmla="val 85197"/>
                </a:avLst>
              </a:prstGeom>
              <a:solidFill>
                <a:srgbClr val="EFF6FF"/>
              </a:solidFill>
              <a:ln w="12700">
                <a:solidFill>
                  <a:srgbClr val="DBEAFE"/>
                </a:solidFill>
                <a:prstDash val="solid"/>
              </a:ln>
            </p:spPr>
            <p:txBody>
              <a:bodyPr lIns="0" tIns="0" rIns="0" bIns="0" anchor="ctr" anchorCtr="0"/>
              <a:lstStyle/>
              <a:p>
                <a:pPr algn="ctr"/>
                <a:r>
                  <a:rPr lang="en-US" altLang="ko-KR" sz="1000" b="1">
                    <a:solidFill>
                      <a:srgbClr val="1E40AF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TG</a:t>
                </a:r>
                <a:endParaRPr lang="en-US" altLang="ko-KR" sz="1000" b="1" dirty="0">
                  <a:solidFill>
                    <a:srgbClr val="1E40AF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endParaRPr>
              </a:p>
            </p:txBody>
          </p:sp>
          <p:sp>
            <p:nvSpPr>
              <p:cNvPr id="74" name="Shape 43">
                <a:extLst>
                  <a:ext uri="{FF2B5EF4-FFF2-40B4-BE49-F238E27FC236}">
                    <a16:creationId xmlns:a16="http://schemas.microsoft.com/office/drawing/2014/main" id="{C5458081-29C2-884C-3B99-C22F0B79E75F}"/>
                  </a:ext>
                </a:extLst>
              </p:cNvPr>
              <p:cNvSpPr/>
              <p:nvPr/>
            </p:nvSpPr>
            <p:spPr>
              <a:xfrm>
                <a:off x="7770408" y="6542882"/>
                <a:ext cx="666598" cy="286207"/>
              </a:xfrm>
              <a:prstGeom prst="roundRect">
                <a:avLst>
                  <a:gd name="adj" fmla="val 85197"/>
                </a:avLst>
              </a:prstGeom>
              <a:solidFill>
                <a:srgbClr val="EFF6FF"/>
              </a:solidFill>
              <a:ln w="12700">
                <a:solidFill>
                  <a:srgbClr val="DBEAFE"/>
                </a:solidFill>
                <a:prstDash val="solid"/>
              </a:ln>
            </p:spPr>
            <p:txBody>
              <a:bodyPr lIns="0" tIns="0" rIns="0" bIns="0" anchor="ctr" anchorCtr="0"/>
              <a:lstStyle/>
              <a:p>
                <a:pPr algn="ctr"/>
                <a:r>
                  <a:rPr lang="en-US" altLang="ko-KR" sz="1000" b="1">
                    <a:solidFill>
                      <a:srgbClr val="1E40AF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HDL-C</a:t>
                </a:r>
                <a:endParaRPr lang="en-US" altLang="ko-KR" sz="1000" b="1" dirty="0">
                  <a:solidFill>
                    <a:srgbClr val="1E40AF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endParaRPr>
              </a:p>
            </p:txBody>
          </p:sp>
          <p:sp>
            <p:nvSpPr>
              <p:cNvPr id="76" name="Shape 45">
                <a:extLst>
                  <a:ext uri="{FF2B5EF4-FFF2-40B4-BE49-F238E27FC236}">
                    <a16:creationId xmlns:a16="http://schemas.microsoft.com/office/drawing/2014/main" id="{A5BB4CD3-E26E-637E-37A5-70A8C86CF625}"/>
                  </a:ext>
                </a:extLst>
              </p:cNvPr>
              <p:cNvSpPr/>
              <p:nvPr/>
            </p:nvSpPr>
            <p:spPr>
              <a:xfrm>
                <a:off x="8503757" y="6542882"/>
                <a:ext cx="761695" cy="286207"/>
              </a:xfrm>
              <a:prstGeom prst="roundRect">
                <a:avLst>
                  <a:gd name="adj" fmla="val 85197"/>
                </a:avLst>
              </a:prstGeom>
              <a:solidFill>
                <a:srgbClr val="EFF6FF"/>
              </a:solidFill>
              <a:ln w="12700">
                <a:solidFill>
                  <a:srgbClr val="DBEAFE"/>
                </a:solidFill>
                <a:prstDash val="solid"/>
              </a:ln>
            </p:spPr>
            <p:txBody>
              <a:bodyPr lIns="0" tIns="0" rIns="0" bIns="0" anchor="ctr" anchorCtr="0"/>
              <a:lstStyle/>
              <a:p>
                <a:pPr algn="ctr"/>
                <a:r>
                  <a:rPr lang="en-US" altLang="ko-KR" sz="1000" b="1">
                    <a:solidFill>
                      <a:srgbClr val="1E40AF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Glucose</a:t>
                </a:r>
                <a:endParaRPr lang="en-US" altLang="ko-KR" sz="1000" b="1" dirty="0">
                  <a:solidFill>
                    <a:srgbClr val="1E40AF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endParaRPr>
              </a:p>
            </p:txBody>
          </p:sp>
          <p:sp>
            <p:nvSpPr>
              <p:cNvPr id="78" name="Shape 47">
                <a:extLst>
                  <a:ext uri="{FF2B5EF4-FFF2-40B4-BE49-F238E27FC236}">
                    <a16:creationId xmlns:a16="http://schemas.microsoft.com/office/drawing/2014/main" id="{D656064A-9E66-89BE-1F66-553D207361F8}"/>
                  </a:ext>
                </a:extLst>
              </p:cNvPr>
              <p:cNvSpPr/>
              <p:nvPr/>
            </p:nvSpPr>
            <p:spPr>
              <a:xfrm>
                <a:off x="9342262" y="6542882"/>
                <a:ext cx="428854" cy="286207"/>
              </a:xfrm>
              <a:prstGeom prst="roundRect">
                <a:avLst>
                  <a:gd name="adj" fmla="val 85197"/>
                </a:avLst>
              </a:prstGeom>
              <a:solidFill>
                <a:srgbClr val="EFF6FF"/>
              </a:solidFill>
              <a:ln w="12700">
                <a:solidFill>
                  <a:srgbClr val="DBEAFE"/>
                </a:solidFill>
                <a:prstDash val="solid"/>
              </a:ln>
            </p:spPr>
            <p:txBody>
              <a:bodyPr lIns="0" tIns="0" rIns="0" bIns="0" anchor="ctr" anchorCtr="0"/>
              <a:lstStyle/>
              <a:p>
                <a:pPr algn="ctr"/>
                <a:r>
                  <a:rPr lang="en-US" altLang="ko-KR" sz="1000" b="1">
                    <a:solidFill>
                      <a:srgbClr val="1E40AF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BP</a:t>
                </a:r>
                <a:endParaRPr lang="en-US" altLang="ko-KR" sz="1000" b="1" dirty="0">
                  <a:solidFill>
                    <a:srgbClr val="1E40AF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endParaRPr>
              </a:p>
            </p:txBody>
          </p:sp>
        </p:grpSp>
      </p:grpSp>
      <p:sp>
        <p:nvSpPr>
          <p:cNvPr id="85" name="Text 8">
            <a:extLst>
              <a:ext uri="{FF2B5EF4-FFF2-40B4-BE49-F238E27FC236}">
                <a16:creationId xmlns:a16="http://schemas.microsoft.com/office/drawing/2014/main" id="{5B94B93C-80F6-6750-E955-73772D24D117}"/>
              </a:ext>
            </a:extLst>
          </p:cNvPr>
          <p:cNvSpPr txBox="1"/>
          <p:nvPr/>
        </p:nvSpPr>
        <p:spPr>
          <a:xfrm>
            <a:off x="6353089" y="1664673"/>
            <a:ext cx="5400000" cy="409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허브 식품은 단순히 식사 패턴을 주도하는 것을 넘어,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주요</a:t>
            </a:r>
            <a:r>
              <a:rPr lang="en-US" sz="1200" dirty="0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대사증후군 지표와 직접적인 </a:t>
            </a:r>
            <a:r>
              <a:rPr lang="en-US" sz="1200" dirty="0" err="1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연관성을</a:t>
            </a:r>
            <a:r>
              <a:rPr lang="en-US" sz="1200" dirty="0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보</a:t>
            </a:r>
            <a:r>
              <a:rPr lang="ko-KR" altLang="en-US" sz="1200" dirty="0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임</a:t>
            </a:r>
            <a:endParaRPr lang="en-US" sz="1200" dirty="0"/>
          </a:p>
        </p:txBody>
      </p:sp>
      <p:sp>
        <p:nvSpPr>
          <p:cNvPr id="86" name="Shape 1">
            <a:extLst>
              <a:ext uri="{FF2B5EF4-FFF2-40B4-BE49-F238E27FC236}">
                <a16:creationId xmlns:a16="http://schemas.microsoft.com/office/drawing/2014/main" id="{9F9298FB-5AC3-ADF9-5ADB-E2452D0E672E}"/>
              </a:ext>
            </a:extLst>
          </p:cNvPr>
          <p:cNvSpPr/>
          <p:nvPr/>
        </p:nvSpPr>
        <p:spPr>
          <a:xfrm>
            <a:off x="6353088" y="1522956"/>
            <a:ext cx="54000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0" y="752551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15">
            <a:extLst>
              <a:ext uri="{FF2B5EF4-FFF2-40B4-BE49-F238E27FC236}">
                <a16:creationId xmlns:a16="http://schemas.microsoft.com/office/drawing/2014/main" id="{2035C291-C776-C85D-E99C-DFCE11641952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33">
            <a:extLst>
              <a:ext uri="{FF2B5EF4-FFF2-40B4-BE49-F238E27FC236}">
                <a16:creationId xmlns:a16="http://schemas.microsoft.com/office/drawing/2014/main" id="{D0C259EA-482C-CD34-E35B-6F7186022594}"/>
              </a:ext>
            </a:extLst>
          </p:cNvPr>
          <p:cNvSpPr/>
          <p:nvPr/>
        </p:nvSpPr>
        <p:spPr>
          <a:xfrm>
            <a:off x="457200" y="224028"/>
            <a:ext cx="38405" cy="457200"/>
          </a:xfrm>
          <a:prstGeom prst="rect">
            <a:avLst/>
          </a:prstGeom>
          <a:solidFill>
            <a:srgbClr val="006C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34">
            <a:extLst>
              <a:ext uri="{FF2B5EF4-FFF2-40B4-BE49-F238E27FC236}">
                <a16:creationId xmlns:a16="http://schemas.microsoft.com/office/drawing/2014/main" id="{2EC04788-D0B3-B8A3-EB8A-D6A0500F2F8B}"/>
              </a:ext>
            </a:extLst>
          </p:cNvPr>
          <p:cNvSpPr txBox="1"/>
          <p:nvPr/>
        </p:nvSpPr>
        <p:spPr>
          <a:xfrm>
            <a:off x="724205" y="243230"/>
            <a:ext cx="680587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Dual Leverage Findings</a:t>
            </a:r>
            <a:endParaRPr lang="en-US" sz="2200" dirty="0"/>
          </a:p>
        </p:txBody>
      </p:sp>
      <p:sp>
        <p:nvSpPr>
          <p:cNvPr id="48" name="Text 35">
            <a:extLst>
              <a:ext uri="{FF2B5EF4-FFF2-40B4-BE49-F238E27FC236}">
                <a16:creationId xmlns:a16="http://schemas.microsoft.com/office/drawing/2014/main" id="{8959DC0E-DB9F-164A-28B1-2156906795FB}"/>
              </a:ext>
            </a:extLst>
          </p:cNvPr>
          <p:cNvSpPr txBox="1"/>
          <p:nvPr/>
        </p:nvSpPr>
        <p:spPr>
          <a:xfrm>
            <a:off x="11044123" y="357530"/>
            <a:ext cx="566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Results</a:t>
            </a:r>
            <a:endParaRPr lang="en-US" sz="1000" dirty="0"/>
          </a:p>
        </p:txBody>
      </p:sp>
      <p:sp>
        <p:nvSpPr>
          <p:cNvPr id="49" name="Text 36">
            <a:extLst>
              <a:ext uri="{FF2B5EF4-FFF2-40B4-BE49-F238E27FC236}">
                <a16:creationId xmlns:a16="http://schemas.microsoft.com/office/drawing/2014/main" id="{83FAAB25-7C09-679A-9F8E-7BECDB90E5EE}"/>
              </a:ext>
            </a:extLst>
          </p:cNvPr>
          <p:cNvSpPr txBox="1"/>
          <p:nvPr/>
        </p:nvSpPr>
        <p:spPr>
          <a:xfrm>
            <a:off x="11582705" y="357530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6C6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03</a:t>
            </a:r>
            <a:endParaRPr lang="en-US" sz="1000" dirty="0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60ED0F9-45E8-B02F-D1DC-7DCF926BE076}"/>
              </a:ext>
            </a:extLst>
          </p:cNvPr>
          <p:cNvGrpSpPr/>
          <p:nvPr/>
        </p:nvGrpSpPr>
        <p:grpSpPr>
          <a:xfrm>
            <a:off x="206207" y="5133870"/>
            <a:ext cx="10312681" cy="311823"/>
            <a:chOff x="351434" y="6100696"/>
            <a:chExt cx="10312681" cy="311823"/>
          </a:xfrm>
        </p:grpSpPr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9D7D23A3-0957-0DF2-AE9F-1683BA6163DF}"/>
                </a:ext>
              </a:extLst>
            </p:cNvPr>
            <p:cNvSpPr txBox="1"/>
            <p:nvPr/>
          </p:nvSpPr>
          <p:spPr>
            <a:xfrm>
              <a:off x="351434" y="6100696"/>
              <a:ext cx="3564350" cy="10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200" b="1" dirty="0">
                  <a:solidFill>
                    <a:srgbClr val="006C67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Figure 2. Dual Leverage Mechanism Schematic</a:t>
              </a:r>
              <a:endParaRPr lang="en-US" altLang="ko-KR" sz="1200" dirty="0"/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156C3B61-1195-B938-8A35-8FD65DF42074}"/>
                </a:ext>
              </a:extLst>
            </p:cNvPr>
            <p:cNvSpPr txBox="1"/>
            <p:nvPr/>
          </p:nvSpPr>
          <p:spPr>
            <a:xfrm>
              <a:off x="351434" y="6252376"/>
              <a:ext cx="10312681" cy="1601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네트워크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레버리지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(</a:t>
              </a:r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식이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패턴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변화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)</a:t>
              </a:r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와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건강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레버리지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(</a:t>
              </a:r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임상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지표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개선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)</a:t>
              </a:r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가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동시에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작동하는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시너지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경로를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보여주는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개념도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.</a:t>
              </a:r>
              <a:r>
                <a:rPr lang="ko-KR" altLang="en-US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허브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식품을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표적으로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한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중재는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이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두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경로를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통해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대사증후군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(</a:t>
              </a:r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MetS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) </a:t>
              </a:r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위험을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효과적으로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감소시킴</a:t>
              </a:r>
              <a:r>
                <a:rPr lang="en-US" altLang="ko-KR" sz="9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.</a:t>
              </a: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6874AA32-ACF4-AFA3-0E95-0C3E83B340CA}"/>
              </a:ext>
            </a:extLst>
          </p:cNvPr>
          <p:cNvGrpSpPr/>
          <p:nvPr/>
        </p:nvGrpSpPr>
        <p:grpSpPr>
          <a:xfrm>
            <a:off x="206206" y="5694103"/>
            <a:ext cx="2278171" cy="967599"/>
            <a:chOff x="8610296" y="1057620"/>
            <a:chExt cx="3314394" cy="645330"/>
          </a:xfrm>
        </p:grpSpPr>
        <p:sp>
          <p:nvSpPr>
            <p:cNvPr id="57" name="Shape 15">
              <a:extLst>
                <a:ext uri="{FF2B5EF4-FFF2-40B4-BE49-F238E27FC236}">
                  <a16:creationId xmlns:a16="http://schemas.microsoft.com/office/drawing/2014/main" id="{F1F09164-B1E8-B0A3-0505-1C38D8E98C55}"/>
                </a:ext>
              </a:extLst>
            </p:cNvPr>
            <p:cNvSpPr/>
            <p:nvPr/>
          </p:nvSpPr>
          <p:spPr>
            <a:xfrm>
              <a:off x="8610296" y="1057620"/>
              <a:ext cx="3314394" cy="645330"/>
            </a:xfrm>
            <a:prstGeom prst="rect">
              <a:avLst/>
            </a:prstGeom>
            <a:solidFill>
              <a:srgbClr val="006C67"/>
            </a:solidFill>
            <a:ln/>
          </p:spPr>
          <p:txBody>
            <a:bodyPr/>
            <a:lstStyle/>
            <a:p>
              <a:endParaRPr lang="ko-KR" altLang="en-US" dirty="0"/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3CBB984D-B08C-4479-6234-88622F6408AE}"/>
                </a:ext>
              </a:extLst>
            </p:cNvPr>
            <p:cNvGrpSpPr/>
            <p:nvPr/>
          </p:nvGrpSpPr>
          <p:grpSpPr>
            <a:xfrm>
              <a:off x="8881947" y="1108285"/>
              <a:ext cx="2573871" cy="407945"/>
              <a:chOff x="9381742" y="1032389"/>
              <a:chExt cx="2573871" cy="407945"/>
            </a:xfrm>
          </p:grpSpPr>
          <p:sp>
            <p:nvSpPr>
              <p:cNvPr id="59" name="Text 31">
                <a:extLst>
                  <a:ext uri="{FF2B5EF4-FFF2-40B4-BE49-F238E27FC236}">
                    <a16:creationId xmlns:a16="http://schemas.microsoft.com/office/drawing/2014/main" id="{FA7CC450-B097-CA66-EAB9-D19141F0787E}"/>
                  </a:ext>
                </a:extLst>
              </p:cNvPr>
              <p:cNvSpPr txBox="1"/>
              <p:nvPr/>
            </p:nvSpPr>
            <p:spPr>
              <a:xfrm>
                <a:off x="9381743" y="1252698"/>
                <a:ext cx="2573870" cy="18763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altLang="ko-KR" sz="900" dirty="0">
                    <a:solidFill>
                      <a:srgbClr val="FFFFFF">
                        <a:alpha val="80000"/>
                      </a:srgbClr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Hub-Targeted Intervention</a:t>
                </a:r>
                <a:endParaRPr lang="en-US" altLang="ko-KR" sz="900" dirty="0"/>
              </a:p>
            </p:txBody>
          </p:sp>
          <p:sp>
            <p:nvSpPr>
              <p:cNvPr id="60" name="Text 18">
                <a:extLst>
                  <a:ext uri="{FF2B5EF4-FFF2-40B4-BE49-F238E27FC236}">
                    <a16:creationId xmlns:a16="http://schemas.microsoft.com/office/drawing/2014/main" id="{A3955032-BEF0-6303-7BB5-34BCB266BD10}"/>
                  </a:ext>
                </a:extLst>
              </p:cNvPr>
              <p:cNvSpPr txBox="1"/>
              <p:nvPr/>
            </p:nvSpPr>
            <p:spPr>
              <a:xfrm>
                <a:off x="9381742" y="1032389"/>
                <a:ext cx="2573871" cy="2478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altLang="ko-KR" sz="1300" b="1" dirty="0">
                    <a:solidFill>
                      <a:srgbClr val="FFFFFF"/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Synergistic Effect</a:t>
                </a:r>
                <a:endParaRPr lang="en-US" altLang="ko-KR" sz="1300" dirty="0"/>
              </a:p>
            </p:txBody>
          </p:sp>
        </p:grpSp>
      </p:grpSp>
      <p:sp>
        <p:nvSpPr>
          <p:cNvPr id="80" name="Shape 32">
            <a:extLst>
              <a:ext uri="{FF2B5EF4-FFF2-40B4-BE49-F238E27FC236}">
                <a16:creationId xmlns:a16="http://schemas.microsoft.com/office/drawing/2014/main" id="{BC32E6B3-4349-27BA-C02B-CE507BD5C227}"/>
              </a:ext>
            </a:extLst>
          </p:cNvPr>
          <p:cNvSpPr/>
          <p:nvPr/>
        </p:nvSpPr>
        <p:spPr>
          <a:xfrm>
            <a:off x="8936035" y="5694105"/>
            <a:ext cx="3049759" cy="967598"/>
          </a:xfrm>
          <a:prstGeom prst="roundRect">
            <a:avLst>
              <a:gd name="adj" fmla="val 5609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32">
            <a:extLst>
              <a:ext uri="{FF2B5EF4-FFF2-40B4-BE49-F238E27FC236}">
                <a16:creationId xmlns:a16="http://schemas.microsoft.com/office/drawing/2014/main" id="{2FD1A147-8744-1A35-29FC-9D7D185B0D86}"/>
              </a:ext>
            </a:extLst>
          </p:cNvPr>
          <p:cNvSpPr/>
          <p:nvPr/>
        </p:nvSpPr>
        <p:spPr>
          <a:xfrm>
            <a:off x="2601757" y="5694105"/>
            <a:ext cx="3049759" cy="967598"/>
          </a:xfrm>
          <a:prstGeom prst="roundRect">
            <a:avLst>
              <a:gd name="adj" fmla="val 5609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32">
            <a:extLst>
              <a:ext uri="{FF2B5EF4-FFF2-40B4-BE49-F238E27FC236}">
                <a16:creationId xmlns:a16="http://schemas.microsoft.com/office/drawing/2014/main" id="{F40894B7-6AB1-0743-3C8D-411E3C7CDFBB}"/>
              </a:ext>
            </a:extLst>
          </p:cNvPr>
          <p:cNvSpPr/>
          <p:nvPr/>
        </p:nvSpPr>
        <p:spPr>
          <a:xfrm>
            <a:off x="5768896" y="5694105"/>
            <a:ext cx="3049759" cy="967598"/>
          </a:xfrm>
          <a:prstGeom prst="roundRect">
            <a:avLst>
              <a:gd name="adj" fmla="val 5609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7" name="그림 86" descr="원, 스크린샷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86A7BA-E86A-340A-38D1-AD7508EFF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071" y="837284"/>
            <a:ext cx="8187552" cy="4090352"/>
          </a:xfrm>
          <a:prstGeom prst="rect">
            <a:avLst/>
          </a:prstGeom>
        </p:spPr>
      </p:pic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3BE44925-4031-481E-0D51-1EC7046BD285}"/>
              </a:ext>
            </a:extLst>
          </p:cNvPr>
          <p:cNvGrpSpPr/>
          <p:nvPr/>
        </p:nvGrpSpPr>
        <p:grpSpPr>
          <a:xfrm>
            <a:off x="2671098" y="5784890"/>
            <a:ext cx="2821353" cy="810768"/>
            <a:chOff x="2216413" y="6955746"/>
            <a:chExt cx="2821353" cy="810768"/>
          </a:xfrm>
        </p:grpSpPr>
        <p:pic>
          <p:nvPicPr>
            <p:cNvPr id="88" name="Image 1" descr="preencoded.png">
              <a:extLst>
                <a:ext uri="{FF2B5EF4-FFF2-40B4-BE49-F238E27FC236}">
                  <a16:creationId xmlns:a16="http://schemas.microsoft.com/office/drawing/2014/main" id="{1465393E-39D5-D62A-61A1-58EEA0F090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2216413" y="6964890"/>
              <a:ext cx="152705" cy="152705"/>
            </a:xfrm>
            <a:prstGeom prst="rect">
              <a:avLst/>
            </a:prstGeom>
          </p:spPr>
        </p:pic>
        <p:sp>
          <p:nvSpPr>
            <p:cNvPr id="91" name="Text 18">
              <a:extLst>
                <a:ext uri="{FF2B5EF4-FFF2-40B4-BE49-F238E27FC236}">
                  <a16:creationId xmlns:a16="http://schemas.microsoft.com/office/drawing/2014/main" id="{034490D4-025E-685F-B53B-3DE96D032B5B}"/>
                </a:ext>
              </a:extLst>
            </p:cNvPr>
            <p:cNvSpPr txBox="1"/>
            <p:nvPr/>
          </p:nvSpPr>
          <p:spPr>
            <a:xfrm>
              <a:off x="2445013" y="6955746"/>
              <a:ext cx="148590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EF4444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METS+ AMPLIFICATION</a:t>
              </a:r>
              <a:endParaRPr lang="en-US" sz="900" dirty="0"/>
            </a:p>
          </p:txBody>
        </p:sp>
        <p:sp>
          <p:nvSpPr>
            <p:cNvPr id="92" name="Text 19">
              <a:extLst>
                <a:ext uri="{FF2B5EF4-FFF2-40B4-BE49-F238E27FC236}">
                  <a16:creationId xmlns:a16="http://schemas.microsoft.com/office/drawing/2014/main" id="{67F09B93-087E-F535-C57D-167EBA9A22BC}"/>
                </a:ext>
              </a:extLst>
            </p:cNvPr>
            <p:cNvSpPr txBox="1"/>
            <p:nvPr/>
          </p:nvSpPr>
          <p:spPr>
            <a:xfrm>
              <a:off x="2216413" y="7156000"/>
              <a:ext cx="1558138" cy="419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1F2937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1.</a:t>
              </a:r>
              <a:r>
                <a:rPr lang="en-US" altLang="ko-KR" sz="2200" b="1" dirty="0">
                  <a:solidFill>
                    <a:srgbClr val="1F2937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85</a:t>
              </a:r>
              <a:r>
                <a:rPr lang="en-US" sz="2200" b="1" dirty="0">
                  <a:solidFill>
                    <a:srgbClr val="1F2937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x</a:t>
              </a:r>
              <a:endParaRPr lang="en-US" sz="2200" dirty="0"/>
            </a:p>
          </p:txBody>
        </p:sp>
        <p:sp>
          <p:nvSpPr>
            <p:cNvPr id="93" name="Text 20">
              <a:extLst>
                <a:ext uri="{FF2B5EF4-FFF2-40B4-BE49-F238E27FC236}">
                  <a16:creationId xmlns:a16="http://schemas.microsoft.com/office/drawing/2014/main" id="{C9DA4469-2C90-767B-4A86-7DDB9ACF06EE}"/>
                </a:ext>
              </a:extLst>
            </p:cNvPr>
            <p:cNvSpPr txBox="1"/>
            <p:nvPr/>
          </p:nvSpPr>
          <p:spPr>
            <a:xfrm>
              <a:off x="3007463" y="7355339"/>
              <a:ext cx="7818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Larger Effect</a:t>
              </a:r>
              <a:endParaRPr lang="en-US" sz="900" dirty="0"/>
            </a:p>
          </p:txBody>
        </p:sp>
        <p:sp>
          <p:nvSpPr>
            <p:cNvPr id="94" name="Text 21">
              <a:extLst>
                <a:ext uri="{FF2B5EF4-FFF2-40B4-BE49-F238E27FC236}">
                  <a16:creationId xmlns:a16="http://schemas.microsoft.com/office/drawing/2014/main" id="{B49BF4A1-7D9D-36FA-B15C-019B19A07242}"/>
                </a:ext>
              </a:extLst>
            </p:cNvPr>
            <p:cNvSpPr txBox="1"/>
            <p:nvPr/>
          </p:nvSpPr>
          <p:spPr>
            <a:xfrm>
              <a:off x="2216413" y="7565651"/>
              <a:ext cx="2821353" cy="2008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dirty="0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대사증후군 환자군에서 </a:t>
              </a:r>
              <a:r>
                <a:rPr lang="en-US" sz="900" dirty="0" err="1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비환자군</a:t>
              </a:r>
              <a:r>
                <a:rPr lang="en-US" sz="900" dirty="0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sz="900" dirty="0" err="1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대비</a:t>
              </a:r>
              <a:r>
                <a:rPr lang="ko-KR" altLang="en-US" sz="900" dirty="0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900" dirty="0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1.85배 </a:t>
              </a:r>
              <a:r>
                <a:rPr lang="en-US" altLang="ko-KR" sz="900" dirty="0" err="1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강력한</a:t>
              </a:r>
              <a:r>
                <a:rPr lang="en-US" altLang="ko-KR" sz="900" dirty="0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sz="900" dirty="0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중재 효과</a:t>
              </a:r>
              <a:endParaRPr lang="en-US" altLang="ko-KR" sz="900" dirty="0"/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3327B61D-6A19-8E3D-E3C4-03FF36290FF5}"/>
              </a:ext>
            </a:extLst>
          </p:cNvPr>
          <p:cNvGrpSpPr/>
          <p:nvPr/>
        </p:nvGrpSpPr>
        <p:grpSpPr>
          <a:xfrm>
            <a:off x="5879142" y="5794034"/>
            <a:ext cx="2780448" cy="744017"/>
            <a:chOff x="2216413" y="8222190"/>
            <a:chExt cx="2780448" cy="744017"/>
          </a:xfrm>
        </p:grpSpPr>
        <p:pic>
          <p:nvPicPr>
            <p:cNvPr id="89" name="Image 2" descr="preencoded.png">
              <a:extLst>
                <a:ext uri="{FF2B5EF4-FFF2-40B4-BE49-F238E27FC236}">
                  <a16:creationId xmlns:a16="http://schemas.microsoft.com/office/drawing/2014/main" id="{ECE9C636-422D-301E-B4B0-4EC62EBFF8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-180" b="-180"/>
            <a:stretch/>
          </p:blipFill>
          <p:spPr>
            <a:xfrm>
              <a:off x="2216413" y="8232249"/>
              <a:ext cx="190195" cy="152705"/>
            </a:xfrm>
            <a:prstGeom prst="rect">
              <a:avLst/>
            </a:prstGeom>
          </p:spPr>
        </p:pic>
        <p:sp>
          <p:nvSpPr>
            <p:cNvPr id="96" name="Text 23">
              <a:extLst>
                <a:ext uri="{FF2B5EF4-FFF2-40B4-BE49-F238E27FC236}">
                  <a16:creationId xmlns:a16="http://schemas.microsoft.com/office/drawing/2014/main" id="{AD1AFC68-B205-F028-48F2-892699CD9520}"/>
                </a:ext>
              </a:extLst>
            </p:cNvPr>
            <p:cNvSpPr txBox="1"/>
            <p:nvPr/>
          </p:nvSpPr>
          <p:spPr>
            <a:xfrm>
              <a:off x="2483418" y="8222190"/>
              <a:ext cx="13624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2563EB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NETWORK LEVERAGE</a:t>
              </a:r>
              <a:endParaRPr lang="en-US" sz="900" dirty="0"/>
            </a:p>
          </p:txBody>
        </p:sp>
        <p:sp>
          <p:nvSpPr>
            <p:cNvPr id="97" name="Text 24">
              <a:extLst>
                <a:ext uri="{FF2B5EF4-FFF2-40B4-BE49-F238E27FC236}">
                  <a16:creationId xmlns:a16="http://schemas.microsoft.com/office/drawing/2014/main" id="{46C8F5FB-A195-9F1F-2888-A654E70F9AA0}"/>
                </a:ext>
              </a:extLst>
            </p:cNvPr>
            <p:cNvSpPr txBox="1"/>
            <p:nvPr/>
          </p:nvSpPr>
          <p:spPr>
            <a:xfrm>
              <a:off x="2216413" y="8469993"/>
              <a:ext cx="1414577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F2937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Dietary Pattern</a:t>
              </a:r>
              <a:endParaRPr lang="en-US" sz="1300" dirty="0"/>
            </a:p>
          </p:txBody>
        </p:sp>
        <p:sp>
          <p:nvSpPr>
            <p:cNvPr id="98" name="Text 25">
              <a:extLst>
                <a:ext uri="{FF2B5EF4-FFF2-40B4-BE49-F238E27FC236}">
                  <a16:creationId xmlns:a16="http://schemas.microsoft.com/office/drawing/2014/main" id="{FDBC98B8-AB5D-66C0-D334-1ABD969D8DFD}"/>
                </a:ext>
              </a:extLst>
            </p:cNvPr>
            <p:cNvSpPr txBox="1"/>
            <p:nvPr/>
          </p:nvSpPr>
          <p:spPr>
            <a:xfrm>
              <a:off x="2216413" y="8756200"/>
              <a:ext cx="2780448" cy="2100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dirty="0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연결된 식품군으로의 연쇄적 </a:t>
              </a:r>
              <a:r>
                <a:rPr lang="en-US" sz="900" dirty="0" err="1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파급</a:t>
              </a:r>
              <a:r>
                <a:rPr lang="en-US" sz="900" dirty="0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sz="900" dirty="0" err="1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효과</a:t>
              </a:r>
              <a:r>
                <a:rPr lang="ko-KR" altLang="en-US" sz="900" dirty="0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endParaRPr lang="en-US" altLang="ko-KR" sz="900" dirty="0">
                <a:solidFill>
                  <a:srgbClr val="6B728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  <a:p>
              <a:r>
                <a:rPr lang="en-US" altLang="ko-KR" sz="700" dirty="0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(</a:t>
              </a:r>
              <a:r>
                <a:rPr lang="en-US" altLang="ko-KR" sz="700" dirty="0" err="1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예</a:t>
              </a:r>
              <a:r>
                <a:rPr lang="en-US" altLang="ko-KR" sz="700" dirty="0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: </a:t>
              </a:r>
              <a:r>
                <a:rPr lang="en-US" altLang="ko-KR" sz="700" dirty="0" err="1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튀김</a:t>
              </a:r>
              <a:r>
                <a:rPr lang="en-US" altLang="ko-KR" sz="700" dirty="0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700" dirty="0" err="1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섭취</a:t>
              </a:r>
              <a:r>
                <a:rPr lang="en-US" altLang="ko-KR" sz="700" dirty="0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700" dirty="0" err="1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감소</a:t>
              </a:r>
              <a:r>
                <a:rPr lang="en-US" altLang="ko-KR" sz="700" dirty="0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→ </a:t>
              </a:r>
              <a:r>
                <a:rPr lang="en-US" altLang="ko-KR" sz="700" dirty="0" err="1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가공식품</a:t>
              </a:r>
              <a:r>
                <a:rPr lang="en-US" altLang="ko-KR" sz="700" dirty="0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700" dirty="0" err="1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동반</a:t>
              </a:r>
              <a:r>
                <a:rPr lang="en-US" altLang="ko-KR" sz="700" dirty="0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700" dirty="0" err="1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감소</a:t>
              </a:r>
              <a:r>
                <a:rPr lang="en-US" altLang="ko-KR" sz="700" dirty="0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)</a:t>
              </a:r>
              <a:endParaRPr lang="en-US" altLang="ko-KR" sz="900" dirty="0"/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701BDB3A-62D4-D73D-0994-0A70CA635F43}"/>
              </a:ext>
            </a:extLst>
          </p:cNvPr>
          <p:cNvGrpSpPr/>
          <p:nvPr/>
        </p:nvGrpSpPr>
        <p:grpSpPr>
          <a:xfrm>
            <a:off x="9080449" y="5793577"/>
            <a:ext cx="2628900" cy="695858"/>
            <a:chOff x="2216413" y="9375249"/>
            <a:chExt cx="2628900" cy="695858"/>
          </a:xfrm>
        </p:grpSpPr>
        <p:pic>
          <p:nvPicPr>
            <p:cNvPr id="90" name="Image 3" descr="preencoded.png">
              <a:extLst>
                <a:ext uri="{FF2B5EF4-FFF2-40B4-BE49-F238E27FC236}">
                  <a16:creationId xmlns:a16="http://schemas.microsoft.com/office/drawing/2014/main" id="{645823FA-861D-A447-F584-653D7EE7B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2216413" y="9384393"/>
              <a:ext cx="152705" cy="152705"/>
            </a:xfrm>
            <a:prstGeom prst="rect">
              <a:avLst/>
            </a:prstGeom>
          </p:spPr>
        </p:pic>
        <p:sp>
          <p:nvSpPr>
            <p:cNvPr id="100" name="Text 27">
              <a:extLst>
                <a:ext uri="{FF2B5EF4-FFF2-40B4-BE49-F238E27FC236}">
                  <a16:creationId xmlns:a16="http://schemas.microsoft.com/office/drawing/2014/main" id="{137B37DB-DB03-7826-0816-EA5A307F95FC}"/>
                </a:ext>
              </a:extLst>
            </p:cNvPr>
            <p:cNvSpPr txBox="1"/>
            <p:nvPr/>
          </p:nvSpPr>
          <p:spPr>
            <a:xfrm>
              <a:off x="2445013" y="9375249"/>
              <a:ext cx="121981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5966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HEALTH LEVERAGE</a:t>
              </a:r>
              <a:endParaRPr lang="en-US" sz="900" dirty="0"/>
            </a:p>
          </p:txBody>
        </p:sp>
        <p:sp>
          <p:nvSpPr>
            <p:cNvPr id="101" name="Text 28">
              <a:extLst>
                <a:ext uri="{FF2B5EF4-FFF2-40B4-BE49-F238E27FC236}">
                  <a16:creationId xmlns:a16="http://schemas.microsoft.com/office/drawing/2014/main" id="{22222B0E-6351-CA54-605C-CC9A00EFF31B}"/>
                </a:ext>
              </a:extLst>
            </p:cNvPr>
            <p:cNvSpPr txBox="1"/>
            <p:nvPr/>
          </p:nvSpPr>
          <p:spPr>
            <a:xfrm>
              <a:off x="2216413" y="9623051"/>
              <a:ext cx="1462126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F2937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Clinical Efficacy</a:t>
              </a:r>
              <a:endParaRPr lang="en-US" sz="1300" dirty="0"/>
            </a:p>
          </p:txBody>
        </p:sp>
        <p:sp>
          <p:nvSpPr>
            <p:cNvPr id="102" name="Text 29">
              <a:extLst>
                <a:ext uri="{FF2B5EF4-FFF2-40B4-BE49-F238E27FC236}">
                  <a16:creationId xmlns:a16="http://schemas.microsoft.com/office/drawing/2014/main" id="{AC670426-D480-7D84-860E-1612CC9BA2EA}"/>
                </a:ext>
              </a:extLst>
            </p:cNvPr>
            <p:cNvSpPr txBox="1"/>
            <p:nvPr/>
          </p:nvSpPr>
          <p:spPr>
            <a:xfrm>
              <a:off x="2216413" y="9908344"/>
              <a:ext cx="262890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대사 지표(허리둘레, 혈당 등)에 대한 직접적 개선 효과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234794" y="152705"/>
            <a:ext cx="2438705" cy="2438705"/>
          </a:xfrm>
          <a:prstGeom prst="roundRect">
            <a:avLst>
              <a:gd name="adj" fmla="val 3749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3"/>
          <p:cNvSpPr txBox="1"/>
          <p:nvPr/>
        </p:nvSpPr>
        <p:spPr>
          <a:xfrm>
            <a:off x="10715854" y="280721"/>
            <a:ext cx="890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Implications</a:t>
            </a:r>
            <a:endParaRPr lang="en-US" sz="1000" dirty="0"/>
          </a:p>
        </p:txBody>
      </p:sp>
      <p:sp>
        <p:nvSpPr>
          <p:cNvPr id="39" name="Text 34"/>
          <p:cNvSpPr txBox="1"/>
          <p:nvPr/>
        </p:nvSpPr>
        <p:spPr>
          <a:xfrm>
            <a:off x="11582705" y="280721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6C6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05</a:t>
            </a:r>
            <a:endParaRPr lang="en-US" sz="1000" dirty="0"/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EADE6832-8300-9A31-1960-E7CC92366297}"/>
              </a:ext>
            </a:extLst>
          </p:cNvPr>
          <p:cNvGrpSpPr/>
          <p:nvPr/>
        </p:nvGrpSpPr>
        <p:grpSpPr>
          <a:xfrm>
            <a:off x="0" y="924458"/>
            <a:ext cx="4067251" cy="5933542"/>
            <a:chOff x="0" y="761695"/>
            <a:chExt cx="4067251" cy="5724144"/>
          </a:xfrm>
        </p:grpSpPr>
        <p:sp>
          <p:nvSpPr>
            <p:cNvPr id="3" name="Shape 1"/>
            <p:cNvSpPr/>
            <p:nvPr/>
          </p:nvSpPr>
          <p:spPr>
            <a:xfrm>
              <a:off x="0" y="761695"/>
              <a:ext cx="4067251" cy="5724144"/>
            </a:xfrm>
            <a:prstGeom prst="rect">
              <a:avLst/>
            </a:prstGeom>
            <a:solidFill>
              <a:srgbClr val="006C67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Shape 35"/>
            <p:cNvSpPr/>
            <p:nvPr/>
          </p:nvSpPr>
          <p:spPr>
            <a:xfrm>
              <a:off x="457200" y="5286146"/>
              <a:ext cx="3152851" cy="743407"/>
            </a:xfrm>
            <a:prstGeom prst="roundRect">
              <a:avLst>
                <a:gd name="adj" fmla="val 12616"/>
              </a:avLst>
            </a:prstGeom>
            <a:solidFill>
              <a:srgbClr val="004D49"/>
            </a:solidFill>
            <a:ln w="1270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 36"/>
            <p:cNvSpPr txBox="1"/>
            <p:nvPr/>
          </p:nvSpPr>
          <p:spPr>
            <a:xfrm>
              <a:off x="457200" y="1466698"/>
              <a:ext cx="2572207" cy="1324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200" b="1" dirty="0">
                  <a:solidFill>
                    <a:srgbClr val="FFFFFF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75%</a:t>
              </a:r>
              <a:endParaRPr lang="en-US" sz="7200" dirty="0"/>
            </a:p>
          </p:txBody>
        </p:sp>
        <p:sp>
          <p:nvSpPr>
            <p:cNvPr id="42" name="Text 37"/>
            <p:cNvSpPr txBox="1"/>
            <p:nvPr/>
          </p:nvSpPr>
          <p:spPr>
            <a:xfrm>
              <a:off x="457200" y="2657246"/>
              <a:ext cx="1610258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Reduction in</a:t>
              </a:r>
              <a:endParaRPr lang="en-US" sz="1800" dirty="0"/>
            </a:p>
          </p:txBody>
        </p:sp>
        <p:sp>
          <p:nvSpPr>
            <p:cNvPr id="43" name="Text 38"/>
            <p:cNvSpPr txBox="1"/>
            <p:nvPr/>
          </p:nvSpPr>
          <p:spPr>
            <a:xfrm>
              <a:off x="457200" y="2971800"/>
              <a:ext cx="2934310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Intervention Complexity</a:t>
              </a:r>
              <a:endParaRPr lang="en-US" sz="1800" dirty="0"/>
            </a:p>
          </p:txBody>
        </p:sp>
        <p:sp>
          <p:nvSpPr>
            <p:cNvPr id="44" name="Text 39"/>
            <p:cNvSpPr txBox="1"/>
            <p:nvPr/>
          </p:nvSpPr>
          <p:spPr>
            <a:xfrm>
              <a:off x="457200" y="3800246"/>
              <a:ext cx="3072384" cy="10863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FFFFFF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Hub-focused interventions maintain clinical efficacy while significantly simplifying dietary guidelines, making adherence more feasible for patients.</a:t>
              </a:r>
              <a:endParaRPr lang="en-US" sz="1300" dirty="0"/>
            </a:p>
          </p:txBody>
        </p:sp>
        <p:sp>
          <p:nvSpPr>
            <p:cNvPr id="45" name="Text 40"/>
            <p:cNvSpPr txBox="1"/>
            <p:nvPr/>
          </p:nvSpPr>
          <p:spPr>
            <a:xfrm>
              <a:off x="619049" y="5438851"/>
              <a:ext cx="88605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FFFFF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COMPARED TO</a:t>
              </a:r>
              <a:endParaRPr lang="en-US" sz="900" dirty="0"/>
            </a:p>
          </p:txBody>
        </p:sp>
        <p:sp>
          <p:nvSpPr>
            <p:cNvPr id="46" name="Text 41"/>
            <p:cNvSpPr txBox="1"/>
            <p:nvPr/>
          </p:nvSpPr>
          <p:spPr>
            <a:xfrm>
              <a:off x="619049" y="5676595"/>
              <a:ext cx="2348179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FFFFFF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Comprehensive Dietary Counseling</a:t>
              </a:r>
              <a:endParaRPr lang="en-US" sz="1000" dirty="0"/>
            </a:p>
          </p:txBody>
        </p:sp>
        <p:pic>
          <p:nvPicPr>
            <p:cNvPr id="47" name="Image 3" descr="preencoded.png"/>
            <p:cNvPicPr>
              <a:picLocks noChangeAspect="1"/>
            </p:cNvPicPr>
            <p:nvPr/>
          </p:nvPicPr>
          <p:blipFill>
            <a:blip r:embed="rId3">
              <a:alphaModFix amt="80000"/>
            </a:blip>
            <a:srcRect/>
            <a:stretch/>
          </p:blipFill>
          <p:spPr>
            <a:xfrm>
              <a:off x="457200" y="1218895"/>
              <a:ext cx="228600" cy="228600"/>
            </a:xfrm>
            <a:prstGeom prst="rect">
              <a:avLst/>
            </a:prstGeom>
          </p:spPr>
        </p:pic>
        <p:sp>
          <p:nvSpPr>
            <p:cNvPr id="48" name="Text 42"/>
            <p:cNvSpPr txBox="1"/>
            <p:nvPr/>
          </p:nvSpPr>
          <p:spPr>
            <a:xfrm>
              <a:off x="800100" y="1238098"/>
              <a:ext cx="142463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>
                      <a:alpha val="80000"/>
                    </a:srgbClr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EFFICIENCY GAIN</a:t>
              </a:r>
              <a:endParaRPr lang="en-US" sz="1000" dirty="0"/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29C4A36F-C86C-5E63-83C5-F59BEF1F4C7B}"/>
              </a:ext>
            </a:extLst>
          </p:cNvPr>
          <p:cNvGrpSpPr/>
          <p:nvPr/>
        </p:nvGrpSpPr>
        <p:grpSpPr>
          <a:xfrm>
            <a:off x="4539996" y="1123542"/>
            <a:ext cx="7067398" cy="5524805"/>
            <a:chOff x="4673498" y="1676095"/>
            <a:chExt cx="7067398" cy="5677510"/>
          </a:xfrm>
        </p:grpSpPr>
        <p:sp>
          <p:nvSpPr>
            <p:cNvPr id="55" name="Shape 6">
              <a:extLst>
                <a:ext uri="{FF2B5EF4-FFF2-40B4-BE49-F238E27FC236}">
                  <a16:creationId xmlns:a16="http://schemas.microsoft.com/office/drawing/2014/main" id="{472EB25C-05E4-C0FD-5B1D-593EB008EE4C}"/>
                </a:ext>
              </a:extLst>
            </p:cNvPr>
            <p:cNvSpPr/>
            <p:nvPr/>
          </p:nvSpPr>
          <p:spPr>
            <a:xfrm>
              <a:off x="4673498" y="1676095"/>
              <a:ext cx="7067398" cy="1657807"/>
            </a:xfrm>
            <a:prstGeom prst="roundRect">
              <a:avLst>
                <a:gd name="adj" fmla="val 3804"/>
              </a:avLst>
            </a:prstGeom>
            <a:noFill/>
            <a:ln w="12700">
              <a:solidFill>
                <a:srgbClr val="F3F4F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6" name="Image 0" descr="preencoded.png">
              <a:extLst>
                <a:ext uri="{FF2B5EF4-FFF2-40B4-BE49-F238E27FC236}">
                  <a16:creationId xmlns:a16="http://schemas.microsoft.com/office/drawing/2014/main" id="{9CB47746-DAB1-45B7-92A7-5D3BBED103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5092294" y="2066544"/>
              <a:ext cx="228600" cy="228600"/>
            </a:xfrm>
            <a:prstGeom prst="rect">
              <a:avLst/>
            </a:prstGeom>
          </p:spPr>
        </p:pic>
        <p:sp>
          <p:nvSpPr>
            <p:cNvPr id="57" name="Text 7">
              <a:extLst>
                <a:ext uri="{FF2B5EF4-FFF2-40B4-BE49-F238E27FC236}">
                  <a16:creationId xmlns:a16="http://schemas.microsoft.com/office/drawing/2014/main" id="{327C7F38-407A-C060-0478-1851BB2C2F60}"/>
                </a:ext>
              </a:extLst>
            </p:cNvPr>
            <p:cNvSpPr txBox="1"/>
            <p:nvPr/>
          </p:nvSpPr>
          <p:spPr>
            <a:xfrm>
              <a:off x="5702198" y="1904695"/>
              <a:ext cx="2772461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F2937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Precision Nutrition Strategy</a:t>
              </a:r>
              <a:endParaRPr lang="en-US" sz="1500" dirty="0"/>
            </a:p>
          </p:txBody>
        </p:sp>
        <p:sp>
          <p:nvSpPr>
            <p:cNvPr id="58" name="Text 8">
              <a:extLst>
                <a:ext uri="{FF2B5EF4-FFF2-40B4-BE49-F238E27FC236}">
                  <a16:creationId xmlns:a16="http://schemas.microsoft.com/office/drawing/2014/main" id="{F4A40D81-A77E-9D46-24B6-95F206EC985B}"/>
                </a:ext>
              </a:extLst>
            </p:cNvPr>
            <p:cNvSpPr txBox="1"/>
            <p:nvPr/>
          </p:nvSpPr>
          <p:spPr>
            <a:xfrm>
              <a:off x="5702198" y="2266798"/>
              <a:ext cx="5505602" cy="476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Implementation of stratified interventions targeting 3–5 strategic hub foods specific to each sex-age-MetS subgroup rather than generic advice.</a:t>
              </a:r>
              <a:endParaRPr lang="en-US" sz="1200" dirty="0"/>
            </a:p>
          </p:txBody>
        </p:sp>
        <p:sp>
          <p:nvSpPr>
            <p:cNvPr id="59" name="Shape 9">
              <a:extLst>
                <a:ext uri="{FF2B5EF4-FFF2-40B4-BE49-F238E27FC236}">
                  <a16:creationId xmlns:a16="http://schemas.microsoft.com/office/drawing/2014/main" id="{F6BB11E9-1C5B-E6AC-4883-D33C37B4D80A}"/>
                </a:ext>
              </a:extLst>
            </p:cNvPr>
            <p:cNvSpPr/>
            <p:nvPr/>
          </p:nvSpPr>
          <p:spPr>
            <a:xfrm>
              <a:off x="5702198" y="2866644"/>
              <a:ext cx="1218895" cy="228600"/>
            </a:xfrm>
            <a:prstGeom prst="roundRect">
              <a:avLst>
                <a:gd name="adj" fmla="val 66667"/>
              </a:avLst>
            </a:prstGeom>
            <a:solidFill>
              <a:srgbClr val="F3F4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0" name="Text 10">
              <a:extLst>
                <a:ext uri="{FF2B5EF4-FFF2-40B4-BE49-F238E27FC236}">
                  <a16:creationId xmlns:a16="http://schemas.microsoft.com/office/drawing/2014/main" id="{26091FF9-A5F3-2637-2C8F-7E6F2EC7109B}"/>
                </a:ext>
              </a:extLst>
            </p:cNvPr>
            <p:cNvSpPr txBox="1"/>
            <p:nvPr/>
          </p:nvSpPr>
          <p:spPr>
            <a:xfrm>
              <a:off x="5778094" y="2895905"/>
              <a:ext cx="115305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Stratified Approach</a:t>
              </a:r>
              <a:endParaRPr lang="en-US" sz="900" dirty="0"/>
            </a:p>
          </p:txBody>
        </p:sp>
        <p:sp>
          <p:nvSpPr>
            <p:cNvPr id="61" name="Shape 11">
              <a:extLst>
                <a:ext uri="{FF2B5EF4-FFF2-40B4-BE49-F238E27FC236}">
                  <a16:creationId xmlns:a16="http://schemas.microsoft.com/office/drawing/2014/main" id="{27F8E8A1-80F2-C8D2-4A4B-5BD1D62D00A7}"/>
                </a:ext>
              </a:extLst>
            </p:cNvPr>
            <p:cNvSpPr/>
            <p:nvPr/>
          </p:nvSpPr>
          <p:spPr>
            <a:xfrm>
              <a:off x="6991502" y="2866644"/>
              <a:ext cx="933602" cy="228600"/>
            </a:xfrm>
            <a:prstGeom prst="roundRect">
              <a:avLst>
                <a:gd name="adj" fmla="val 66667"/>
              </a:avLst>
            </a:prstGeom>
            <a:solidFill>
              <a:srgbClr val="F3F4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2" name="Text 12">
              <a:extLst>
                <a:ext uri="{FF2B5EF4-FFF2-40B4-BE49-F238E27FC236}">
                  <a16:creationId xmlns:a16="http://schemas.microsoft.com/office/drawing/2014/main" id="{05757F8A-C098-4752-6FFC-0200FC2449C8}"/>
                </a:ext>
              </a:extLst>
            </p:cNvPr>
            <p:cNvSpPr txBox="1"/>
            <p:nvPr/>
          </p:nvSpPr>
          <p:spPr>
            <a:xfrm>
              <a:off x="7067398" y="2895905"/>
              <a:ext cx="86685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High Leverage</a:t>
              </a:r>
              <a:endParaRPr lang="en-US" sz="900" dirty="0"/>
            </a:p>
          </p:txBody>
        </p:sp>
        <p:sp>
          <p:nvSpPr>
            <p:cNvPr id="63" name="Shape 13">
              <a:extLst>
                <a:ext uri="{FF2B5EF4-FFF2-40B4-BE49-F238E27FC236}">
                  <a16:creationId xmlns:a16="http://schemas.microsoft.com/office/drawing/2014/main" id="{5F142A09-2B2D-FA09-ED41-200018778E00}"/>
                </a:ext>
              </a:extLst>
            </p:cNvPr>
            <p:cNvSpPr/>
            <p:nvPr/>
          </p:nvSpPr>
          <p:spPr>
            <a:xfrm>
              <a:off x="4673498" y="3562502"/>
              <a:ext cx="7067398" cy="1904695"/>
            </a:xfrm>
            <a:prstGeom prst="roundRect">
              <a:avLst>
                <a:gd name="adj" fmla="val 2880"/>
              </a:avLst>
            </a:prstGeom>
            <a:noFill/>
            <a:ln w="12700">
              <a:solidFill>
                <a:srgbClr val="F3F4F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4" name="Shape 14">
              <a:extLst>
                <a:ext uri="{FF2B5EF4-FFF2-40B4-BE49-F238E27FC236}">
                  <a16:creationId xmlns:a16="http://schemas.microsoft.com/office/drawing/2014/main" id="{DADD3D0F-6990-FDFF-8AFE-1F6626864B5D}"/>
                </a:ext>
              </a:extLst>
            </p:cNvPr>
            <p:cNvSpPr/>
            <p:nvPr/>
          </p:nvSpPr>
          <p:spPr>
            <a:xfrm>
              <a:off x="4940503" y="3800246"/>
              <a:ext cx="533095" cy="533095"/>
            </a:xfrm>
            <a:prstGeom prst="roundRect">
              <a:avLst>
                <a:gd name="adj" fmla="val 171527"/>
              </a:avLst>
            </a:prstGeom>
            <a:solidFill>
              <a:srgbClr val="EFF6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65" name="Image 1" descr="preencoded.png">
              <a:extLst>
                <a:ext uri="{FF2B5EF4-FFF2-40B4-BE49-F238E27FC236}">
                  <a16:creationId xmlns:a16="http://schemas.microsoft.com/office/drawing/2014/main" id="{DEA4693E-61AA-DFDF-8159-2071AAF235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092294" y="3952951"/>
              <a:ext cx="228600" cy="228600"/>
            </a:xfrm>
            <a:prstGeom prst="rect">
              <a:avLst/>
            </a:prstGeom>
          </p:spPr>
        </p:pic>
        <p:sp>
          <p:nvSpPr>
            <p:cNvPr id="66" name="Text 15">
              <a:extLst>
                <a:ext uri="{FF2B5EF4-FFF2-40B4-BE49-F238E27FC236}">
                  <a16:creationId xmlns:a16="http://schemas.microsoft.com/office/drawing/2014/main" id="{A77DC83C-E240-6C96-135F-38E21A0E88D5}"/>
                </a:ext>
              </a:extLst>
            </p:cNvPr>
            <p:cNvSpPr txBox="1"/>
            <p:nvPr/>
          </p:nvSpPr>
          <p:spPr>
            <a:xfrm>
              <a:off x="5702198" y="3791102"/>
              <a:ext cx="3105302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F2937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Population-Level Policy Targets</a:t>
              </a:r>
              <a:endParaRPr lang="en-US" sz="1500" dirty="0"/>
            </a:p>
          </p:txBody>
        </p:sp>
        <p:sp>
          <p:nvSpPr>
            <p:cNvPr id="67" name="Text 16">
              <a:extLst>
                <a:ext uri="{FF2B5EF4-FFF2-40B4-BE49-F238E27FC236}">
                  <a16:creationId xmlns:a16="http://schemas.microsoft.com/office/drawing/2014/main" id="{8BDCCC59-3CA1-7832-73F4-49E1D1E63940}"/>
                </a:ext>
              </a:extLst>
            </p:cNvPr>
            <p:cNvSpPr txBox="1"/>
            <p:nvPr/>
          </p:nvSpPr>
          <p:spPr>
            <a:xfrm>
              <a:off x="5702198" y="4153205"/>
              <a:ext cx="5391302" cy="7242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Evidence-based regulation and environmental modification focusing on universal hub foods: Fried Foods, Processed Foods, and Sugar-Sweetened Beverages.</a:t>
              </a:r>
              <a:endParaRPr lang="en-US" sz="1200" dirty="0"/>
            </a:p>
          </p:txBody>
        </p:sp>
        <p:sp>
          <p:nvSpPr>
            <p:cNvPr id="68" name="Shape 17">
              <a:extLst>
                <a:ext uri="{FF2B5EF4-FFF2-40B4-BE49-F238E27FC236}">
                  <a16:creationId xmlns:a16="http://schemas.microsoft.com/office/drawing/2014/main" id="{C2310964-2F82-8457-226D-961D8E7E09F5}"/>
                </a:ext>
              </a:extLst>
            </p:cNvPr>
            <p:cNvSpPr/>
            <p:nvPr/>
          </p:nvSpPr>
          <p:spPr>
            <a:xfrm>
              <a:off x="5702198" y="5000854"/>
              <a:ext cx="1171346" cy="228600"/>
            </a:xfrm>
            <a:prstGeom prst="roundRect">
              <a:avLst>
                <a:gd name="adj" fmla="val 66667"/>
              </a:avLst>
            </a:prstGeom>
            <a:solidFill>
              <a:srgbClr val="F3F4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9" name="Text 18">
              <a:extLst>
                <a:ext uri="{FF2B5EF4-FFF2-40B4-BE49-F238E27FC236}">
                  <a16:creationId xmlns:a16="http://schemas.microsoft.com/office/drawing/2014/main" id="{CD85781F-B469-5A83-C280-369A81CC0F45}"/>
                </a:ext>
              </a:extLst>
            </p:cNvPr>
            <p:cNvSpPr txBox="1"/>
            <p:nvPr/>
          </p:nvSpPr>
          <p:spPr>
            <a:xfrm>
              <a:off x="5778094" y="5029200"/>
              <a:ext cx="110551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Food Environment</a:t>
              </a:r>
              <a:endParaRPr lang="en-US" sz="900" dirty="0"/>
            </a:p>
          </p:txBody>
        </p:sp>
        <p:sp>
          <p:nvSpPr>
            <p:cNvPr id="70" name="Shape 19">
              <a:extLst>
                <a:ext uri="{FF2B5EF4-FFF2-40B4-BE49-F238E27FC236}">
                  <a16:creationId xmlns:a16="http://schemas.microsoft.com/office/drawing/2014/main" id="{A803C859-09F8-87D0-03EC-4995CB367162}"/>
                </a:ext>
              </a:extLst>
            </p:cNvPr>
            <p:cNvSpPr/>
            <p:nvPr/>
          </p:nvSpPr>
          <p:spPr>
            <a:xfrm>
              <a:off x="6948526" y="5000854"/>
              <a:ext cx="1324051" cy="228600"/>
            </a:xfrm>
            <a:prstGeom prst="roundRect">
              <a:avLst>
                <a:gd name="adj" fmla="val 66667"/>
              </a:avLst>
            </a:prstGeom>
            <a:solidFill>
              <a:srgbClr val="F3F4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" name="Text 20">
              <a:extLst>
                <a:ext uri="{FF2B5EF4-FFF2-40B4-BE49-F238E27FC236}">
                  <a16:creationId xmlns:a16="http://schemas.microsoft.com/office/drawing/2014/main" id="{8A83ECFA-3119-EEE5-AA13-691E2AF5CAF2}"/>
                </a:ext>
              </a:extLst>
            </p:cNvPr>
            <p:cNvSpPr txBox="1"/>
            <p:nvPr/>
          </p:nvSpPr>
          <p:spPr>
            <a:xfrm>
              <a:off x="7024421" y="5029200"/>
              <a:ext cx="125730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Marketing Regulation</a:t>
              </a:r>
              <a:endParaRPr lang="en-US" sz="900" dirty="0"/>
            </a:p>
          </p:txBody>
        </p:sp>
        <p:sp>
          <p:nvSpPr>
            <p:cNvPr id="72" name="Shape 21">
              <a:extLst>
                <a:ext uri="{FF2B5EF4-FFF2-40B4-BE49-F238E27FC236}">
                  <a16:creationId xmlns:a16="http://schemas.microsoft.com/office/drawing/2014/main" id="{BA5DE090-F5C2-37CF-5F09-4DC329A5E28E}"/>
                </a:ext>
              </a:extLst>
            </p:cNvPr>
            <p:cNvSpPr/>
            <p:nvPr/>
          </p:nvSpPr>
          <p:spPr>
            <a:xfrm>
              <a:off x="4673498" y="5695798"/>
              <a:ext cx="7067398" cy="1657807"/>
            </a:xfrm>
            <a:prstGeom prst="roundRect">
              <a:avLst>
                <a:gd name="adj" fmla="val 3804"/>
              </a:avLst>
            </a:prstGeom>
            <a:noFill/>
            <a:ln w="12700">
              <a:solidFill>
                <a:srgbClr val="F3F4F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3" name="Shape 22">
              <a:extLst>
                <a:ext uri="{FF2B5EF4-FFF2-40B4-BE49-F238E27FC236}">
                  <a16:creationId xmlns:a16="http://schemas.microsoft.com/office/drawing/2014/main" id="{0A006274-E28B-185E-A8FD-F6E917405D45}"/>
                </a:ext>
              </a:extLst>
            </p:cNvPr>
            <p:cNvSpPr/>
            <p:nvPr/>
          </p:nvSpPr>
          <p:spPr>
            <a:xfrm>
              <a:off x="4940503" y="5934456"/>
              <a:ext cx="533095" cy="533095"/>
            </a:xfrm>
            <a:prstGeom prst="roundRect">
              <a:avLst>
                <a:gd name="adj" fmla="val 171527"/>
              </a:avLst>
            </a:prstGeom>
            <a:solidFill>
              <a:srgbClr val="F5F3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74" name="Image 2" descr="preencoded.png">
              <a:extLst>
                <a:ext uri="{FF2B5EF4-FFF2-40B4-BE49-F238E27FC236}">
                  <a16:creationId xmlns:a16="http://schemas.microsoft.com/office/drawing/2014/main" id="{B46DCF5E-F9E9-D066-AEEF-C94C888CC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-57" r="-57"/>
            <a:stretch/>
          </p:blipFill>
          <p:spPr>
            <a:xfrm>
              <a:off x="5106924" y="6086246"/>
              <a:ext cx="200254" cy="228600"/>
            </a:xfrm>
            <a:prstGeom prst="rect">
              <a:avLst/>
            </a:prstGeom>
          </p:spPr>
        </p:pic>
        <p:sp>
          <p:nvSpPr>
            <p:cNvPr id="75" name="Text 23">
              <a:extLst>
                <a:ext uri="{FF2B5EF4-FFF2-40B4-BE49-F238E27FC236}">
                  <a16:creationId xmlns:a16="http://schemas.microsoft.com/office/drawing/2014/main" id="{6DA4BDCF-2CB6-2E68-DD0D-688403EF7550}"/>
                </a:ext>
              </a:extLst>
            </p:cNvPr>
            <p:cNvSpPr txBox="1"/>
            <p:nvPr/>
          </p:nvSpPr>
          <p:spPr>
            <a:xfrm>
              <a:off x="5702198" y="5924398"/>
              <a:ext cx="1953158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F2937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Clinical Translation</a:t>
              </a:r>
              <a:endParaRPr lang="en-US" sz="1500" dirty="0"/>
            </a:p>
          </p:txBody>
        </p:sp>
        <p:sp>
          <p:nvSpPr>
            <p:cNvPr id="76" name="Text 24">
              <a:extLst>
                <a:ext uri="{FF2B5EF4-FFF2-40B4-BE49-F238E27FC236}">
                  <a16:creationId xmlns:a16="http://schemas.microsoft.com/office/drawing/2014/main" id="{54690AB6-94DE-3D8B-75F8-A194D4FE64A5}"/>
                </a:ext>
              </a:extLst>
            </p:cNvPr>
            <p:cNvSpPr txBox="1"/>
            <p:nvPr/>
          </p:nvSpPr>
          <p:spPr>
            <a:xfrm>
              <a:off x="5702198" y="6286500"/>
              <a:ext cx="5877763" cy="476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4B5563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Development of modular counseling protocols delivering simplified, high-impact messages tailored to patient demographics and metabolic status.</a:t>
              </a:r>
              <a:endParaRPr lang="en-US" sz="1200" dirty="0"/>
            </a:p>
          </p:txBody>
        </p:sp>
        <p:sp>
          <p:nvSpPr>
            <p:cNvPr id="77" name="Shape 25">
              <a:extLst>
                <a:ext uri="{FF2B5EF4-FFF2-40B4-BE49-F238E27FC236}">
                  <a16:creationId xmlns:a16="http://schemas.microsoft.com/office/drawing/2014/main" id="{BBEF3251-F39B-4A69-2085-097BAC163322}"/>
                </a:ext>
              </a:extLst>
            </p:cNvPr>
            <p:cNvSpPr/>
            <p:nvPr/>
          </p:nvSpPr>
          <p:spPr>
            <a:xfrm>
              <a:off x="5702198" y="6886346"/>
              <a:ext cx="1248156" cy="228600"/>
            </a:xfrm>
            <a:prstGeom prst="roundRect">
              <a:avLst>
                <a:gd name="adj" fmla="val 66667"/>
              </a:avLst>
            </a:prstGeom>
            <a:solidFill>
              <a:srgbClr val="F3F4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8" name="Text 26">
              <a:extLst>
                <a:ext uri="{FF2B5EF4-FFF2-40B4-BE49-F238E27FC236}">
                  <a16:creationId xmlns:a16="http://schemas.microsoft.com/office/drawing/2014/main" id="{A0061A41-5F55-B300-AA74-939D2C376351}"/>
                </a:ext>
              </a:extLst>
            </p:cNvPr>
            <p:cNvSpPr txBox="1"/>
            <p:nvPr/>
          </p:nvSpPr>
          <p:spPr>
            <a:xfrm>
              <a:off x="5778094" y="6915607"/>
              <a:ext cx="118140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Practical Guidelines</a:t>
              </a:r>
              <a:endParaRPr lang="en-US" sz="900" dirty="0"/>
            </a:p>
          </p:txBody>
        </p:sp>
        <p:sp>
          <p:nvSpPr>
            <p:cNvPr id="79" name="Shape 27">
              <a:extLst>
                <a:ext uri="{FF2B5EF4-FFF2-40B4-BE49-F238E27FC236}">
                  <a16:creationId xmlns:a16="http://schemas.microsoft.com/office/drawing/2014/main" id="{377AD934-BBDB-DB89-7B60-873C8124AED1}"/>
                </a:ext>
              </a:extLst>
            </p:cNvPr>
            <p:cNvSpPr/>
            <p:nvPr/>
          </p:nvSpPr>
          <p:spPr>
            <a:xfrm>
              <a:off x="7017106" y="6886346"/>
              <a:ext cx="1162202" cy="228600"/>
            </a:xfrm>
            <a:prstGeom prst="roundRect">
              <a:avLst>
                <a:gd name="adj" fmla="val 66667"/>
              </a:avLst>
            </a:prstGeom>
            <a:solidFill>
              <a:srgbClr val="F3F4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0" name="Text 28">
              <a:extLst>
                <a:ext uri="{FF2B5EF4-FFF2-40B4-BE49-F238E27FC236}">
                  <a16:creationId xmlns:a16="http://schemas.microsoft.com/office/drawing/2014/main" id="{BFE7DB59-AFAA-2A88-C056-B9B9C6E05F72}"/>
                </a:ext>
              </a:extLst>
            </p:cNvPr>
            <p:cNvSpPr txBox="1"/>
            <p:nvPr/>
          </p:nvSpPr>
          <p:spPr>
            <a:xfrm>
              <a:off x="7093001" y="6915607"/>
              <a:ext cx="109545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Patient Adherence</a:t>
              </a:r>
              <a:endParaRPr lang="en-US" sz="900" dirty="0"/>
            </a:p>
          </p:txBody>
        </p:sp>
      </p:grpSp>
      <p:sp>
        <p:nvSpPr>
          <p:cNvPr id="82" name="Shape 15">
            <a:extLst>
              <a:ext uri="{FF2B5EF4-FFF2-40B4-BE49-F238E27FC236}">
                <a16:creationId xmlns:a16="http://schemas.microsoft.com/office/drawing/2014/main" id="{822E67E9-2959-68AA-8216-D1EF08931C8B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33">
            <a:extLst>
              <a:ext uri="{FF2B5EF4-FFF2-40B4-BE49-F238E27FC236}">
                <a16:creationId xmlns:a16="http://schemas.microsoft.com/office/drawing/2014/main" id="{EB07D5C8-0B1B-1F6E-C618-9C7AA6870A59}"/>
              </a:ext>
            </a:extLst>
          </p:cNvPr>
          <p:cNvSpPr/>
          <p:nvPr/>
        </p:nvSpPr>
        <p:spPr>
          <a:xfrm>
            <a:off x="457200" y="224028"/>
            <a:ext cx="38405" cy="457200"/>
          </a:xfrm>
          <a:prstGeom prst="rect">
            <a:avLst/>
          </a:prstGeom>
          <a:solidFill>
            <a:srgbClr val="006C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Text 34">
            <a:extLst>
              <a:ext uri="{FF2B5EF4-FFF2-40B4-BE49-F238E27FC236}">
                <a16:creationId xmlns:a16="http://schemas.microsoft.com/office/drawing/2014/main" id="{95E4B8AA-C14C-E80C-BFFC-4700B0A47E75}"/>
              </a:ext>
            </a:extLst>
          </p:cNvPr>
          <p:cNvSpPr txBox="1"/>
          <p:nvPr/>
        </p:nvSpPr>
        <p:spPr>
          <a:xfrm>
            <a:off x="724205" y="243230"/>
            <a:ext cx="680587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200" b="1" dirty="0">
                <a:solidFill>
                  <a:srgbClr val="1F293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Public Health Implications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924458"/>
            <a:ext cx="5086807" cy="5933542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077663" y="924458"/>
            <a:ext cx="9144" cy="516270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81305" y="1305763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5953" b="-5953"/>
          <a:stretch/>
        </p:blipFill>
        <p:spPr>
          <a:xfrm>
            <a:off x="562356" y="1410919"/>
            <a:ext cx="19202" cy="1719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1324965"/>
            <a:ext cx="21717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7415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Study Limitations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81305" y="2067230"/>
            <a:ext cx="4315054" cy="1476756"/>
          </a:xfrm>
          <a:prstGeom prst="roundRect">
            <a:avLst>
              <a:gd name="adj" fmla="val 479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90449" y="2304974"/>
            <a:ext cx="38405" cy="457200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9049" y="2353437"/>
            <a:ext cx="171907" cy="1719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6851" y="2304974"/>
            <a:ext cx="204368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Cross-sectional Design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19049" y="2657932"/>
            <a:ext cx="390083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Precludes causal inference regarding the directionality of hub food effects. *Cannot definitively determine if hub foods precede MetS development.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81305" y="3895801"/>
            <a:ext cx="4315054" cy="1476756"/>
          </a:xfrm>
          <a:prstGeom prst="roundRect">
            <a:avLst>
              <a:gd name="adj" fmla="val 479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390449" y="4133545"/>
            <a:ext cx="38405" cy="457200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9049" y="4181094"/>
            <a:ext cx="171907" cy="17190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66851" y="4133545"/>
            <a:ext cx="167243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Verification Needs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19049" y="4486503"/>
            <a:ext cx="3719779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Longitudinal cohort studies with repeated dietary and metabolic assessments are required to establish temporal precedence through time-lagged analyses.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81305" y="5798210"/>
            <a:ext cx="4315054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 txBox="1"/>
          <p:nvPr/>
        </p:nvSpPr>
        <p:spPr>
          <a:xfrm>
            <a:off x="381305" y="6026810"/>
            <a:ext cx="43918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CA3AF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"Despite these limitations, the large sample size and stratified approach provide robust initial evidence."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5537606" y="130569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006C67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rcRect l="-1773" r="-1773"/>
          <a:stretch/>
        </p:blipFill>
        <p:spPr>
          <a:xfrm>
            <a:off x="5661050" y="1410846"/>
            <a:ext cx="133502" cy="171907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070702" y="1324892"/>
            <a:ext cx="21342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C6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Future Directions</a:t>
            </a:r>
            <a:endParaRPr lang="en-US" sz="1800" dirty="0"/>
          </a:p>
        </p:txBody>
      </p:sp>
      <p:sp>
        <p:nvSpPr>
          <p:cNvPr id="30" name="Shape 24"/>
          <p:cNvSpPr/>
          <p:nvPr/>
        </p:nvSpPr>
        <p:spPr>
          <a:xfrm>
            <a:off x="5537606" y="2067385"/>
            <a:ext cx="114300" cy="105156"/>
          </a:xfrm>
          <a:prstGeom prst="roundRect">
            <a:avLst>
              <a:gd name="adj" fmla="val 869565"/>
            </a:avLst>
          </a:prstGeom>
          <a:solidFill>
            <a:srgbClr val="006C67"/>
          </a:solidFill>
          <a:ln/>
          <a:effectLst>
            <a:outerShdw blurRad="12700" dist="12700" dir="16200000" algn="bl" rotWithShape="0">
              <a:srgbClr val="FFFFFF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5"/>
          <p:cNvSpPr/>
          <p:nvPr/>
        </p:nvSpPr>
        <p:spPr>
          <a:xfrm>
            <a:off x="5585155" y="2204545"/>
            <a:ext cx="19202" cy="1086307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6"/>
          <p:cNvSpPr/>
          <p:nvPr/>
        </p:nvSpPr>
        <p:spPr>
          <a:xfrm>
            <a:off x="5537606" y="3912187"/>
            <a:ext cx="114300" cy="105156"/>
          </a:xfrm>
          <a:prstGeom prst="roundRect">
            <a:avLst>
              <a:gd name="adj" fmla="val 869565"/>
            </a:avLst>
          </a:prstGeom>
          <a:solidFill>
            <a:srgbClr val="3B82F6"/>
          </a:solidFill>
          <a:ln/>
          <a:effectLst>
            <a:outerShdw blurRad="12700" dist="12700" dir="16200000" algn="bl" rotWithShape="0">
              <a:srgbClr val="FFFFFF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7"/>
          <p:cNvSpPr/>
          <p:nvPr/>
        </p:nvSpPr>
        <p:spPr>
          <a:xfrm>
            <a:off x="5585155" y="4047518"/>
            <a:ext cx="19202" cy="100949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5880506" y="4884194"/>
            <a:ext cx="105156" cy="11430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6042355" y="4864992"/>
            <a:ext cx="5532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Genetics</a:t>
            </a:r>
            <a:endParaRPr lang="en-US" sz="9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54089" y="4884194"/>
            <a:ext cx="114300" cy="1143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6825996" y="4864992"/>
            <a:ext cx="8385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Metabolomics</a:t>
            </a:r>
            <a:endParaRPr lang="en-US" sz="9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727594" y="4884194"/>
            <a:ext cx="114300" cy="11430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7899502" y="4864992"/>
            <a:ext cx="7242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Microbiome</a:t>
            </a:r>
            <a:endParaRPr lang="en-US" sz="900" dirty="0"/>
          </a:p>
        </p:txBody>
      </p:sp>
      <p:sp>
        <p:nvSpPr>
          <p:cNvPr id="40" name="Text 31"/>
          <p:cNvSpPr txBox="1"/>
          <p:nvPr/>
        </p:nvSpPr>
        <p:spPr>
          <a:xfrm>
            <a:off x="5880506" y="2058241"/>
            <a:ext cx="3952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Pragmatic Randomized Controlled Trials</a:t>
            </a:r>
            <a:endParaRPr lang="en-US" sz="1500" dirty="0"/>
          </a:p>
        </p:txBody>
      </p:sp>
      <p:sp>
        <p:nvSpPr>
          <p:cNvPr id="41" name="Text 32"/>
          <p:cNvSpPr txBox="1"/>
          <p:nvPr/>
        </p:nvSpPr>
        <p:spPr>
          <a:xfrm>
            <a:off x="5880506" y="2420344"/>
            <a:ext cx="55056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Comparison of efficacy between Hub-Focused Interventions and traditional comprehensive dietary counseling.</a:t>
            </a:r>
            <a:endParaRPr lang="en-US" sz="1200" dirty="0"/>
          </a:p>
        </p:txBody>
      </p:sp>
      <p:sp>
        <p:nvSpPr>
          <p:cNvPr id="42" name="Text 33"/>
          <p:cNvSpPr txBox="1"/>
          <p:nvPr/>
        </p:nvSpPr>
        <p:spPr>
          <a:xfrm>
            <a:off x="5956402" y="3048536"/>
            <a:ext cx="12673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82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CLINICAL EFFICACY</a:t>
            </a:r>
            <a:endParaRPr lang="en-US" sz="900" dirty="0"/>
          </a:p>
        </p:txBody>
      </p:sp>
      <p:sp>
        <p:nvSpPr>
          <p:cNvPr id="43" name="Text 34"/>
          <p:cNvSpPr txBox="1"/>
          <p:nvPr/>
        </p:nvSpPr>
        <p:spPr>
          <a:xfrm>
            <a:off x="7357262" y="3048536"/>
            <a:ext cx="8293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82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ADHERENCE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5880506" y="3903043"/>
            <a:ext cx="23820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Multi-Omics Integration</a:t>
            </a:r>
            <a:endParaRPr lang="en-US" sz="1500" dirty="0"/>
          </a:p>
        </p:txBody>
      </p:sp>
      <p:sp>
        <p:nvSpPr>
          <p:cNvPr id="45" name="Text 36"/>
          <p:cNvSpPr txBox="1"/>
          <p:nvPr/>
        </p:nvSpPr>
        <p:spPr>
          <a:xfrm>
            <a:off x="5880506" y="4264231"/>
            <a:ext cx="5953658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Merging dietary network data with metabolomics, metagenomics, and genetics to elucidate biological mechanisms underlying hub food effects.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5537606" y="5831055"/>
            <a:ext cx="6277356" cy="780898"/>
          </a:xfrm>
          <a:prstGeom prst="roundRect">
            <a:avLst>
              <a:gd name="adj" fmla="val 1142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10"/>
          <a:srcRect l="-57" r="-57"/>
          <a:stretch/>
        </p:blipFill>
        <p:spPr>
          <a:xfrm>
            <a:off x="5736946" y="6031309"/>
            <a:ext cx="200254" cy="228600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6089904" y="6031309"/>
            <a:ext cx="559612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"Moving from descriptive network analysis to mechanistic understanding and verified clinical applications."</a:t>
            </a:r>
            <a:endParaRPr lang="en-US" sz="1000" dirty="0"/>
          </a:p>
        </p:txBody>
      </p:sp>
      <p:sp>
        <p:nvSpPr>
          <p:cNvPr id="53" name="Shape 15">
            <a:extLst>
              <a:ext uri="{FF2B5EF4-FFF2-40B4-BE49-F238E27FC236}">
                <a16:creationId xmlns:a16="http://schemas.microsoft.com/office/drawing/2014/main" id="{52417C81-11E3-34DC-EF2C-AAD396343E5E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00E4783A-0B46-2A87-E223-AB67D072D416}"/>
              </a:ext>
            </a:extLst>
          </p:cNvPr>
          <p:cNvSpPr/>
          <p:nvPr/>
        </p:nvSpPr>
        <p:spPr>
          <a:xfrm>
            <a:off x="457200" y="224028"/>
            <a:ext cx="38405" cy="457200"/>
          </a:xfrm>
          <a:prstGeom prst="rect">
            <a:avLst/>
          </a:prstGeom>
          <a:solidFill>
            <a:srgbClr val="006C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389E8471-2912-7050-19FF-ADBC8EBE641A}"/>
              </a:ext>
            </a:extLst>
          </p:cNvPr>
          <p:cNvSpPr txBox="1"/>
          <p:nvPr/>
        </p:nvSpPr>
        <p:spPr>
          <a:xfrm>
            <a:off x="724205" y="243230"/>
            <a:ext cx="680587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200" b="1" dirty="0">
                <a:solidFill>
                  <a:srgbClr val="1F293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Limitations &amp;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060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61695"/>
            <a:ext cx="12191695" cy="6543446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81305" y="1143000"/>
            <a:ext cx="4647895" cy="5486400"/>
          </a:xfrm>
          <a:prstGeom prst="roundRect">
            <a:avLst>
              <a:gd name="adj" fmla="val 645"/>
            </a:avLst>
          </a:prstGeom>
          <a:solidFill>
            <a:srgbClr val="006C67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971800" y="4569257"/>
            <a:ext cx="2438705" cy="2438705"/>
          </a:xfrm>
          <a:prstGeom prst="roundRect">
            <a:avLst>
              <a:gd name="adj" fmla="val 3749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333695" y="1143000"/>
            <a:ext cx="6476695" cy="1333195"/>
          </a:xfrm>
          <a:prstGeom prst="roundRect">
            <a:avLst>
              <a:gd name="adj" fmla="val 5879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572354" y="1380744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5696712" y="1485900"/>
            <a:ext cx="35295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CA3A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19749" y="1380744"/>
            <a:ext cx="29480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Stratified Network Heterogeneity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 l="-837" r="-837"/>
          <a:stretch/>
        </p:blipFill>
        <p:spPr>
          <a:xfrm>
            <a:off x="9150401" y="1447495"/>
            <a:ext cx="152705" cy="1335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219749" y="1676095"/>
            <a:ext cx="5434279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GGM analysis successfully revealed distinct conditional dependency structures across sex, age, and MetS strata, overcoming the limitations of traditional co-occurrence methods.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333695" y="2626157"/>
            <a:ext cx="6476695" cy="1333195"/>
          </a:xfrm>
          <a:prstGeom prst="roundRect">
            <a:avLst>
              <a:gd name="adj" fmla="val 5879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572354" y="2864815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5684825" y="2969057"/>
            <a:ext cx="3813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B82F6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219749" y="2864815"/>
            <a:ext cx="232897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Dual Leverage Mechanism</a:t>
            </a:r>
            <a:endParaRPr lang="en-US" sz="13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 l="-837" r="-837"/>
          <a:stretch/>
        </p:blipFill>
        <p:spPr>
          <a:xfrm>
            <a:off x="8534095" y="2931566"/>
            <a:ext cx="152705" cy="13350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219749" y="3160166"/>
            <a:ext cx="535838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Identified hub foods exert synergistic effects on both dietary patterns and metabolic indicators, with a 1.5–2.0 fold amplification in MetS+ risk groups.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333695" y="4110228"/>
            <a:ext cx="6476695" cy="1333195"/>
          </a:xfrm>
          <a:prstGeom prst="roundRect">
            <a:avLst>
              <a:gd name="adj" fmla="val 5879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5572354" y="4347972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5686654" y="4453128"/>
            <a:ext cx="37216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F4444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6219749" y="4347972"/>
            <a:ext cx="178673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Precision Efficiency</a:t>
            </a:r>
            <a:endParaRPr lang="en-US" sz="13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>
            <a:alphaModFix amt="50000"/>
          </a:blip>
          <a:srcRect/>
          <a:stretch/>
        </p:blipFill>
        <p:spPr>
          <a:xfrm>
            <a:off x="7986370" y="4414723"/>
            <a:ext cx="133502" cy="13350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219749" y="4643323"/>
            <a:ext cx="527243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Interventions targeting just 3–5 strategic hub foods achieve a 75% reduction in complexity while maintaining clinical efficacy, offering a feasible path for precision nutrition.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333695" y="5593385"/>
            <a:ext cx="6476695" cy="1333195"/>
          </a:xfrm>
          <a:prstGeom prst="roundRect">
            <a:avLst>
              <a:gd name="adj" fmla="val 5879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5572354" y="5832043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 txBox="1"/>
          <p:nvPr/>
        </p:nvSpPr>
        <p:spPr>
          <a:xfrm>
            <a:off x="5678424" y="5936285"/>
            <a:ext cx="39136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B5CF6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04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6219749" y="5832043"/>
            <a:ext cx="215798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Immediate Applicability</a:t>
            </a:r>
            <a:endParaRPr lang="en-US" sz="13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>
            <a:alphaModFix amt="50000"/>
          </a:blip>
          <a:srcRect l="-2512" r="-2512"/>
          <a:stretch/>
        </p:blipFill>
        <p:spPr>
          <a:xfrm>
            <a:off x="8361274" y="5898794"/>
            <a:ext cx="105156" cy="1335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219749" y="6127394"/>
            <a:ext cx="54534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The findings provide an actionable framework for updating public health policies and clinical counseling protocols with evidence-based, population-specific targets.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761695" y="1524305"/>
            <a:ext cx="609905" cy="609905"/>
          </a:xfrm>
          <a:prstGeom prst="roundRect">
            <a:avLst>
              <a:gd name="adj" fmla="val 37481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rcRect t="-530" b="-530"/>
          <a:stretch/>
        </p:blipFill>
        <p:spPr>
          <a:xfrm>
            <a:off x="942746" y="1686154"/>
            <a:ext cx="247802" cy="2862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761695" y="2400300"/>
            <a:ext cx="3719779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Establishment of a Scientific Foundation for Precision Nutrition</a:t>
            </a:r>
            <a:endParaRPr lang="en-US" sz="2200" dirty="0"/>
          </a:p>
        </p:txBody>
      </p:sp>
      <p:sp>
        <p:nvSpPr>
          <p:cNvPr id="39" name="Text 32"/>
          <p:cNvSpPr txBox="1"/>
          <p:nvPr/>
        </p:nvSpPr>
        <p:spPr>
          <a:xfrm>
            <a:off x="761695" y="3748126"/>
            <a:ext cx="3796589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This study provides the first empirical evidence that targeting specific hub foods can simultaneously optimize dietary network structure and metabolic health through a dual leverage mechanism.</a:t>
            </a:r>
            <a:endParaRPr lang="en-US" sz="1300" dirty="0"/>
          </a:p>
        </p:txBody>
      </p:sp>
      <p:sp>
        <p:nvSpPr>
          <p:cNvPr id="40" name="Shape 33"/>
          <p:cNvSpPr/>
          <p:nvPr/>
        </p:nvSpPr>
        <p:spPr>
          <a:xfrm>
            <a:off x="761695" y="5360213"/>
            <a:ext cx="38862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4"/>
          <p:cNvSpPr txBox="1"/>
          <p:nvPr/>
        </p:nvSpPr>
        <p:spPr>
          <a:xfrm>
            <a:off x="761695" y="5597957"/>
            <a:ext cx="11859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CONTRIBUTION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761695" y="5864962"/>
            <a:ext cx="391088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Paradigm shift from single-nutrient focus to network-based precision interventions.</a:t>
            </a:r>
            <a:endParaRPr lang="en-US" sz="1000" dirty="0"/>
          </a:p>
        </p:txBody>
      </p:sp>
      <p:sp>
        <p:nvSpPr>
          <p:cNvPr id="47" name="Shape 15">
            <a:extLst>
              <a:ext uri="{FF2B5EF4-FFF2-40B4-BE49-F238E27FC236}">
                <a16:creationId xmlns:a16="http://schemas.microsoft.com/office/drawing/2014/main" id="{727BBA2B-6281-71EA-50B2-CA54805AE1A8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33">
            <a:extLst>
              <a:ext uri="{FF2B5EF4-FFF2-40B4-BE49-F238E27FC236}">
                <a16:creationId xmlns:a16="http://schemas.microsoft.com/office/drawing/2014/main" id="{F7D0D669-1316-0AC9-8666-46679ECD527F}"/>
              </a:ext>
            </a:extLst>
          </p:cNvPr>
          <p:cNvSpPr/>
          <p:nvPr/>
        </p:nvSpPr>
        <p:spPr>
          <a:xfrm>
            <a:off x="457200" y="224028"/>
            <a:ext cx="38405" cy="457200"/>
          </a:xfrm>
          <a:prstGeom prst="rect">
            <a:avLst/>
          </a:prstGeom>
          <a:solidFill>
            <a:srgbClr val="006C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34">
            <a:extLst>
              <a:ext uri="{FF2B5EF4-FFF2-40B4-BE49-F238E27FC236}">
                <a16:creationId xmlns:a16="http://schemas.microsoft.com/office/drawing/2014/main" id="{5B48E37C-8995-E2A9-0DCF-AA6DF23069FD}"/>
              </a:ext>
            </a:extLst>
          </p:cNvPr>
          <p:cNvSpPr txBox="1"/>
          <p:nvPr/>
        </p:nvSpPr>
        <p:spPr>
          <a:xfrm>
            <a:off x="724205" y="243230"/>
            <a:ext cx="680587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200" b="1" dirty="0">
                <a:solidFill>
                  <a:srgbClr val="1F2937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Conclusions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1291</Words>
  <Application>Microsoft Macintosh PowerPoint</Application>
  <PresentationFormat>와이드스크린</PresentationFormat>
  <Paragraphs>222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Pretendard</vt:lpstr>
      <vt:lpstr>Pretendard Light</vt:lpstr>
      <vt:lpstr>Pretendard Medium</vt:lpstr>
      <vt:lpstr>Arial</vt:lpstr>
      <vt:lpstr>Calibri</vt:lpstr>
      <vt:lpstr>Merriweather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희정 황</cp:lastModifiedBy>
  <cp:revision>9</cp:revision>
  <dcterms:created xsi:type="dcterms:W3CDTF">2025-12-11T05:52:48Z</dcterms:created>
  <dcterms:modified xsi:type="dcterms:W3CDTF">2025-12-15T18:40:33Z</dcterms:modified>
</cp:coreProperties>
</file>